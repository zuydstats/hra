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2" r:id="rId8"/>
    <p:sldId id="266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6" r:id="rId17"/>
    <p:sldId id="277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EF168-869D-4DBD-87DF-B0CCD5844BC8}" v="2" dt="2023-09-14T11:17:3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ill, TA (Tori)" userId="f2a0729f-78d3-40b0-b388-826b4c078191" providerId="ADAL" clId="{016EF168-869D-4DBD-87DF-B0CCD5844BC8}"/>
    <pc:docChg chg="undo redo custSel addSld delSld modSld sldOrd">
      <pc:chgData name="Langill, TA (Tori)" userId="f2a0729f-78d3-40b0-b388-826b4c078191" providerId="ADAL" clId="{016EF168-869D-4DBD-87DF-B0CCD5844BC8}" dt="2023-09-14T11:22:50.997" v="237" actId="20577"/>
      <pc:docMkLst>
        <pc:docMk/>
      </pc:docMkLst>
      <pc:sldChg chg="modSp mod">
        <pc:chgData name="Langill, TA (Tori)" userId="f2a0729f-78d3-40b0-b388-826b4c078191" providerId="ADAL" clId="{016EF168-869D-4DBD-87DF-B0CCD5844BC8}" dt="2023-09-14T11:20:40.153" v="85" actId="20577"/>
        <pc:sldMkLst>
          <pc:docMk/>
          <pc:sldMk cId="529043793" sldId="264"/>
        </pc:sldMkLst>
        <pc:spChg chg="mod">
          <ac:chgData name="Langill, TA (Tori)" userId="f2a0729f-78d3-40b0-b388-826b4c078191" providerId="ADAL" clId="{016EF168-869D-4DBD-87DF-B0CCD5844BC8}" dt="2023-09-14T11:20:17.846" v="66" actId="20577"/>
          <ac:spMkLst>
            <pc:docMk/>
            <pc:sldMk cId="529043793" sldId="264"/>
            <ac:spMk id="2" creationId="{5EE2044B-328F-03A9-5EE0-97430D9FD2A0}"/>
          </ac:spMkLst>
        </pc:spChg>
        <pc:spChg chg="mod">
          <ac:chgData name="Langill, TA (Tori)" userId="f2a0729f-78d3-40b0-b388-826b4c078191" providerId="ADAL" clId="{016EF168-869D-4DBD-87DF-B0CCD5844BC8}" dt="2023-09-14T11:20:40.153" v="85" actId="20577"/>
          <ac:spMkLst>
            <pc:docMk/>
            <pc:sldMk cId="529043793" sldId="264"/>
            <ac:spMk id="3" creationId="{03195576-0204-73B4-5C09-B490151DA294}"/>
          </ac:spMkLst>
        </pc:spChg>
      </pc:sldChg>
      <pc:sldChg chg="modSp mod">
        <pc:chgData name="Langill, TA (Tori)" userId="f2a0729f-78d3-40b0-b388-826b4c078191" providerId="ADAL" clId="{016EF168-869D-4DBD-87DF-B0CCD5844BC8}" dt="2023-09-14T11:19:05.523" v="45" actId="20577"/>
        <pc:sldMkLst>
          <pc:docMk/>
          <pc:sldMk cId="2812452303" sldId="270"/>
        </pc:sldMkLst>
        <pc:spChg chg="mod">
          <ac:chgData name="Langill, TA (Tori)" userId="f2a0729f-78d3-40b0-b388-826b4c078191" providerId="ADAL" clId="{016EF168-869D-4DBD-87DF-B0CCD5844BC8}" dt="2023-09-14T11:19:05.523" v="45" actId="20577"/>
          <ac:spMkLst>
            <pc:docMk/>
            <pc:sldMk cId="2812452303" sldId="270"/>
            <ac:spMk id="3" creationId="{4B60EC47-1869-614D-7DEF-5EE870928203}"/>
          </ac:spMkLst>
        </pc:spChg>
      </pc:sldChg>
      <pc:sldChg chg="modSp mod">
        <pc:chgData name="Langill, TA (Tori)" userId="f2a0729f-78d3-40b0-b388-826b4c078191" providerId="ADAL" clId="{016EF168-869D-4DBD-87DF-B0CCD5844BC8}" dt="2023-09-14T11:21:19.951" v="101" actId="20577"/>
        <pc:sldMkLst>
          <pc:docMk/>
          <pc:sldMk cId="1267892607" sldId="271"/>
        </pc:sldMkLst>
        <pc:spChg chg="mod">
          <ac:chgData name="Langill, TA (Tori)" userId="f2a0729f-78d3-40b0-b388-826b4c078191" providerId="ADAL" clId="{016EF168-869D-4DBD-87DF-B0CCD5844BC8}" dt="2023-09-14T11:21:19.951" v="101" actId="20577"/>
          <ac:spMkLst>
            <pc:docMk/>
            <pc:sldMk cId="1267892607" sldId="271"/>
            <ac:spMk id="2" creationId="{D150A79C-7E1D-EA00-B4A7-4578C758B082}"/>
          </ac:spMkLst>
        </pc:spChg>
      </pc:sldChg>
      <pc:sldChg chg="delSp add del setBg delDesignElem">
        <pc:chgData name="Langill, TA (Tori)" userId="f2a0729f-78d3-40b0-b388-826b4c078191" providerId="ADAL" clId="{016EF168-869D-4DBD-87DF-B0CCD5844BC8}" dt="2023-09-14T11:19:10.773" v="46" actId="47"/>
        <pc:sldMkLst>
          <pc:docMk/>
          <pc:sldMk cId="575240702" sldId="275"/>
        </pc:sldMkLst>
        <pc:spChg chg="del">
          <ac:chgData name="Langill, TA (Tori)" userId="f2a0729f-78d3-40b0-b388-826b4c078191" providerId="ADAL" clId="{016EF168-869D-4DBD-87DF-B0CCD5844BC8}" dt="2023-09-14T11:17:33.189" v="1"/>
          <ac:spMkLst>
            <pc:docMk/>
            <pc:sldMk cId="575240702" sldId="275"/>
            <ac:spMk id="8" creationId="{FB5B0058-AF13-4859-B429-4EDDE2A26F7F}"/>
          </ac:spMkLst>
        </pc:spChg>
        <pc:cxnChg chg="del">
          <ac:chgData name="Langill, TA (Tori)" userId="f2a0729f-78d3-40b0-b388-826b4c078191" providerId="ADAL" clId="{016EF168-869D-4DBD-87DF-B0CCD5844BC8}" dt="2023-09-14T11:17:33.189" v="1"/>
          <ac:cxnSpMkLst>
            <pc:docMk/>
            <pc:sldMk cId="575240702" sldId="275"/>
            <ac:cxnSpMk id="10" creationId="{EC4521DE-248E-440D-AAD6-FD9E7D34B3BF}"/>
          </ac:cxnSpMkLst>
        </pc:cxnChg>
        <pc:cxnChg chg="del">
          <ac:chgData name="Langill, TA (Tori)" userId="f2a0729f-78d3-40b0-b388-826b4c078191" providerId="ADAL" clId="{016EF168-869D-4DBD-87DF-B0CCD5844BC8}" dt="2023-09-14T11:17:33.189" v="1"/>
          <ac:cxnSpMkLst>
            <pc:docMk/>
            <pc:sldMk cId="575240702" sldId="275"/>
            <ac:cxnSpMk id="12" creationId="{442C13FA-4C0F-42D0-9626-5BA6040D8C31}"/>
          </ac:cxnSpMkLst>
        </pc:cxnChg>
      </pc:sldChg>
      <pc:sldChg chg="delSp add del setBg delDesignElem">
        <pc:chgData name="Langill, TA (Tori)" userId="f2a0729f-78d3-40b0-b388-826b4c078191" providerId="ADAL" clId="{016EF168-869D-4DBD-87DF-B0CCD5844BC8}" dt="2023-09-14T11:17:39.135" v="4" actId="47"/>
        <pc:sldMkLst>
          <pc:docMk/>
          <pc:sldMk cId="2841686475" sldId="276"/>
        </pc:sldMkLst>
        <pc:spChg chg="del">
          <ac:chgData name="Langill, TA (Tori)" userId="f2a0729f-78d3-40b0-b388-826b4c078191" providerId="ADAL" clId="{016EF168-869D-4DBD-87DF-B0CCD5844BC8}" dt="2023-09-14T11:17:37.897" v="3"/>
          <ac:spMkLst>
            <pc:docMk/>
            <pc:sldMk cId="2841686475" sldId="276"/>
            <ac:spMk id="8" creationId="{FB5B0058-AF13-4859-B429-4EDDE2A26F7F}"/>
          </ac:spMkLst>
        </pc:spChg>
        <pc:cxnChg chg="del">
          <ac:chgData name="Langill, TA (Tori)" userId="f2a0729f-78d3-40b0-b388-826b4c078191" providerId="ADAL" clId="{016EF168-869D-4DBD-87DF-B0CCD5844BC8}" dt="2023-09-14T11:17:37.897" v="3"/>
          <ac:cxnSpMkLst>
            <pc:docMk/>
            <pc:sldMk cId="2841686475" sldId="276"/>
            <ac:cxnSpMk id="10" creationId="{EC4521DE-248E-440D-AAD6-FD9E7D34B3BF}"/>
          </ac:cxnSpMkLst>
        </pc:cxnChg>
        <pc:cxnChg chg="del">
          <ac:chgData name="Langill, TA (Tori)" userId="f2a0729f-78d3-40b0-b388-826b4c078191" providerId="ADAL" clId="{016EF168-869D-4DBD-87DF-B0CCD5844BC8}" dt="2023-09-14T11:17:37.897" v="3"/>
          <ac:cxnSpMkLst>
            <pc:docMk/>
            <pc:sldMk cId="2841686475" sldId="276"/>
            <ac:cxnSpMk id="12" creationId="{442C13FA-4C0F-42D0-9626-5BA6040D8C31}"/>
          </ac:cxnSpMkLst>
        </pc:cxnChg>
      </pc:sldChg>
      <pc:sldChg chg="modSp add mod ord">
        <pc:chgData name="Langill, TA (Tori)" userId="f2a0729f-78d3-40b0-b388-826b4c078191" providerId="ADAL" clId="{016EF168-869D-4DBD-87DF-B0CCD5844BC8}" dt="2023-09-14T11:19:44.162" v="64" actId="20577"/>
        <pc:sldMkLst>
          <pc:docMk/>
          <pc:sldMk cId="3080591541" sldId="276"/>
        </pc:sldMkLst>
        <pc:spChg chg="mod">
          <ac:chgData name="Langill, TA (Tori)" userId="f2a0729f-78d3-40b0-b388-826b4c078191" providerId="ADAL" clId="{016EF168-869D-4DBD-87DF-B0CCD5844BC8}" dt="2023-09-14T11:18:09.349" v="23" actId="20577"/>
          <ac:spMkLst>
            <pc:docMk/>
            <pc:sldMk cId="3080591541" sldId="276"/>
            <ac:spMk id="2" creationId="{473D3384-B1FB-BFDF-706C-9667307DC1B0}"/>
          </ac:spMkLst>
        </pc:spChg>
        <pc:spChg chg="mod">
          <ac:chgData name="Langill, TA (Tori)" userId="f2a0729f-78d3-40b0-b388-826b4c078191" providerId="ADAL" clId="{016EF168-869D-4DBD-87DF-B0CCD5844BC8}" dt="2023-09-14T11:19:44.162" v="64" actId="20577"/>
          <ac:spMkLst>
            <pc:docMk/>
            <pc:sldMk cId="3080591541" sldId="276"/>
            <ac:spMk id="3" creationId="{4B60EC47-1869-614D-7DEF-5EE870928203}"/>
          </ac:spMkLst>
        </pc:spChg>
      </pc:sldChg>
      <pc:sldChg chg="modSp add mod ord">
        <pc:chgData name="Langill, TA (Tori)" userId="f2a0729f-78d3-40b0-b388-826b4c078191" providerId="ADAL" clId="{016EF168-869D-4DBD-87DF-B0CCD5844BC8}" dt="2023-09-14T11:22:50.997" v="237" actId="20577"/>
        <pc:sldMkLst>
          <pc:docMk/>
          <pc:sldMk cId="2989990131" sldId="277"/>
        </pc:sldMkLst>
        <pc:spChg chg="mod">
          <ac:chgData name="Langill, TA (Tori)" userId="f2a0729f-78d3-40b0-b388-826b4c078191" providerId="ADAL" clId="{016EF168-869D-4DBD-87DF-B0CCD5844BC8}" dt="2023-09-14T11:21:34.425" v="105" actId="114"/>
          <ac:spMkLst>
            <pc:docMk/>
            <pc:sldMk cId="2989990131" sldId="277"/>
            <ac:spMk id="2" creationId="{D150A79C-7E1D-EA00-B4A7-4578C758B082}"/>
          </ac:spMkLst>
        </pc:spChg>
        <pc:spChg chg="mod">
          <ac:chgData name="Langill, TA (Tori)" userId="f2a0729f-78d3-40b0-b388-826b4c078191" providerId="ADAL" clId="{016EF168-869D-4DBD-87DF-B0CCD5844BC8}" dt="2023-09-14T11:22:50.997" v="237" actId="20577"/>
          <ac:spMkLst>
            <pc:docMk/>
            <pc:sldMk cId="2989990131" sldId="277"/>
            <ac:spMk id="3" creationId="{32C75E34-7E3A-AE58-9896-AAF85CD41382}"/>
          </ac:spMkLst>
        </pc:spChg>
      </pc:sldChg>
      <pc:sldChg chg="new del">
        <pc:chgData name="Langill, TA (Tori)" userId="f2a0729f-78d3-40b0-b388-826b4c078191" providerId="ADAL" clId="{016EF168-869D-4DBD-87DF-B0CCD5844BC8}" dt="2023-09-14T11:20:51.414" v="87" actId="47"/>
        <pc:sldMkLst>
          <pc:docMk/>
          <pc:sldMk cId="344135386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D095-6C20-79D8-CBD0-DD3E4E0E0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4403A-D624-C729-6F42-E30146F9E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E213F-3926-1EA4-B747-3DD7DB7B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9A92D-500C-1787-0FE5-C40A65B1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896D-EFCE-C61A-E1A6-AE997FB9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411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C928-4019-F237-5CEE-E8EE6BFC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22201-937D-BD87-1759-156DD193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BB80A-7ED1-92C7-2395-BFDE163C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3A5A-DBCD-E3E8-6FC0-46E75912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354B7-522D-FE87-CF2B-CAFCA3BD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635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4BA9-E5B4-3D2C-F2C7-89480488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3DE54-45B9-7299-B170-F6D94FB0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15EF-5293-D8E7-3AD5-CA2F54D2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1557D-8DF8-3AB0-BD6F-8FF9F718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A9D6D-7332-1B46-CDC6-12A9FDFF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100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0E1D-F8E5-2F75-DFED-71B3C9CF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6E2C-53D6-8CD8-C6A7-21167A6D2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0A36A-599E-2E98-00DC-244D9645D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F0AE7-3AE3-16B1-648C-9B8F066E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4C23D-2E50-76E8-60DA-B10286C9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61A3-D559-19D8-C0C5-4A3E00F5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475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DED7-5FC8-713D-2BD2-9ACE9CD8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CEF3B-B543-8210-4191-3EE561A31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E22F4-2898-E0F1-BEED-95D2AC8AE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3CF55-0272-8C83-70A0-CA3866AEF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6D36C-C5E5-4FA7-5E56-0CDC76A0C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01A87-A2D3-622B-49CA-757396B7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6068C-FFED-AABA-C467-45B1DF71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17805-EAE5-B574-AD96-C8A85064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674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EC48-42D5-ACC2-9375-447A11E4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D1798-6CFE-B5CA-C2F2-3F254AFA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4F8EF-8F25-44E4-49B9-FB87BF49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4DC6B-7016-6A4B-C1BB-4DA46B83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043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4E139-EC46-F879-BC1D-5B93B0F6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FE0B0-3F7D-708B-D750-20CAC516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8F64-91BD-4BA7-0522-6988447C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908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1FA9-5F62-C1DC-F8FB-93DDC8C3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338E-5063-AA5F-EDAA-541C20F00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6654D-5343-84AE-37C9-29D52181A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51D4-0C7C-2129-88C3-E118AB7D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9C29-D35F-1CEB-4254-FF8E1000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5B41-B7C9-DE9D-E426-EC6709C8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786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6F50-8C73-D8C9-450E-7570A04C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707E9-1620-7377-8D0F-8B07E4BE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DE4F0-0E6E-1070-1EF7-E3FCF8E27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E373E-DE65-A327-3F70-795E8BB9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7229F-AB51-0BEE-3041-A0DE3091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EA9A8-5272-1803-B688-32C78BA1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426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BB39-4403-216F-3C9C-3C84E52E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EE1CE-AEFB-2A0B-BE61-816F1996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CC3-83CC-DD78-0315-D8904BF5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6598-F84C-5476-ABD9-7C092808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F5C70-2706-58B6-E821-9A818754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077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BB567-7099-D918-04E0-CE3B27886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654E3-AD7F-D37D-3FBE-6375547AD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BD934-22D7-2CCE-8659-5E4A3CF1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73DE-5660-7F83-FD76-64C65934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C22F0-57F9-AE19-2DA9-7B66C045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92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1B93A-2AFD-5330-6801-98DEB4CD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4012B-44F2-5B40-4871-5242476E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ECFB-7E1C-61F7-9681-814871754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E7B92-2079-4268-94B3-FEE09A362DE0}" type="datetimeFigureOut">
              <a:rPr lang="en-NL" smtClean="0"/>
              <a:t>14/09/2023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F4148-2E1F-6C1D-2236-CF94009E6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DCE1-CC25-F121-DCC9-E036186E8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DD96-0502-459B-9DB4-79A07CF894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839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B638C-1BDD-8D36-8CC6-C19D45D58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176AC-015F-612E-DC5E-FF9EF097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/>
              <a:t>You are in charge of choosing people to go live on Mars...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2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7575D-FEA2-4E1B-7BF6-AC9D7C865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90FA8-3452-5A18-225C-C0CB3A5E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They have a lovely little ecosystem all built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14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39A31-4214-A6A0-F7DC-80B24BAC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Lots and lots of people applied to go.</a:t>
            </a:r>
            <a:r>
              <a:rPr lang="en-NL" sz="6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Hundreds of thousands</a:t>
            </a:r>
            <a:endParaRPr lang="en-US" sz="6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18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490331-EA25-EDFC-2623-18A012BC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But alas, you can only select 50.</a:t>
            </a:r>
          </a:p>
        </p:txBody>
      </p:sp>
    </p:spTree>
    <p:extLst>
      <p:ext uri="{BB962C8B-B14F-4D97-AF65-F5344CB8AC3E}">
        <p14:creationId xmlns:p14="http://schemas.microsoft.com/office/powerpoint/2010/main" val="135370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ree arrows on bullseye">
            <a:extLst>
              <a:ext uri="{FF2B5EF4-FFF2-40B4-BE49-F238E27FC236}">
                <a16:creationId xmlns:a16="http://schemas.microsoft.com/office/drawing/2014/main" id="{93233303-D536-21FA-A42B-D522B97537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412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7AC9E4-BDC4-F0AF-B115-A35137A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So you design a selection test.</a:t>
            </a:r>
          </a:p>
        </p:txBody>
      </p:sp>
    </p:spTree>
    <p:extLst>
      <p:ext uri="{BB962C8B-B14F-4D97-AF65-F5344CB8AC3E}">
        <p14:creationId xmlns:p14="http://schemas.microsoft.com/office/powerpoint/2010/main" val="280845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ur pencils drawing curves on background">
            <a:extLst>
              <a:ext uri="{FF2B5EF4-FFF2-40B4-BE49-F238E27FC236}">
                <a16:creationId xmlns:a16="http://schemas.microsoft.com/office/drawing/2014/main" id="{7BBB348B-F381-D021-5D24-B1B83FC7BE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FBCA6-0481-B9AC-0722-00B93F22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NL" sz="4800" dirty="0"/>
              <a:t>But is your test valid</a:t>
            </a:r>
            <a:r>
              <a:rPr lang="en-US" sz="4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33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308A6C01-FFEA-8AA4-4AD8-94CDBB3C69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40" r="-1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0A5C7-1EAD-E4DE-1C58-ACE87F5A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Or are people going to be in trouble because of </a:t>
            </a:r>
            <a:r>
              <a:rPr lang="en-NL" sz="3700" dirty="0"/>
              <a:t>how you are </a:t>
            </a:r>
            <a:r>
              <a:rPr lang="en-US" sz="3700" dirty="0"/>
              <a:t>selecting candidates?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71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ubble sheet test paper and pencil">
            <a:extLst>
              <a:ext uri="{FF2B5EF4-FFF2-40B4-BE49-F238E27FC236}">
                <a16:creationId xmlns:a16="http://schemas.microsoft.com/office/drawing/2014/main" id="{9B914A68-2814-E502-B7B1-A17028569C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5252" b="820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9BECB-C5CC-9BBA-DB68-AF517B0F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Let’s say you choose to have a math test as the </a:t>
            </a:r>
            <a:r>
              <a:rPr lang="en-NL" sz="6000" dirty="0">
                <a:solidFill>
                  <a:srgbClr val="FFFFFF"/>
                </a:solidFill>
              </a:rPr>
              <a:t>first </a:t>
            </a:r>
            <a:r>
              <a:rPr lang="en-US" sz="6000" dirty="0">
                <a:solidFill>
                  <a:srgbClr val="FFFFFF"/>
                </a:solidFill>
              </a:rPr>
              <a:t>selection test.</a:t>
            </a:r>
          </a:p>
        </p:txBody>
      </p:sp>
    </p:spTree>
    <p:extLst>
      <p:ext uri="{BB962C8B-B14F-4D97-AF65-F5344CB8AC3E}">
        <p14:creationId xmlns:p14="http://schemas.microsoft.com/office/powerpoint/2010/main" val="3694406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2044B-328F-03A9-5EE0-97430D9F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There are 6 kinds of validity we need to be aware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95576-0204-73B4-5C09-B490151DA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Face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Content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Construct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Criterion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Internal validity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3600" dirty="0">
                <a:solidFill>
                  <a:schemeClr val="tx1">
                    <a:alpha val="80000"/>
                  </a:schemeClr>
                </a:solidFill>
              </a:rPr>
              <a:t>External validity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904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BAA9D-D5A9-4420-3067-790E0CE6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NL" sz="8000">
                <a:solidFill>
                  <a:schemeClr val="bg1"/>
                </a:solidFill>
              </a:rPr>
              <a:t>Face validity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4084-D135-942A-C964-DBC0476B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a test procedure appears to be effectively measuring what it is supposed to measure, this is called</a:t>
            </a:r>
            <a:r>
              <a:rPr lang="en-NL" sz="3200" b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FACE VALIDITY</a:t>
            </a:r>
            <a:endParaRPr lang="en-N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25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B7169-C483-1DAC-D62C-D682E781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This is based on judgement (normally from an expert)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02B3-BB07-8F47-6F05-9188C6B4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An expert would look at our math test and maybe say this is ok because we need technically minded people in space. Math is a good indicator of that.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So here we have face validity </a:t>
            </a:r>
          </a:p>
          <a:p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50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54CA2-C54D-5A22-8E83-8F1812FE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7A7B-9B2C-B6C2-2ED3-2F28339A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02" y="377444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Does the content of the test cover the complete range of things we would like to test?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5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E6565-4719-97D8-31A6-4C3B3530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Are we covering everything we need to test about critical thinking with only a math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AA30-47DC-52A9-CDD9-B6F85594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Maybe not....maybe we need to have philosophy, psychology, or even simple critical thinking questions as well!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We have low content validity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965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3384-B1FB-BFDF-706C-9667307D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Construct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EC47-1869-614D-7DEF-5EE87092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12" y="37338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 our tools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or instrument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measure what we are trying to test?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5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0A79C-7E1D-EA00-B4A7-4578C758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Here, our tool is our math test. Does this measure critical thinking?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5E34-7E3A-AE58-9896-AAF85CD4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</a:t>
            </a:r>
            <a:r>
              <a:rPr lang="en-NL" sz="2400" dirty="0" err="1">
                <a:solidFill>
                  <a:schemeClr val="tx1">
                    <a:alpha val="80000"/>
                  </a:schemeClr>
                </a:solidFill>
              </a:rPr>
              <a:t>ath</a:t>
            </a:r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 skills have been correlated to high levels of critical thinking. 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Therefore for CONSTRUCT VALIDITY, we have a high degree of validity.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7892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3384-B1FB-BFDF-706C-9667307D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NL" sz="6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riterion</a:t>
            </a:r>
            <a:r>
              <a:rPr 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0EC47-1869-614D-7DEF-5EE87092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912" y="37338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H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ow accurately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does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 test measures the outcome that it was designed to measure</a:t>
            </a:r>
            <a:r>
              <a:rPr lang="en-NL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?</a:t>
            </a:r>
            <a:endParaRPr lang="en-US" sz="32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9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0A79C-7E1D-EA00-B4A7-4578C758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Here, our tool is our math test. Does this measure critical thinking </a:t>
            </a:r>
            <a:r>
              <a:rPr lang="en-NL" sz="4000" b="1" u="sng" dirty="0"/>
              <a:t>accurately</a:t>
            </a:r>
            <a:r>
              <a:rPr lang="en-NL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5E34-7E3A-AE58-9896-AAF85CD4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</a:t>
            </a:r>
            <a:r>
              <a:rPr lang="en-NL" sz="2400" dirty="0" err="1">
                <a:solidFill>
                  <a:schemeClr val="tx1">
                    <a:alpha val="80000"/>
                  </a:schemeClr>
                </a:solidFill>
              </a:rPr>
              <a:t>ath</a:t>
            </a:r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 skills have been correlated to high levels of critical thinking. </a:t>
            </a:r>
          </a:p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Is our math test too easy? Too hard?</a:t>
            </a:r>
          </a:p>
          <a:p>
            <a:r>
              <a:rPr lang="en-NL" sz="2400">
                <a:solidFill>
                  <a:schemeClr val="tx1">
                    <a:alpha val="80000"/>
                  </a:schemeClr>
                </a:solidFill>
              </a:rPr>
              <a:t>We should use more than one measurement tool and correlate our results.</a:t>
            </a:r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9990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0A0CD8-FB06-0A1D-8737-7F0B612F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0E202-2EC1-3041-B389-AE69A23E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well did we set up our experiment/ test? </a:t>
            </a:r>
          </a:p>
        </p:txBody>
      </p:sp>
    </p:spTree>
    <p:extLst>
      <p:ext uri="{BB962C8B-B14F-4D97-AF65-F5344CB8AC3E}">
        <p14:creationId xmlns:p14="http://schemas.microsoft.com/office/powerpoint/2010/main" val="170980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E6565-4719-97D8-31A6-4C3B3530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NL" sz="4000" dirty="0"/>
              <a:t>Are the results of our test true, and not due to poor experimental design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AA30-47DC-52A9-CDD9-B6F855942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NL" sz="2400" dirty="0">
                <a:solidFill>
                  <a:schemeClr val="tx1">
                    <a:alpha val="80000"/>
                  </a:schemeClr>
                </a:solidFill>
              </a:rPr>
              <a:t>Is everyone who scores high on a math test a good critical thinker, even though there is a high correlation?</a:t>
            </a:r>
          </a:p>
          <a:p>
            <a:endParaRPr lang="en-NL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8442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B80DD-B2AA-93B6-9C2B-D5D4A0FD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NL">
                <a:solidFill>
                  <a:schemeClr val="bg1"/>
                </a:solidFill>
              </a:rPr>
              <a:t>External validity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6E8BC-3C7C-931C-B6D0-975B5CA9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Is the outcome </a:t>
            </a:r>
            <a:r>
              <a:rPr lang="en-NL" sz="3200" dirty="0" err="1">
                <a:solidFill>
                  <a:schemeClr val="bg1"/>
                </a:solidFill>
              </a:rPr>
              <a:t>generizable</a:t>
            </a:r>
            <a:r>
              <a:rPr lang="en-NL" sz="3200" dirty="0">
                <a:solidFill>
                  <a:schemeClr val="bg1"/>
                </a:solidFill>
              </a:rPr>
              <a:t>? 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Can it be applied to other situations? 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NL" sz="3200" dirty="0">
                <a:solidFill>
                  <a:schemeClr val="bg1"/>
                </a:solidFill>
              </a:rPr>
              <a:t>Other studies?</a:t>
            </a:r>
          </a:p>
          <a:p>
            <a:pPr marL="0" indent="0">
              <a:buNone/>
            </a:pPr>
            <a:endParaRPr lang="en-NL" sz="3200" dirty="0">
              <a:solidFill>
                <a:schemeClr val="bg1"/>
              </a:solidFill>
            </a:endParaRPr>
          </a:p>
          <a:p>
            <a:endParaRPr lang="en-NL" sz="3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Props1.xml><?xml version="1.0" encoding="utf-8"?>
<ds:datastoreItem xmlns:ds="http://schemas.openxmlformats.org/officeDocument/2006/customXml" ds:itemID="{2C3C0906-D3A5-4FCC-BFEF-9FD29EBAE30B}"/>
</file>

<file path=customXml/itemProps2.xml><?xml version="1.0" encoding="utf-8"?>
<ds:datastoreItem xmlns:ds="http://schemas.openxmlformats.org/officeDocument/2006/customXml" ds:itemID="{6E883A4D-17F6-4F84-AE00-5255092B24F1}"/>
</file>

<file path=customXml/itemProps3.xml><?xml version="1.0" encoding="utf-8"?>
<ds:datastoreItem xmlns:ds="http://schemas.openxmlformats.org/officeDocument/2006/customXml" ds:itemID="{B93166FF-6818-4F36-A461-5D51C9AA391F}"/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441</Words>
  <Application>Microsoft Office PowerPoint</Application>
  <PresentationFormat>Widescreen</PresentationFormat>
  <Paragraphs>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Office Theme</vt:lpstr>
      <vt:lpstr>You are in charge of choosing people to go live on Mars...</vt:lpstr>
      <vt:lpstr>They have a lovely little ecosystem all built</vt:lpstr>
      <vt:lpstr>Lots and lots of people applied to go. Hundreds of thousands</vt:lpstr>
      <vt:lpstr>But alas, you can only select 50.</vt:lpstr>
      <vt:lpstr>So you design a selection test.</vt:lpstr>
      <vt:lpstr>But is your test valid?</vt:lpstr>
      <vt:lpstr>Or are people going to be in trouble because of how you are selecting candidates?</vt:lpstr>
      <vt:lpstr>Let’s say you choose to have a math test as the first selection test.</vt:lpstr>
      <vt:lpstr>There are 6 kinds of validity we need to be aware of</vt:lpstr>
      <vt:lpstr>Face validity</vt:lpstr>
      <vt:lpstr>This is based on judgement (normally from an expert)</vt:lpstr>
      <vt:lpstr>Content validity</vt:lpstr>
      <vt:lpstr>Are we covering everything we need to test about critical thinking with only a math test?</vt:lpstr>
      <vt:lpstr>Construct validity</vt:lpstr>
      <vt:lpstr>Here, our tool is our math test. Does this measure critical thinking?</vt:lpstr>
      <vt:lpstr>Criterion validity</vt:lpstr>
      <vt:lpstr>Here, our tool is our math test. Does this measure critical thinking accurately?</vt:lpstr>
      <vt:lpstr>Internal Validity</vt:lpstr>
      <vt:lpstr>Are the results of our test true, and not due to poor experimental design etc.</vt:lpstr>
      <vt:lpstr>External validity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are in charge of choosing people to go live on Mars...</dc:title>
  <dc:creator>Langill, TA (Tori)</dc:creator>
  <cp:lastModifiedBy>Langill, TA (Tori)</cp:lastModifiedBy>
  <cp:revision>1</cp:revision>
  <dcterms:created xsi:type="dcterms:W3CDTF">2023-03-23T11:12:42Z</dcterms:created>
  <dcterms:modified xsi:type="dcterms:W3CDTF">2023-09-14T11:23:00Z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