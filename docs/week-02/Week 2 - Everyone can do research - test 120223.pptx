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  <p:sldMasterId id="2147483648" r:id="rId5"/>
    <p:sldMasterId id="2147483677" r:id="rId6"/>
    <p:sldMasterId id="2147483743" r:id="rId7"/>
  </p:sldMasterIdLst>
  <p:notesMasterIdLst>
    <p:notesMasterId r:id="rId18"/>
  </p:notesMasterIdLst>
  <p:sldIdLst>
    <p:sldId id="256" r:id="rId8"/>
    <p:sldId id="261" r:id="rId9"/>
    <p:sldId id="257" r:id="rId10"/>
    <p:sldId id="266" r:id="rId11"/>
    <p:sldId id="258" r:id="rId12"/>
    <p:sldId id="259" r:id="rId13"/>
    <p:sldId id="268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01D171-14E9-EFE4-D092-162BF8B516FF}" name="Hanegreefs, H (Hilde)" initials="H(" userId="S::hilde.hanegreefs@zuyd.nl::03ec1bdc-8cfc-4e69-93b9-fa43091dd121" providerId="AD"/>
  <p188:author id="{4B479CA2-1328-6B36-22F5-6A4BDCA07722}" name="Huberts, D (Daan)" initials="H(" userId="S::daan.huberts@zuyd.nl::563c6390-b2c9-476e-8665-21ee6faf58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9089"/>
    <a:srgbClr val="E0696A"/>
    <a:srgbClr val="EEDCB5"/>
    <a:srgbClr val="D6AD51"/>
    <a:srgbClr val="913173"/>
    <a:srgbClr val="E9D6E3"/>
    <a:srgbClr val="D8D1CF"/>
    <a:srgbClr val="534245"/>
    <a:srgbClr val="534259"/>
    <a:srgbClr val="9E8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1" autoAdjust="0"/>
    <p:restoredTop sz="84854" autoAdjust="0"/>
  </p:normalViewPr>
  <p:slideViewPr>
    <p:cSldViewPr snapToGrid="0">
      <p:cViewPr varScale="1">
        <p:scale>
          <a:sx n="62" d="100"/>
          <a:sy n="62" d="100"/>
        </p:scale>
        <p:origin x="10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666B6-286A-4405-99F2-53E701102167}" type="datetimeFigureOut">
              <a:rPr lang="nl-NL" smtClean="0"/>
              <a:t>18-2-2023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922BD-4D9E-4EA2-AF6E-C02189B520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822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922BD-4D9E-4EA2-AF6E-C02189B52086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003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922BD-4D9E-4EA2-AF6E-C02189B52086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359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922BD-4D9E-4EA2-AF6E-C02189B52086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289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9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ENG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4136123" cy="2446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Thank you for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your attention!</a:t>
            </a:r>
          </a:p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 look forward to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welcoming you again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at our beloved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Stay connected with us</a:t>
            </a: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1230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NL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3907523" cy="235449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Bedankt voor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uw aandacht!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Graag tot ziens op </a:t>
            </a:r>
            <a:b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onze mooie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Laten we contact </a:t>
            </a:r>
            <a:r>
              <a:rPr lang="en-GB" sz="2000" b="0" i="0" u="none" strike="noStrike" baseline="0" dirty="0" err="1">
                <a:solidFill>
                  <a:srgbClr val="FFFFFF"/>
                </a:solidFill>
                <a:latin typeface="+mn-lt"/>
              </a:rPr>
              <a:t>houden</a:t>
            </a:r>
            <a:endParaRPr lang="en-GB" sz="2000" b="0" i="0" u="none" strike="noStrike" baseline="0" dirty="0">
              <a:solidFill>
                <a:srgbClr val="FFFFFF"/>
              </a:solidFill>
              <a:latin typeface="+mn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4603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anco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endParaRPr lang="en-GB" sz="2000" b="0" i="0" u="none" strike="noStrike" baseline="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" name="Tijdelijke aanduiding Tekst 1">
            <a:extLst>
              <a:ext uri="{FF2B5EF4-FFF2-40B4-BE49-F238E27FC236}">
                <a16:creationId xmlns:a16="http://schemas.microsoft.com/office/drawing/2014/main" id="{096059D0-6078-4E6B-A4F5-73481C0CE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68686" y="1326086"/>
            <a:ext cx="3924946" cy="470898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4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message</a:t>
            </a:r>
            <a:endParaRPr lang="nl-NL" dirty="0"/>
          </a:p>
        </p:txBody>
      </p:sp>
      <p:sp>
        <p:nvSpPr>
          <p:cNvPr id="12" name="Tijdelijke aanduiding Tekst 2">
            <a:extLst>
              <a:ext uri="{FF2B5EF4-FFF2-40B4-BE49-F238E27FC236}">
                <a16:creationId xmlns:a16="http://schemas.microsoft.com/office/drawing/2014/main" id="{09AC7119-4737-481D-A01D-DDBB3C57CB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68686" y="4376387"/>
            <a:ext cx="3924946" cy="276999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/>
              <a:t>Contact </a:t>
            </a:r>
            <a:r>
              <a:rPr lang="nl-NL" dirty="0" err="1"/>
              <a:t>message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348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lide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63D7E0F-7BFC-4402-BA6E-CDF07A81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FC1263-A8D5-4CFD-BF3D-D8A54FA4E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4572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g Color Background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0" y="6439919"/>
            <a:ext cx="1358761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1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5DAC3-20BC-47D4-98F5-DDF52609E96D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1/3 </a:t>
            </a:r>
            <a:r>
              <a:rPr lang="nl-BE" sz="1400" dirty="0" err="1"/>
              <a:t>img</a:t>
            </a:r>
            <a:r>
              <a:rPr lang="nl-BE" sz="1400" dirty="0"/>
              <a:t> </a:t>
            </a:r>
            <a:r>
              <a:rPr lang="nl-BE" sz="1400" dirty="0" err="1"/>
              <a:t>Color</a:t>
            </a:r>
            <a:r>
              <a:rPr lang="nl-BE" sz="1400" dirty="0"/>
              <a:t> Background</a:t>
            </a:r>
          </a:p>
        </p:txBody>
      </p:sp>
    </p:spTree>
    <p:extLst>
      <p:ext uri="{BB962C8B-B14F-4D97-AF65-F5344CB8AC3E}">
        <p14:creationId xmlns:p14="http://schemas.microsoft.com/office/powerpoint/2010/main" val="53179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g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48679-B830-4AE6-9EAF-959B9347D07D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1/3 </a:t>
            </a:r>
            <a:r>
              <a:rPr lang="nl-BE" sz="1400" dirty="0" err="1"/>
              <a:t>img</a:t>
            </a:r>
            <a:r>
              <a:rPr lang="nl-BE" sz="1400" dirty="0"/>
              <a:t>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70217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6 img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42C67-E8D4-41A6-B68B-CB17A5DAE4CD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240729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6 img T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10" name="Table Placeholder 4">
            <a:extLst>
              <a:ext uri="{FF2B5EF4-FFF2-40B4-BE49-F238E27FC236}">
                <a16:creationId xmlns:a16="http://schemas.microsoft.com/office/drawing/2014/main" id="{597852CA-5D7D-461C-9DA7-327993E2AF2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194073" y="2343601"/>
            <a:ext cx="7674735" cy="3750124"/>
          </a:xfrm>
        </p:spPr>
        <p:txBody>
          <a:bodyPr lIns="0" tIns="0" rIns="0" bIns="0" anchor="t" anchorCtr="0"/>
          <a:lstStyle>
            <a:lvl1pPr algn="ctr">
              <a:buNone/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tabel</a:t>
            </a:r>
            <a:r>
              <a:rPr lang="en-GB" dirty="0"/>
              <a:t>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05BED-F965-4AA0-9412-6AC9A486712A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Tabel</a:t>
            </a:r>
          </a:p>
        </p:txBody>
      </p:sp>
    </p:spTree>
    <p:extLst>
      <p:ext uri="{BB962C8B-B14F-4D97-AF65-F5344CB8AC3E}">
        <p14:creationId xmlns:p14="http://schemas.microsoft.com/office/powerpoint/2010/main" val="273095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6 img Grafie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8" name="Chart Placeholder 2">
            <a:extLst>
              <a:ext uri="{FF2B5EF4-FFF2-40B4-BE49-F238E27FC236}">
                <a16:creationId xmlns:a16="http://schemas.microsoft.com/office/drawing/2014/main" id="{A1C1D1B9-3280-4503-AFD7-CC03003FA7E9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194073" y="2343600"/>
            <a:ext cx="7674734" cy="3750124"/>
          </a:xfrm>
        </p:spPr>
        <p:txBody>
          <a:bodyPr lIns="0" tIns="0" rIns="0" bIns="0"/>
          <a:lstStyle>
            <a:lvl1pPr algn="ctr">
              <a:buNone/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grafiek</a:t>
            </a:r>
            <a:r>
              <a:rPr lang="en-GB" dirty="0"/>
              <a:t>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9AB8A-6841-410F-9EF2-6078AB99EEDF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Grafiek</a:t>
            </a:r>
          </a:p>
        </p:txBody>
      </p:sp>
    </p:spTree>
    <p:extLst>
      <p:ext uri="{BB962C8B-B14F-4D97-AF65-F5344CB8AC3E}">
        <p14:creationId xmlns:p14="http://schemas.microsoft.com/office/powerpoint/2010/main" val="198335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lIns="432000" tIns="72000" rIns="72000" bIns="7200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Online Image Placeholder 4">
            <a:extLst>
              <a:ext uri="{FF2B5EF4-FFF2-40B4-BE49-F238E27FC236}">
                <a16:creationId xmlns:a16="http://schemas.microsoft.com/office/drawing/2014/main" id="{24BE3241-8379-4DEA-A680-7AF95D1A39B5}"/>
              </a:ext>
            </a:extLst>
          </p:cNvPr>
          <p:cNvSpPr>
            <a:spLocks noGrp="1"/>
          </p:cNvSpPr>
          <p:nvPr>
            <p:ph type="clipArt" sz="quarter" idx="13" hasCustomPrompt="1"/>
          </p:nvPr>
        </p:nvSpPr>
        <p:spPr>
          <a:xfrm>
            <a:off x="2303472" y="4650663"/>
            <a:ext cx="608400" cy="453600"/>
          </a:xfr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A4063-C540-4592-81FD-A92AC8BA43BE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Quote</a:t>
            </a:r>
          </a:p>
        </p:txBody>
      </p:sp>
    </p:spTree>
    <p:extLst>
      <p:ext uri="{BB962C8B-B14F-4D97-AF65-F5344CB8AC3E}">
        <p14:creationId xmlns:p14="http://schemas.microsoft.com/office/powerpoint/2010/main" val="1887373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g Color Background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B325A9-33A0-4002-BFDF-6BB4F916999F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1/2 </a:t>
            </a:r>
            <a:r>
              <a:rPr lang="nl-BE" sz="1400" dirty="0" err="1"/>
              <a:t>img</a:t>
            </a:r>
            <a:r>
              <a:rPr lang="nl-BE" sz="1400" dirty="0"/>
              <a:t> </a:t>
            </a:r>
            <a:r>
              <a:rPr lang="nl-BE" sz="1400" dirty="0" err="1"/>
              <a:t>Color</a:t>
            </a:r>
            <a:r>
              <a:rPr lang="nl-BE" sz="1400" dirty="0"/>
              <a:t> Background</a:t>
            </a:r>
          </a:p>
        </p:txBody>
      </p:sp>
    </p:spTree>
    <p:extLst>
      <p:ext uri="{BB962C8B-B14F-4D97-AF65-F5344CB8AC3E}">
        <p14:creationId xmlns:p14="http://schemas.microsoft.com/office/powerpoint/2010/main" val="4244423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g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 b="1">
                <a:solidFill>
                  <a:srgbClr val="9131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8AF65E-EBCC-41F0-B41D-03DFA620293A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1/2 </a:t>
            </a:r>
            <a:r>
              <a:rPr lang="nl-BE" sz="1400" dirty="0" err="1"/>
              <a:t>img</a:t>
            </a:r>
            <a:r>
              <a:rPr lang="nl-BE" sz="1400" dirty="0"/>
              <a:t>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164068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Title 6">
            <a:extLst>
              <a:ext uri="{FF2B5EF4-FFF2-40B4-BE49-F238E27FC236}">
                <a16:creationId xmlns:a16="http://schemas.microsoft.com/office/drawing/2014/main" id="{3856C393-35A5-4BF3-913C-ABB467498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4728" y="1"/>
            <a:ext cx="3437271" cy="6857999"/>
          </a:xfrm>
          <a:solidFill>
            <a:srgbClr val="913173"/>
          </a:solidFill>
        </p:spPr>
        <p:txBody>
          <a:bodyPr lIns="396000" tIns="360000" rIns="0" bIns="3312000" anchor="b" anchorCtr="0">
            <a:normAutofit/>
          </a:bodyPr>
          <a:lstStyle>
            <a:lvl1pPr>
              <a:defRPr sz="4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FC0106EE-A022-47F9-8E5D-2E76A64B9C14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" y="1"/>
            <a:ext cx="8759298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828000" anchor="ctr" anchorCtr="0"/>
          <a:lstStyle>
            <a:lvl1pPr algn="ctr">
              <a:buNone/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een</a:t>
            </a:r>
            <a:r>
              <a:rPr lang="en-GB" dirty="0"/>
              <a:t> video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0E97C-9009-4ACB-AC08-964BC7AC0F2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Video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A26A61A-4B86-480E-A7DF-8512BD363C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64472" y="3678072"/>
            <a:ext cx="2710435" cy="223837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BEF16D11-3E7E-49BA-A603-75DF19698D78}"/>
              </a:ext>
            </a:extLst>
          </p:cNvPr>
          <p:cNvSpPr>
            <a:spLocks noGrp="1"/>
          </p:cNvSpPr>
          <p:nvPr>
            <p:ph type="clipArt" sz="quarter" idx="12" hasCustomPrompt="1"/>
          </p:nvPr>
        </p:nvSpPr>
        <p:spPr>
          <a:xfrm>
            <a:off x="10510052" y="6439919"/>
            <a:ext cx="1358757" cy="221803"/>
          </a:xfr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800">
                <a:solidFill>
                  <a:srgbClr val="913173"/>
                </a:solidFill>
              </a:defRPr>
            </a:lvl1pPr>
          </a:lstStyle>
          <a:p>
            <a:r>
              <a:rPr lang="nl-B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06602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4472" y="2999071"/>
            <a:ext cx="2710435" cy="658529"/>
          </a:xfrm>
        </p:spPr>
        <p:txBody>
          <a:bodyPr lIns="0" tIns="0" rIns="0" bIns="0" anchor="t" anchorCtr="0">
            <a:normAutofit/>
          </a:bodyPr>
          <a:lstStyle>
            <a:lvl1pPr>
              <a:defRPr sz="4000" b="0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76CE40-3CC7-4A42-898E-4DD929B64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759299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792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C7F64-8CBD-4592-ACC1-BEA58A5E0BA5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2/3 </a:t>
            </a:r>
            <a:r>
              <a:rPr lang="nl-BE" sz="1400" dirty="0" err="1"/>
              <a:t>img</a:t>
            </a:r>
            <a:endParaRPr lang="nl-BE" sz="14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137085F-E6E8-46B9-A893-41E11E155F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64472" y="3678072"/>
            <a:ext cx="2710435" cy="223837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rgbClr val="913173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rgbClr val="913173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rgbClr val="913173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476780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g Alternatief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4472" y="2999071"/>
            <a:ext cx="2710435" cy="658529"/>
          </a:xfrm>
        </p:spPr>
        <p:txBody>
          <a:bodyPr lIns="0" tIns="0" rIns="0" bIns="0" anchor="t" anchorCtr="0">
            <a:normAutofit/>
          </a:bodyPr>
          <a:lstStyle>
            <a:lvl1pPr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76CE40-3CC7-4A42-898E-4DD929B64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759299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792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C7F64-8CBD-4592-ACC1-BEA58A5E0BA5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2/3 </a:t>
            </a:r>
            <a:r>
              <a:rPr lang="nl-BE" sz="1400" dirty="0" err="1"/>
              <a:t>img</a:t>
            </a:r>
            <a:endParaRPr lang="nl-BE" sz="14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137085F-E6E8-46B9-A893-41E11E155F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64472" y="3678072"/>
            <a:ext cx="2710435" cy="223837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76645B-881C-41F8-9240-CD64EDD37C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15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</p:spTree>
    <p:extLst>
      <p:ext uri="{BB962C8B-B14F-4D97-AF65-F5344CB8AC3E}">
        <p14:creationId xmlns:p14="http://schemas.microsoft.com/office/powerpoint/2010/main" val="3908676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63D7E0F-7BFC-4402-BA6E-CDF07A81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FC1263-A8D5-4CFD-BF3D-D8A54FA4E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6049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slide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4D5675-2ED9-48F1-8670-075AFEEF00C5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 err="1"/>
              <a:t>Color</a:t>
            </a:r>
            <a:r>
              <a:rPr lang="nl-BE" sz="1400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0649466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slide + text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63D7E0F-7BFC-4402-BA6E-CDF07A81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FC1263-A8D5-4CFD-BF3D-D8A54FA4E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2A5DF1-E74B-4608-A342-28829B7CE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87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chemeClr val="tx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chemeClr val="accent1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chemeClr val="accent3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chemeClr val="bg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chemeClr val="accent4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chemeClr val="accent5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chemeClr val="accent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chemeClr val="accent6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2BBD9-05FE-4ADE-92E9-CEEB1B62F2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61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chemeClr val="tx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805316B-2914-4C3D-800C-A8C13C887C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386412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chemeClr val="accent1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528747D-C4C8-467B-90F5-14ACF1B796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7194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chemeClr val="accent3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4A159FC-6936-494B-A13F-5DC1D1710A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89753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chemeClr val="bg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4EF2386-78EF-443D-9B9E-22CFDA647F1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5862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chemeClr val="accent4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CFD934D-42E3-460C-AE63-5115CFEC0D3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51860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chemeClr val="accent5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E25FD17-D781-4273-947F-4218183010C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57993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3702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ENG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4136123" cy="2446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Thank you for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your attention!</a:t>
            </a:r>
          </a:p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 look forward to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welcoming you again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at our beloved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Stay connected with us</a:t>
            </a: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086005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NL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3907523" cy="235449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Bedankt voor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uw aandacht!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Graag tot ziens op </a:t>
            </a:r>
            <a:b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onze mooie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Laten we contact </a:t>
            </a:r>
            <a:r>
              <a:rPr lang="en-GB" sz="2000" b="0" i="0" u="none" strike="noStrike" baseline="0" dirty="0" err="1">
                <a:solidFill>
                  <a:srgbClr val="FFFFFF"/>
                </a:solidFill>
                <a:latin typeface="+mn-lt"/>
              </a:rPr>
              <a:t>houden</a:t>
            </a:r>
            <a:endParaRPr lang="en-GB" sz="2000" b="0" i="0" u="none" strike="noStrike" baseline="0" dirty="0">
              <a:solidFill>
                <a:srgbClr val="FFFFFF"/>
              </a:solidFill>
              <a:latin typeface="+mn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125752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anco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endParaRPr lang="en-GB" sz="2000" b="0" i="0" u="none" strike="noStrike" baseline="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" name="Tijdelijke aanduiding Tekst 1">
            <a:extLst>
              <a:ext uri="{FF2B5EF4-FFF2-40B4-BE49-F238E27FC236}">
                <a16:creationId xmlns:a16="http://schemas.microsoft.com/office/drawing/2014/main" id="{096059D0-6078-4E6B-A4F5-73481C0CE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68686" y="1326086"/>
            <a:ext cx="3924946" cy="470898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4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message</a:t>
            </a:r>
            <a:endParaRPr lang="nl-NL" dirty="0"/>
          </a:p>
        </p:txBody>
      </p:sp>
      <p:sp>
        <p:nvSpPr>
          <p:cNvPr id="12" name="Tijdelijke aanduiding Tekst 2">
            <a:extLst>
              <a:ext uri="{FF2B5EF4-FFF2-40B4-BE49-F238E27FC236}">
                <a16:creationId xmlns:a16="http://schemas.microsoft.com/office/drawing/2014/main" id="{09AC7119-4737-481D-A01D-DDBB3C57CB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68686" y="4376387"/>
            <a:ext cx="3924946" cy="276999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/>
              <a:t>Contact </a:t>
            </a:r>
            <a:r>
              <a:rPr lang="nl-NL" dirty="0" err="1"/>
              <a:t>message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324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4716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74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E10C5-9D99-409A-A25A-807458ECBCC7}"/>
              </a:ext>
            </a:extLst>
          </p:cNvPr>
          <p:cNvSpPr/>
          <p:nvPr userDrawn="1"/>
        </p:nvSpPr>
        <p:spPr>
          <a:xfrm>
            <a:off x="-603250" y="1690688"/>
            <a:ext cx="504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8CA29-F882-4471-B854-5B2F343170A8}"/>
              </a:ext>
            </a:extLst>
          </p:cNvPr>
          <p:cNvSpPr/>
          <p:nvPr userDrawn="1"/>
        </p:nvSpPr>
        <p:spPr>
          <a:xfrm>
            <a:off x="-603250" y="2062626"/>
            <a:ext cx="504000" cy="28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F36AE-EE38-41EA-8FA3-31FAB4712B9E}"/>
              </a:ext>
            </a:extLst>
          </p:cNvPr>
          <p:cNvSpPr/>
          <p:nvPr userDrawn="1"/>
        </p:nvSpPr>
        <p:spPr>
          <a:xfrm>
            <a:off x="-603250" y="2433791"/>
            <a:ext cx="504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AE5BE-2313-4B86-9032-824B0009AC29}"/>
              </a:ext>
            </a:extLst>
          </p:cNvPr>
          <p:cNvSpPr/>
          <p:nvPr userDrawn="1"/>
        </p:nvSpPr>
        <p:spPr>
          <a:xfrm>
            <a:off x="-603250" y="2804956"/>
            <a:ext cx="504000" cy="28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58466-65E9-4BFA-947E-6EC2E94DAFA8}"/>
              </a:ext>
            </a:extLst>
          </p:cNvPr>
          <p:cNvSpPr/>
          <p:nvPr userDrawn="1"/>
        </p:nvSpPr>
        <p:spPr>
          <a:xfrm>
            <a:off x="-603250" y="3176121"/>
            <a:ext cx="504000" cy="28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2A55C-6642-4F08-AA94-4FAB9C6C4BAD}"/>
              </a:ext>
            </a:extLst>
          </p:cNvPr>
          <p:cNvSpPr/>
          <p:nvPr userDrawn="1"/>
        </p:nvSpPr>
        <p:spPr>
          <a:xfrm>
            <a:off x="-603250" y="3547286"/>
            <a:ext cx="504000" cy="2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57B148-4C87-4340-BAE8-C96CF45388D5}"/>
              </a:ext>
            </a:extLst>
          </p:cNvPr>
          <p:cNvSpPr/>
          <p:nvPr userDrawn="1"/>
        </p:nvSpPr>
        <p:spPr>
          <a:xfrm>
            <a:off x="-603250" y="3918451"/>
            <a:ext cx="504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750F59-7D00-4414-844B-C5177B1C6A3C}"/>
              </a:ext>
            </a:extLst>
          </p:cNvPr>
          <p:cNvSpPr/>
          <p:nvPr userDrawn="1"/>
        </p:nvSpPr>
        <p:spPr>
          <a:xfrm>
            <a:off x="-603250" y="4289616"/>
            <a:ext cx="504000" cy="28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814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64" r:id="rId7"/>
    <p:sldLayoutId id="2147483657" r:id="rId8"/>
    <p:sldLayoutId id="2147483658" r:id="rId9"/>
    <p:sldLayoutId id="2147483659" r:id="rId10"/>
    <p:sldLayoutId id="2147483685" r:id="rId11"/>
    <p:sldLayoutId id="2147483660" r:id="rId12"/>
    <p:sldLayoutId id="2147483686" r:id="rId13"/>
    <p:sldLayoutId id="2147483661" r:id="rId14"/>
    <p:sldLayoutId id="214748368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E10C5-9D99-409A-A25A-807458ECBCC7}"/>
              </a:ext>
            </a:extLst>
          </p:cNvPr>
          <p:cNvSpPr/>
          <p:nvPr userDrawn="1"/>
        </p:nvSpPr>
        <p:spPr>
          <a:xfrm>
            <a:off x="-603250" y="1690688"/>
            <a:ext cx="504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8CA29-F882-4471-B854-5B2F343170A8}"/>
              </a:ext>
            </a:extLst>
          </p:cNvPr>
          <p:cNvSpPr/>
          <p:nvPr userDrawn="1"/>
        </p:nvSpPr>
        <p:spPr>
          <a:xfrm>
            <a:off x="-603250" y="2062626"/>
            <a:ext cx="504000" cy="28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F36AE-EE38-41EA-8FA3-31FAB4712B9E}"/>
              </a:ext>
            </a:extLst>
          </p:cNvPr>
          <p:cNvSpPr/>
          <p:nvPr userDrawn="1"/>
        </p:nvSpPr>
        <p:spPr>
          <a:xfrm>
            <a:off x="-603250" y="2433791"/>
            <a:ext cx="504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AE5BE-2313-4B86-9032-824B0009AC29}"/>
              </a:ext>
            </a:extLst>
          </p:cNvPr>
          <p:cNvSpPr/>
          <p:nvPr userDrawn="1"/>
        </p:nvSpPr>
        <p:spPr>
          <a:xfrm>
            <a:off x="-603250" y="2804956"/>
            <a:ext cx="504000" cy="28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58466-65E9-4BFA-947E-6EC2E94DAFA8}"/>
              </a:ext>
            </a:extLst>
          </p:cNvPr>
          <p:cNvSpPr/>
          <p:nvPr userDrawn="1"/>
        </p:nvSpPr>
        <p:spPr>
          <a:xfrm>
            <a:off x="-603250" y="3176121"/>
            <a:ext cx="504000" cy="28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2A55C-6642-4F08-AA94-4FAB9C6C4BAD}"/>
              </a:ext>
            </a:extLst>
          </p:cNvPr>
          <p:cNvSpPr/>
          <p:nvPr userDrawn="1"/>
        </p:nvSpPr>
        <p:spPr>
          <a:xfrm>
            <a:off x="-603250" y="3547286"/>
            <a:ext cx="504000" cy="2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57B148-4C87-4340-BAE8-C96CF45388D5}"/>
              </a:ext>
            </a:extLst>
          </p:cNvPr>
          <p:cNvSpPr/>
          <p:nvPr userDrawn="1"/>
        </p:nvSpPr>
        <p:spPr>
          <a:xfrm>
            <a:off x="-603250" y="3918451"/>
            <a:ext cx="504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750F59-7D00-4414-844B-C5177B1C6A3C}"/>
              </a:ext>
            </a:extLst>
          </p:cNvPr>
          <p:cNvSpPr/>
          <p:nvPr userDrawn="1"/>
        </p:nvSpPr>
        <p:spPr>
          <a:xfrm>
            <a:off x="-603250" y="4289616"/>
            <a:ext cx="504000" cy="28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2701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6653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0BEBF16-1AC0-4DF9-B399-1CBFD7D4E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Week 2 </a:t>
            </a:r>
            <a:r>
              <a:rPr lang="en-GB" i="1" dirty="0" smtClean="0"/>
              <a:t>HRA2</a:t>
            </a:r>
            <a:endParaRPr lang="nl-BE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0B1887-07E4-4980-8DB4-95FA43B3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>Actually gathering data – you’ve done it before</a:t>
            </a:r>
            <a:endParaRPr lang="nl-BE" sz="2400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94A6E5E-B1F2-42B4-9966-EF73E26729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0" y="0"/>
            <a:ext cx="6858000" cy="6858000"/>
          </a:xfrm>
        </p:spPr>
      </p:pic>
    </p:spTree>
    <p:extLst>
      <p:ext uri="{BB962C8B-B14F-4D97-AF65-F5344CB8AC3E}">
        <p14:creationId xmlns:p14="http://schemas.microsoft.com/office/powerpoint/2010/main" val="201016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D566C35-1D1A-43E1-9312-3471326C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NUANCE!</a:t>
            </a:r>
            <a:endParaRPr lang="nl-NL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50964"/>
          <a:stretch/>
        </p:blipFill>
        <p:spPr>
          <a:xfrm>
            <a:off x="2267857" y="1548311"/>
            <a:ext cx="3828143" cy="11263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057" t="47378" r="1194" b="1327"/>
          <a:stretch/>
        </p:blipFill>
        <p:spPr>
          <a:xfrm>
            <a:off x="5737860" y="1690688"/>
            <a:ext cx="3320868" cy="11781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1320" y="2612833"/>
            <a:ext cx="74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1/6</a:t>
            </a:r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3927691" y="2612833"/>
            <a:ext cx="74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1/6</a:t>
            </a:r>
            <a:endParaRPr lang="nl-NL" dirty="0"/>
          </a:p>
        </p:txBody>
      </p:sp>
      <p:sp>
        <p:nvSpPr>
          <p:cNvPr id="7" name="TextBox 6"/>
          <p:cNvSpPr txBox="1"/>
          <p:nvPr/>
        </p:nvSpPr>
        <p:spPr>
          <a:xfrm>
            <a:off x="4914062" y="2612833"/>
            <a:ext cx="74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1/6</a:t>
            </a:r>
            <a:endParaRPr lang="nl-NL" dirty="0"/>
          </a:p>
        </p:txBody>
      </p:sp>
      <p:sp>
        <p:nvSpPr>
          <p:cNvPr id="8" name="TextBox 7"/>
          <p:cNvSpPr txBox="1"/>
          <p:nvPr/>
        </p:nvSpPr>
        <p:spPr>
          <a:xfrm>
            <a:off x="5988482" y="2612833"/>
            <a:ext cx="74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1/6</a:t>
            </a:r>
            <a:endParaRPr lang="nl-NL" dirty="0"/>
          </a:p>
        </p:txBody>
      </p:sp>
      <p:sp>
        <p:nvSpPr>
          <p:cNvPr id="9" name="TextBox 8"/>
          <p:cNvSpPr txBox="1"/>
          <p:nvPr/>
        </p:nvSpPr>
        <p:spPr>
          <a:xfrm>
            <a:off x="6948602" y="2612833"/>
            <a:ext cx="74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1/6</a:t>
            </a:r>
            <a:endParaRPr lang="nl-NL" dirty="0"/>
          </a:p>
        </p:txBody>
      </p:sp>
      <p:sp>
        <p:nvSpPr>
          <p:cNvPr id="10" name="TextBox 9"/>
          <p:cNvSpPr txBox="1"/>
          <p:nvPr/>
        </p:nvSpPr>
        <p:spPr>
          <a:xfrm>
            <a:off x="7908722" y="2612833"/>
            <a:ext cx="74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1/6</a:t>
            </a:r>
            <a:endParaRPr lang="nl-NL" dirty="0"/>
          </a:p>
        </p:txBody>
      </p:sp>
      <p:sp>
        <p:nvSpPr>
          <p:cNvPr id="11" name="TextBox 10"/>
          <p:cNvSpPr txBox="1"/>
          <p:nvPr/>
        </p:nvSpPr>
        <p:spPr>
          <a:xfrm>
            <a:off x="9058728" y="2583509"/>
            <a:ext cx="214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[</a:t>
            </a:r>
            <a:r>
              <a:rPr lang="nl-NL" dirty="0" err="1" smtClean="0"/>
              <a:t>Added</a:t>
            </a:r>
            <a:r>
              <a:rPr lang="nl-NL" dirty="0" smtClean="0"/>
              <a:t> = 1]</a:t>
            </a:r>
            <a:endParaRPr lang="nl-NL" dirty="0"/>
          </a:p>
        </p:txBody>
      </p:sp>
      <p:sp>
        <p:nvSpPr>
          <p:cNvPr id="12" name="TextBox 11"/>
          <p:cNvSpPr txBox="1"/>
          <p:nvPr/>
        </p:nvSpPr>
        <p:spPr>
          <a:xfrm>
            <a:off x="2941320" y="315078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1*1/6</a:t>
            </a:r>
            <a:endParaRPr lang="nl-NL" dirty="0"/>
          </a:p>
        </p:txBody>
      </p:sp>
      <p:sp>
        <p:nvSpPr>
          <p:cNvPr id="13" name="TextBox 12"/>
          <p:cNvSpPr txBox="1"/>
          <p:nvPr/>
        </p:nvSpPr>
        <p:spPr>
          <a:xfrm>
            <a:off x="3927691" y="315078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2*1/6</a:t>
            </a:r>
            <a:endParaRPr lang="nl-NL" dirty="0"/>
          </a:p>
        </p:txBody>
      </p:sp>
      <p:sp>
        <p:nvSpPr>
          <p:cNvPr id="14" name="TextBox 13"/>
          <p:cNvSpPr txBox="1"/>
          <p:nvPr/>
        </p:nvSpPr>
        <p:spPr>
          <a:xfrm>
            <a:off x="4914062" y="315078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3*1/6</a:t>
            </a:r>
            <a:endParaRPr lang="nl-NL" dirty="0"/>
          </a:p>
        </p:txBody>
      </p:sp>
      <p:sp>
        <p:nvSpPr>
          <p:cNvPr id="15" name="TextBox 14"/>
          <p:cNvSpPr txBox="1"/>
          <p:nvPr/>
        </p:nvSpPr>
        <p:spPr>
          <a:xfrm>
            <a:off x="5988482" y="315078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4*1/6</a:t>
            </a:r>
            <a:endParaRPr lang="nl-NL" dirty="0"/>
          </a:p>
        </p:txBody>
      </p:sp>
      <p:sp>
        <p:nvSpPr>
          <p:cNvPr id="16" name="TextBox 15"/>
          <p:cNvSpPr txBox="1"/>
          <p:nvPr/>
        </p:nvSpPr>
        <p:spPr>
          <a:xfrm>
            <a:off x="6948602" y="315078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5*1/6</a:t>
            </a:r>
            <a:endParaRPr lang="nl-NL" dirty="0"/>
          </a:p>
        </p:txBody>
      </p:sp>
      <p:sp>
        <p:nvSpPr>
          <p:cNvPr id="17" name="TextBox 16"/>
          <p:cNvSpPr txBox="1"/>
          <p:nvPr/>
        </p:nvSpPr>
        <p:spPr>
          <a:xfrm>
            <a:off x="7908722" y="315078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6*1/6</a:t>
            </a:r>
            <a:endParaRPr lang="nl-NL" dirty="0"/>
          </a:p>
        </p:txBody>
      </p:sp>
      <p:sp>
        <p:nvSpPr>
          <p:cNvPr id="20" name="Cross 19"/>
          <p:cNvSpPr/>
          <p:nvPr/>
        </p:nvSpPr>
        <p:spPr>
          <a:xfrm>
            <a:off x="3712708" y="3240198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Cross 20"/>
          <p:cNvSpPr/>
          <p:nvPr/>
        </p:nvSpPr>
        <p:spPr>
          <a:xfrm>
            <a:off x="4658053" y="3240198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Cross 21"/>
          <p:cNvSpPr/>
          <p:nvPr/>
        </p:nvSpPr>
        <p:spPr>
          <a:xfrm>
            <a:off x="5737860" y="3240198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Cross 22"/>
          <p:cNvSpPr/>
          <p:nvPr/>
        </p:nvSpPr>
        <p:spPr>
          <a:xfrm>
            <a:off x="6791280" y="3240198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Cross 23"/>
          <p:cNvSpPr/>
          <p:nvPr/>
        </p:nvSpPr>
        <p:spPr>
          <a:xfrm>
            <a:off x="7752466" y="3240198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TextBox 24"/>
          <p:cNvSpPr txBox="1"/>
          <p:nvPr/>
        </p:nvSpPr>
        <p:spPr>
          <a:xfrm rot="19993764">
            <a:off x="717758" y="2215604"/>
            <a:ext cx="1351637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2000" dirty="0" smtClean="0"/>
              <a:t>Data </a:t>
            </a:r>
            <a:r>
              <a:rPr lang="nl-NL" sz="2000" dirty="0" err="1" smtClean="0"/>
              <a:t>generating</a:t>
            </a:r>
            <a:r>
              <a:rPr lang="nl-NL" sz="2000" dirty="0" smtClean="0"/>
              <a:t> </a:t>
            </a:r>
            <a:r>
              <a:rPr lang="nl-NL" sz="2000" dirty="0" err="1" smtClean="0"/>
              <a:t>process</a:t>
            </a:r>
            <a:endParaRPr lang="nl-NL" sz="2000" dirty="0"/>
          </a:p>
        </p:txBody>
      </p:sp>
      <p:cxnSp>
        <p:nvCxnSpPr>
          <p:cNvPr id="27" name="Elbow Connector 26"/>
          <p:cNvCxnSpPr>
            <a:stCxn id="25" idx="3"/>
            <a:endCxn id="2" idx="1"/>
          </p:cNvCxnSpPr>
          <p:nvPr/>
        </p:nvCxnSpPr>
        <p:spPr>
          <a:xfrm flipV="1">
            <a:off x="1996959" y="2111466"/>
            <a:ext cx="270898" cy="3075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24856" y="3150782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= 3.5</a:t>
            </a:r>
            <a:endParaRPr lang="nl-NL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/>
          <a:srcRect b="50964"/>
          <a:stretch/>
        </p:blipFill>
        <p:spPr>
          <a:xfrm>
            <a:off x="1983660" y="3905391"/>
            <a:ext cx="3828143" cy="112630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/>
          <a:srcRect l="12057" t="47378" r="1194" b="1327"/>
          <a:stretch/>
        </p:blipFill>
        <p:spPr>
          <a:xfrm>
            <a:off x="5453663" y="4047768"/>
            <a:ext cx="3320868" cy="117819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57123" y="5086521"/>
            <a:ext cx="50847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1/2</a:t>
            </a:r>
            <a:endParaRPr lang="nl-NL" dirty="0"/>
          </a:p>
        </p:txBody>
      </p:sp>
      <p:sp>
        <p:nvSpPr>
          <p:cNvPr id="41" name="TextBox 40"/>
          <p:cNvSpPr txBox="1"/>
          <p:nvPr/>
        </p:nvSpPr>
        <p:spPr>
          <a:xfrm>
            <a:off x="3643494" y="5086521"/>
            <a:ext cx="62549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1/10</a:t>
            </a:r>
            <a:endParaRPr lang="nl-NL" dirty="0"/>
          </a:p>
        </p:txBody>
      </p:sp>
      <p:sp>
        <p:nvSpPr>
          <p:cNvPr id="42" name="TextBox 41"/>
          <p:cNvSpPr txBox="1"/>
          <p:nvPr/>
        </p:nvSpPr>
        <p:spPr>
          <a:xfrm>
            <a:off x="4629865" y="5086521"/>
            <a:ext cx="62549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1/10</a:t>
            </a:r>
            <a:endParaRPr lang="nl-NL" dirty="0"/>
          </a:p>
        </p:txBody>
      </p:sp>
      <p:sp>
        <p:nvSpPr>
          <p:cNvPr id="44" name="TextBox 43"/>
          <p:cNvSpPr txBox="1"/>
          <p:nvPr/>
        </p:nvSpPr>
        <p:spPr>
          <a:xfrm>
            <a:off x="5704285" y="5086521"/>
            <a:ext cx="62549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1/10</a:t>
            </a:r>
            <a:endParaRPr lang="nl-NL" dirty="0"/>
          </a:p>
        </p:txBody>
      </p:sp>
      <p:sp>
        <p:nvSpPr>
          <p:cNvPr id="45" name="TextBox 44"/>
          <p:cNvSpPr txBox="1"/>
          <p:nvPr/>
        </p:nvSpPr>
        <p:spPr>
          <a:xfrm>
            <a:off x="6664405" y="5086521"/>
            <a:ext cx="62549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1/10</a:t>
            </a:r>
            <a:endParaRPr lang="nl-NL" dirty="0"/>
          </a:p>
        </p:txBody>
      </p:sp>
      <p:sp>
        <p:nvSpPr>
          <p:cNvPr id="46" name="TextBox 45"/>
          <p:cNvSpPr txBox="1"/>
          <p:nvPr/>
        </p:nvSpPr>
        <p:spPr>
          <a:xfrm>
            <a:off x="7624525" y="5086521"/>
            <a:ext cx="62549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1/10</a:t>
            </a:r>
            <a:endParaRPr lang="nl-NL" dirty="0"/>
          </a:p>
        </p:txBody>
      </p:sp>
      <p:sp>
        <p:nvSpPr>
          <p:cNvPr id="47" name="TextBox 46"/>
          <p:cNvSpPr txBox="1"/>
          <p:nvPr/>
        </p:nvSpPr>
        <p:spPr>
          <a:xfrm>
            <a:off x="8774531" y="5086521"/>
            <a:ext cx="214267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dirty="0" smtClean="0"/>
              <a:t>[</a:t>
            </a:r>
            <a:r>
              <a:rPr lang="nl-NL" dirty="0" err="1" smtClean="0"/>
              <a:t>Added</a:t>
            </a:r>
            <a:r>
              <a:rPr lang="nl-NL" dirty="0" smtClean="0"/>
              <a:t> = 1]</a:t>
            </a:r>
            <a:endParaRPr lang="nl-NL" dirty="0"/>
          </a:p>
        </p:txBody>
      </p:sp>
      <p:sp>
        <p:nvSpPr>
          <p:cNvPr id="48" name="TextBox 47"/>
          <p:cNvSpPr txBox="1"/>
          <p:nvPr/>
        </p:nvSpPr>
        <p:spPr>
          <a:xfrm>
            <a:off x="2657123" y="5426036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1*1/2</a:t>
            </a:r>
            <a:endParaRPr lang="nl-NL" dirty="0"/>
          </a:p>
        </p:txBody>
      </p:sp>
      <p:sp>
        <p:nvSpPr>
          <p:cNvPr id="49" name="TextBox 48"/>
          <p:cNvSpPr txBox="1"/>
          <p:nvPr/>
        </p:nvSpPr>
        <p:spPr>
          <a:xfrm>
            <a:off x="3578237" y="542603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2*1/10</a:t>
            </a:r>
            <a:endParaRPr lang="nl-NL" dirty="0"/>
          </a:p>
        </p:txBody>
      </p:sp>
      <p:sp>
        <p:nvSpPr>
          <p:cNvPr id="50" name="TextBox 49"/>
          <p:cNvSpPr txBox="1"/>
          <p:nvPr/>
        </p:nvSpPr>
        <p:spPr>
          <a:xfrm>
            <a:off x="4629865" y="542603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3*1/10</a:t>
            </a:r>
            <a:endParaRPr lang="nl-NL" dirty="0"/>
          </a:p>
        </p:txBody>
      </p:sp>
      <p:sp>
        <p:nvSpPr>
          <p:cNvPr id="51" name="TextBox 50"/>
          <p:cNvSpPr txBox="1"/>
          <p:nvPr/>
        </p:nvSpPr>
        <p:spPr>
          <a:xfrm>
            <a:off x="5704285" y="542603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4*1/10</a:t>
            </a:r>
            <a:endParaRPr lang="nl-NL" dirty="0"/>
          </a:p>
        </p:txBody>
      </p:sp>
      <p:sp>
        <p:nvSpPr>
          <p:cNvPr id="52" name="TextBox 51"/>
          <p:cNvSpPr txBox="1"/>
          <p:nvPr/>
        </p:nvSpPr>
        <p:spPr>
          <a:xfrm>
            <a:off x="6664405" y="542603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5*1/10</a:t>
            </a:r>
            <a:endParaRPr lang="nl-NL" dirty="0"/>
          </a:p>
        </p:txBody>
      </p:sp>
      <p:sp>
        <p:nvSpPr>
          <p:cNvPr id="53" name="TextBox 52"/>
          <p:cNvSpPr txBox="1"/>
          <p:nvPr/>
        </p:nvSpPr>
        <p:spPr>
          <a:xfrm>
            <a:off x="7624525" y="542603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6*1/10</a:t>
            </a:r>
            <a:endParaRPr lang="nl-NL" dirty="0"/>
          </a:p>
        </p:txBody>
      </p:sp>
      <p:sp>
        <p:nvSpPr>
          <p:cNvPr id="54" name="Cross 53"/>
          <p:cNvSpPr/>
          <p:nvPr/>
        </p:nvSpPr>
        <p:spPr>
          <a:xfrm>
            <a:off x="3428511" y="5515452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5" name="Cross 54"/>
          <p:cNvSpPr/>
          <p:nvPr/>
        </p:nvSpPr>
        <p:spPr>
          <a:xfrm>
            <a:off x="4373856" y="5515452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6" name="Cross 55"/>
          <p:cNvSpPr/>
          <p:nvPr/>
        </p:nvSpPr>
        <p:spPr>
          <a:xfrm>
            <a:off x="5453663" y="5515452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7" name="Cross 56"/>
          <p:cNvSpPr/>
          <p:nvPr/>
        </p:nvSpPr>
        <p:spPr>
          <a:xfrm>
            <a:off x="6507083" y="5515452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8" name="Cross 57"/>
          <p:cNvSpPr/>
          <p:nvPr/>
        </p:nvSpPr>
        <p:spPr>
          <a:xfrm>
            <a:off x="7468269" y="5515452"/>
            <a:ext cx="188732" cy="190500"/>
          </a:xfrm>
          <a:prstGeom prst="plus">
            <a:avLst>
              <a:gd name="adj" fmla="val 49225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9" name="TextBox 58"/>
          <p:cNvSpPr txBox="1"/>
          <p:nvPr/>
        </p:nvSpPr>
        <p:spPr>
          <a:xfrm rot="19993764">
            <a:off x="433561" y="4572684"/>
            <a:ext cx="1351637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2000" dirty="0" smtClean="0"/>
              <a:t>Data </a:t>
            </a:r>
            <a:r>
              <a:rPr lang="nl-NL" sz="2000" dirty="0" err="1" smtClean="0"/>
              <a:t>generating</a:t>
            </a:r>
            <a:r>
              <a:rPr lang="nl-NL" sz="2000" dirty="0" smtClean="0"/>
              <a:t> </a:t>
            </a:r>
            <a:r>
              <a:rPr lang="nl-NL" sz="2000" dirty="0" err="1" smtClean="0"/>
              <a:t>process</a:t>
            </a:r>
            <a:endParaRPr lang="nl-NL" sz="2000" dirty="0"/>
          </a:p>
        </p:txBody>
      </p:sp>
      <p:cxnSp>
        <p:nvCxnSpPr>
          <p:cNvPr id="60" name="Elbow Connector 59"/>
          <p:cNvCxnSpPr>
            <a:stCxn id="59" idx="3"/>
          </p:cNvCxnSpPr>
          <p:nvPr/>
        </p:nvCxnSpPr>
        <p:spPr>
          <a:xfrm flipV="1">
            <a:off x="1712762" y="4468545"/>
            <a:ext cx="568393" cy="3075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62" name="TextBox 61"/>
          <p:cNvSpPr txBox="1"/>
          <p:nvPr/>
        </p:nvSpPr>
        <p:spPr>
          <a:xfrm>
            <a:off x="8840659" y="542603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= 2.5</a:t>
            </a:r>
            <a:endParaRPr lang="nl-NL" dirty="0"/>
          </a:p>
        </p:txBody>
      </p:sp>
      <p:sp>
        <p:nvSpPr>
          <p:cNvPr id="63" name="Rectangle 62"/>
          <p:cNvSpPr/>
          <p:nvPr/>
        </p:nvSpPr>
        <p:spPr>
          <a:xfrm>
            <a:off x="2281155" y="1680449"/>
            <a:ext cx="8459170" cy="13726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4" name="Rectangle 63"/>
          <p:cNvSpPr/>
          <p:nvPr/>
        </p:nvSpPr>
        <p:spPr>
          <a:xfrm>
            <a:off x="2281155" y="4020918"/>
            <a:ext cx="8459170" cy="1405118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0" y="3714514"/>
            <a:ext cx="1219200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97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43" grpId="0"/>
      <p:bldP spid="37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2" grpId="0"/>
      <p:bldP spid="63" grpId="0" animBg="1"/>
      <p:bldP spid="6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Data </a:t>
            </a:r>
            <a:r>
              <a:rPr lang="nl-NL" dirty="0" err="1" smtClean="0"/>
              <a:t>collection</a:t>
            </a:r>
            <a:r>
              <a:rPr lang="nl-NL" dirty="0"/>
              <a:t> </a:t>
            </a:r>
            <a:r>
              <a:rPr lang="nl-NL" dirty="0" err="1" smtClean="0"/>
              <a:t>choices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</a:t>
            </a:r>
            <a:r>
              <a:rPr lang="nl-NL" dirty="0" err="1" smtClean="0"/>
              <a:t>measurements</a:t>
            </a:r>
            <a:r>
              <a:rPr lang="nl-NL" dirty="0" smtClean="0"/>
              <a:t>: research design</a:t>
            </a:r>
            <a:endParaRPr lang="nl-NL" dirty="0"/>
          </a:p>
        </p:txBody>
      </p:sp>
      <p:pic>
        <p:nvPicPr>
          <p:cNvPr id="1026" name="Picture 2" descr="Group Of People Icon Vector Art, Icons, and Graphics for Free Download"/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326" y="3141131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Group Of People Icon Vector Art, Icons, and Graphics for Free Download"/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677" y="288354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roup Of People Icon Vector Art, Icons, and Graphics for Free Download"/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699" y="386113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roup Of People Icon Vector Art, Icons, and Graphics for Free Download"/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836" y="342354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Group Of People Icon Vector Art, Icons, and Graphics for Free Download"/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750" y="2509158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344832" y="3735354"/>
            <a:ext cx="110002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2000" dirty="0" smtClean="0"/>
              <a:t>H</a:t>
            </a:r>
            <a:r>
              <a:rPr lang="nl-NL" sz="2000" baseline="-25000" dirty="0" smtClean="0"/>
              <a:t>0</a:t>
            </a:r>
            <a:r>
              <a:rPr lang="nl-NL" sz="2000" dirty="0" smtClean="0"/>
              <a:t>  or H</a:t>
            </a:r>
            <a:r>
              <a:rPr lang="nl-NL" sz="2000" baseline="-25000" dirty="0" smtClean="0"/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96149" y="3767641"/>
            <a:ext cx="922778" cy="36438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ight Arrow 11"/>
          <p:cNvSpPr/>
          <p:nvPr/>
        </p:nvSpPr>
        <p:spPr>
          <a:xfrm>
            <a:off x="9210166" y="3781353"/>
            <a:ext cx="922778" cy="36438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/>
          <p:cNvSpPr txBox="1"/>
          <p:nvPr/>
        </p:nvSpPr>
        <p:spPr>
          <a:xfrm>
            <a:off x="8741856" y="2320560"/>
            <a:ext cx="192661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err="1" smtClean="0">
                <a:solidFill>
                  <a:schemeClr val="accent1"/>
                </a:solidFill>
              </a:rPr>
              <a:t>Statistics</a:t>
            </a:r>
            <a:r>
              <a:rPr lang="nl-NL" dirty="0" smtClean="0">
                <a:solidFill>
                  <a:schemeClr val="accent1"/>
                </a:solidFill>
              </a:rPr>
              <a:t>:</a:t>
            </a:r>
          </a:p>
          <a:p>
            <a:r>
              <a:rPr lang="nl-NL" dirty="0" smtClean="0">
                <a:solidFill>
                  <a:schemeClr val="accent1"/>
                </a:solidFill>
              </a:rPr>
              <a:t>Type I </a:t>
            </a:r>
            <a:r>
              <a:rPr lang="nl-NL" dirty="0" err="1" smtClean="0">
                <a:solidFill>
                  <a:schemeClr val="accent1"/>
                </a:solidFill>
              </a:rPr>
              <a:t>and</a:t>
            </a:r>
            <a:r>
              <a:rPr lang="nl-NL" dirty="0" smtClean="0">
                <a:solidFill>
                  <a:schemeClr val="accent1"/>
                </a:solidFill>
              </a:rPr>
              <a:t> II </a:t>
            </a:r>
            <a:r>
              <a:rPr lang="nl-NL" dirty="0" err="1" smtClean="0">
                <a:solidFill>
                  <a:schemeClr val="accent1"/>
                </a:solidFill>
              </a:rPr>
              <a:t>errors</a:t>
            </a:r>
            <a:endParaRPr lang="nl-NL" dirty="0">
              <a:solidFill>
                <a:schemeClr val="accent1"/>
              </a:solidFill>
            </a:endParaRPr>
          </a:p>
        </p:txBody>
      </p:sp>
      <p:cxnSp>
        <p:nvCxnSpPr>
          <p:cNvPr id="14" name="Elbow Connector 13"/>
          <p:cNvCxnSpPr/>
          <p:nvPr/>
        </p:nvCxnSpPr>
        <p:spPr>
          <a:xfrm rot="16200000" flipH="1">
            <a:off x="9066987" y="3229145"/>
            <a:ext cx="918261" cy="3937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Dice Icon Vector Art, Icons, and Graphics for Free Download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66" y="3310025"/>
            <a:ext cx="2136957" cy="12796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  <p:sp>
        <p:nvSpPr>
          <p:cNvPr id="17" name="Right Arrow 16"/>
          <p:cNvSpPr/>
          <p:nvPr/>
        </p:nvSpPr>
        <p:spPr>
          <a:xfrm>
            <a:off x="2452291" y="3796336"/>
            <a:ext cx="922778" cy="36438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/>
          <p:cNvSpPr txBox="1"/>
          <p:nvPr/>
        </p:nvSpPr>
        <p:spPr>
          <a:xfrm>
            <a:off x="967658" y="2182060"/>
            <a:ext cx="1227772" cy="9233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i="1" dirty="0" smtClean="0">
                <a:solidFill>
                  <a:schemeClr val="accent4"/>
                </a:solidFill>
              </a:rPr>
              <a:t>Data</a:t>
            </a:r>
          </a:p>
          <a:p>
            <a:r>
              <a:rPr lang="nl-NL" i="1" dirty="0" smtClean="0">
                <a:solidFill>
                  <a:schemeClr val="accent4"/>
                </a:solidFill>
              </a:rPr>
              <a:t>Generating</a:t>
            </a:r>
          </a:p>
          <a:p>
            <a:r>
              <a:rPr lang="nl-NL" i="1" dirty="0" err="1" smtClean="0">
                <a:solidFill>
                  <a:schemeClr val="accent4"/>
                </a:solidFill>
              </a:rPr>
              <a:t>Process</a:t>
            </a:r>
            <a:endParaRPr lang="nl-NL" i="1" dirty="0">
              <a:solidFill>
                <a:schemeClr val="accent4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3527863" y="2182060"/>
            <a:ext cx="0" cy="39987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44593" y="5022854"/>
            <a:ext cx="2525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chemeClr val="accent3"/>
                </a:solidFill>
              </a:rPr>
              <a:t>General </a:t>
            </a:r>
            <a:r>
              <a:rPr lang="nl-NL" dirty="0" err="1" smtClean="0">
                <a:solidFill>
                  <a:schemeClr val="accent3"/>
                </a:solidFill>
              </a:rPr>
              <a:t>population</a:t>
            </a:r>
            <a:r>
              <a:rPr lang="nl-NL" dirty="0" smtClean="0">
                <a:solidFill>
                  <a:schemeClr val="accent3"/>
                </a:solidFill>
              </a:rPr>
              <a:t>:</a:t>
            </a:r>
          </a:p>
          <a:p>
            <a:r>
              <a:rPr lang="nl-NL" dirty="0" err="1" smtClean="0">
                <a:solidFill>
                  <a:schemeClr val="accent3"/>
                </a:solidFill>
              </a:rPr>
              <a:t>all</a:t>
            </a:r>
            <a:r>
              <a:rPr lang="nl-NL" dirty="0" smtClean="0">
                <a:solidFill>
                  <a:schemeClr val="accent3"/>
                </a:solidFill>
              </a:rPr>
              <a:t> </a:t>
            </a:r>
            <a:r>
              <a:rPr lang="nl-NL" dirty="0" err="1" smtClean="0">
                <a:solidFill>
                  <a:schemeClr val="accent3"/>
                </a:solidFill>
              </a:rPr>
              <a:t>observations</a:t>
            </a:r>
            <a:r>
              <a:rPr lang="nl-NL" dirty="0" smtClean="0">
                <a:solidFill>
                  <a:schemeClr val="accent3"/>
                </a:solidFill>
              </a:rPr>
              <a:t> </a:t>
            </a:r>
            <a:r>
              <a:rPr lang="nl-NL" dirty="0" err="1" smtClean="0">
                <a:solidFill>
                  <a:schemeClr val="accent3"/>
                </a:solidFill>
              </a:rPr>
              <a:t>possible</a:t>
            </a:r>
            <a:endParaRPr lang="nl-NL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6483" y="5161353"/>
            <a:ext cx="2359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 smtClean="0">
                <a:solidFill>
                  <a:schemeClr val="accent3"/>
                </a:solidFill>
              </a:rPr>
              <a:t>Your</a:t>
            </a:r>
            <a:r>
              <a:rPr lang="nl-NL" dirty="0" smtClean="0">
                <a:solidFill>
                  <a:schemeClr val="accent3"/>
                </a:solidFill>
              </a:rPr>
              <a:t> data/</a:t>
            </a:r>
            <a:r>
              <a:rPr lang="nl-NL" dirty="0" err="1" smtClean="0">
                <a:solidFill>
                  <a:schemeClr val="accent3"/>
                </a:solidFill>
              </a:rPr>
              <a:t>observations</a:t>
            </a:r>
            <a:endParaRPr lang="nl-NL" dirty="0">
              <a:solidFill>
                <a:schemeClr val="accent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84540" y="1498521"/>
            <a:ext cx="2296503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dirty="0" err="1" smtClean="0">
                <a:solidFill>
                  <a:schemeClr val="accent1"/>
                </a:solidFill>
              </a:rPr>
              <a:t>Choices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smtClean="0">
                <a:solidFill>
                  <a:schemeClr val="accent1"/>
                </a:solidFill>
              </a:rPr>
              <a:t>on data </a:t>
            </a:r>
            <a:r>
              <a:rPr lang="nl-NL" dirty="0" err="1" smtClean="0">
                <a:solidFill>
                  <a:schemeClr val="accent1"/>
                </a:solidFill>
              </a:rPr>
              <a:t>collection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 smtClean="0">
                <a:solidFill>
                  <a:schemeClr val="accent1"/>
                </a:solidFill>
              </a:rPr>
              <a:t>and</a:t>
            </a:r>
            <a:r>
              <a:rPr lang="nl-NL" dirty="0" smtClean="0">
                <a:solidFill>
                  <a:schemeClr val="accent1"/>
                </a:solidFill>
              </a:rPr>
              <a:t> </a:t>
            </a:r>
            <a:r>
              <a:rPr lang="nl-NL" dirty="0" err="1" smtClean="0">
                <a:solidFill>
                  <a:schemeClr val="accent1"/>
                </a:solidFill>
              </a:rPr>
              <a:t>measurement</a:t>
            </a:r>
            <a:r>
              <a:rPr lang="nl-NL" dirty="0" smtClean="0">
                <a:solidFill>
                  <a:schemeClr val="accent1"/>
                </a:solidFill>
              </a:rPr>
              <a:t>:</a:t>
            </a:r>
          </a:p>
          <a:p>
            <a:r>
              <a:rPr lang="nl-NL" dirty="0" smtClean="0">
                <a:solidFill>
                  <a:schemeClr val="accent1"/>
                </a:solidFill>
              </a:rPr>
              <a:t>sampling, </a:t>
            </a:r>
            <a:r>
              <a:rPr lang="nl-NL" dirty="0" err="1" smtClean="0">
                <a:solidFill>
                  <a:schemeClr val="accent1"/>
                </a:solidFill>
              </a:rPr>
              <a:t>validity</a:t>
            </a:r>
            <a:r>
              <a:rPr lang="nl-NL" dirty="0" smtClean="0">
                <a:solidFill>
                  <a:schemeClr val="accent1"/>
                </a:solidFill>
              </a:rPr>
              <a:t> </a:t>
            </a:r>
            <a:r>
              <a:rPr lang="nl-NL" dirty="0" err="1" smtClean="0">
                <a:solidFill>
                  <a:schemeClr val="accent1"/>
                </a:solidFill>
              </a:rPr>
              <a:t>and</a:t>
            </a:r>
            <a:r>
              <a:rPr lang="nl-NL" dirty="0" smtClean="0">
                <a:solidFill>
                  <a:schemeClr val="accent1"/>
                </a:solidFill>
              </a:rPr>
              <a:t> </a:t>
            </a:r>
            <a:r>
              <a:rPr lang="nl-NL" dirty="0" err="1" smtClean="0">
                <a:solidFill>
                  <a:schemeClr val="accent1"/>
                </a:solidFill>
              </a:rPr>
              <a:t>reliability</a:t>
            </a:r>
            <a:endParaRPr lang="nl-NL" dirty="0">
              <a:solidFill>
                <a:schemeClr val="accent1"/>
              </a:solidFill>
            </a:endParaRPr>
          </a:p>
        </p:txBody>
      </p:sp>
      <p:cxnSp>
        <p:nvCxnSpPr>
          <p:cNvPr id="25" name="Elbow Connector 24"/>
          <p:cNvCxnSpPr/>
          <p:nvPr/>
        </p:nvCxnSpPr>
        <p:spPr>
          <a:xfrm rot="16200000" flipH="1">
            <a:off x="5971614" y="3229145"/>
            <a:ext cx="918261" cy="3937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24" idx="3"/>
            <a:endCxn id="11" idx="1"/>
          </p:cNvCxnSpPr>
          <p:nvPr/>
        </p:nvCxnSpPr>
        <p:spPr>
          <a:xfrm>
            <a:off x="8081043" y="2237185"/>
            <a:ext cx="660813" cy="4065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Measurement Icons - Free SVG &amp; PNG Measurement Images - Noun ..."/>
          <p:cNvPicPr>
            <a:picLocks noChangeAspect="1" noChangeArrowheads="1"/>
          </p:cNvPicPr>
          <p:nvPr/>
        </p:nvPicPr>
        <p:blipFill>
          <a:blip r:embed="rId6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696" y="4021880"/>
            <a:ext cx="963330" cy="96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Measurement Icons - Free SVG &amp; PNG Measurement Images - Noun ..."/>
          <p:cNvPicPr>
            <a:picLocks noChangeAspect="1" noChangeArrowheads="1"/>
          </p:cNvPicPr>
          <p:nvPr/>
        </p:nvPicPr>
        <p:blipFill>
          <a:blip r:embed="rId6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325" y="4021880"/>
            <a:ext cx="963330" cy="96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5136740" y="4021880"/>
            <a:ext cx="963330" cy="9633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ectangle 27"/>
          <p:cNvSpPr/>
          <p:nvPr/>
        </p:nvSpPr>
        <p:spPr>
          <a:xfrm>
            <a:off x="8206325" y="4021880"/>
            <a:ext cx="963330" cy="9633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607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0" grpId="0" animBg="1"/>
      <p:bldP spid="12" grpId="0" animBg="1"/>
      <p:bldP spid="11" grpId="0" animBg="1"/>
      <p:bldP spid="17" grpId="0" animBg="1"/>
      <p:bldP spid="15" grpId="0" animBg="1"/>
      <p:bldP spid="19" grpId="0"/>
      <p:bldP spid="22" grpId="0"/>
      <p:bldP spid="24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Recap</a:t>
            </a:r>
            <a:r>
              <a:rPr lang="nl-NL" dirty="0" smtClean="0"/>
              <a:t>: </a:t>
            </a:r>
            <a:r>
              <a:rPr lang="nl-NL" dirty="0" err="1" smtClean="0"/>
              <a:t>Validity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</a:t>
            </a:r>
            <a:r>
              <a:rPr lang="nl-NL" dirty="0" err="1" smtClean="0"/>
              <a:t>Reliability</a:t>
            </a:r>
            <a:endParaRPr lang="nl-NL" dirty="0"/>
          </a:p>
        </p:txBody>
      </p:sp>
      <p:pic>
        <p:nvPicPr>
          <p:cNvPr id="2054" name="Picture 6" descr="File:Reliability and validity.svg"/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1789906"/>
            <a:ext cx="4467225" cy="478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0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Remember</a:t>
            </a:r>
            <a:r>
              <a:rPr lang="nl-NL" dirty="0" smtClean="0"/>
              <a:t> </a:t>
            </a:r>
            <a:r>
              <a:rPr lang="nl-NL" dirty="0" err="1" smtClean="0"/>
              <a:t>when</a:t>
            </a:r>
            <a:r>
              <a:rPr lang="nl-NL" dirty="0" smtClean="0"/>
              <a:t> </a:t>
            </a:r>
            <a:r>
              <a:rPr lang="nl-NL" dirty="0" err="1" smtClean="0"/>
              <a:t>you</a:t>
            </a:r>
            <a:r>
              <a:rPr lang="nl-NL" dirty="0" smtClean="0"/>
              <a:t> </a:t>
            </a:r>
            <a:r>
              <a:rPr lang="nl-NL" dirty="0" err="1" smtClean="0"/>
              <a:t>were</a:t>
            </a:r>
            <a:r>
              <a:rPr lang="nl-NL" dirty="0" smtClean="0"/>
              <a:t> 2 </a:t>
            </a:r>
            <a:r>
              <a:rPr lang="nl-NL" dirty="0" err="1" smtClean="0"/>
              <a:t>years</a:t>
            </a:r>
            <a:r>
              <a:rPr lang="nl-NL" dirty="0" smtClean="0"/>
              <a:t> </a:t>
            </a:r>
            <a:r>
              <a:rPr lang="nl-NL" dirty="0" err="1" smtClean="0"/>
              <a:t>old</a:t>
            </a:r>
            <a:r>
              <a:rPr lang="nl-NL" dirty="0" smtClean="0"/>
              <a:t>?</a:t>
            </a:r>
            <a:endParaRPr lang="nl-NL" dirty="0"/>
          </a:p>
        </p:txBody>
      </p:sp>
      <p:pic>
        <p:nvPicPr>
          <p:cNvPr id="2050" name="Picture 2" descr="Outdoor Play Made Easy: How to get out there with your kids (and why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690688"/>
            <a:ext cx="7200900" cy="479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46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 smtClean="0"/>
              <a:t>You</a:t>
            </a:r>
            <a:r>
              <a:rPr lang="nl-NL" dirty="0" smtClean="0"/>
              <a:t> </a:t>
            </a:r>
            <a:r>
              <a:rPr lang="nl-NL" dirty="0" err="1" smtClean="0"/>
              <a:t>already</a:t>
            </a:r>
            <a:r>
              <a:rPr lang="nl-NL" dirty="0" smtClean="0"/>
              <a:t> </a:t>
            </a:r>
            <a:r>
              <a:rPr lang="nl-NL" dirty="0" err="1" smtClean="0"/>
              <a:t>did</a:t>
            </a:r>
            <a:r>
              <a:rPr lang="nl-NL" dirty="0" smtClean="0"/>
              <a:t> </a:t>
            </a:r>
            <a:r>
              <a:rPr lang="nl-NL" dirty="0" err="1" smtClean="0"/>
              <a:t>some</a:t>
            </a:r>
            <a:r>
              <a:rPr lang="nl-NL" dirty="0" smtClean="0"/>
              <a:t> research </a:t>
            </a:r>
            <a:r>
              <a:rPr lang="nl-NL" dirty="0" err="1" smtClean="0"/>
              <a:t>yourself</a:t>
            </a:r>
            <a:r>
              <a:rPr lang="nl-NL" dirty="0" smtClean="0"/>
              <a:t>!</a:t>
            </a:r>
            <a:endParaRPr lang="nl-NL" dirty="0"/>
          </a:p>
        </p:txBody>
      </p:sp>
      <p:pic>
        <p:nvPicPr>
          <p:cNvPr id="3074" name="Picture 2" descr="How to Discipline a 2-Year-Old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97556"/>
            <a:ext cx="4234066" cy="237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50 American Candy Favorites | 2foodtrippers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97556"/>
            <a:ext cx="4524715" cy="237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5054600" y="2731294"/>
            <a:ext cx="1041400" cy="50800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/>
          <p:cNvSpPr txBox="1"/>
          <p:nvPr/>
        </p:nvSpPr>
        <p:spPr>
          <a:xfrm>
            <a:off x="726353" y="4584701"/>
            <a:ext cx="82652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Formulate a (management) problem to research</a:t>
            </a:r>
            <a:endParaRPr lang="nl-NL" dirty="0"/>
          </a:p>
          <a:p>
            <a:r>
              <a:rPr lang="en-US" dirty="0"/>
              <a:t>Describe what you want to investigate (research question)</a:t>
            </a:r>
            <a:endParaRPr lang="nl-NL" dirty="0"/>
          </a:p>
          <a:p>
            <a:r>
              <a:rPr lang="en-US" dirty="0"/>
              <a:t>Indicate what methodology you will use</a:t>
            </a:r>
            <a:endParaRPr lang="nl-NL" dirty="0"/>
          </a:p>
          <a:p>
            <a:r>
              <a:rPr lang="en-US" dirty="0"/>
              <a:t>Describe what you will do to collect data</a:t>
            </a:r>
            <a:endParaRPr lang="nl-NL" dirty="0"/>
          </a:p>
          <a:p>
            <a:r>
              <a:rPr lang="en-US" dirty="0"/>
              <a:t>What result do you expect? </a:t>
            </a:r>
            <a:endParaRPr lang="nl-NL" dirty="0"/>
          </a:p>
          <a:p>
            <a:r>
              <a:rPr lang="en-US" dirty="0"/>
              <a:t>Formulate a Null and an alternative hypothesis H0 and Ha</a:t>
            </a:r>
            <a:endParaRPr lang="nl-NL" dirty="0"/>
          </a:p>
          <a:p>
            <a:pPr marL="342900" indent="-342900"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489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 smtClean="0"/>
              <a:t>Describe</a:t>
            </a:r>
            <a:r>
              <a:rPr lang="nl-NL" dirty="0" smtClean="0"/>
              <a:t> </a:t>
            </a:r>
            <a:r>
              <a:rPr lang="nl-NL" dirty="0" err="1" smtClean="0"/>
              <a:t>what</a:t>
            </a:r>
            <a:r>
              <a:rPr lang="nl-NL" dirty="0" smtClean="0"/>
              <a:t> </a:t>
            </a:r>
            <a:r>
              <a:rPr lang="nl-NL" dirty="0" err="1" smtClean="0"/>
              <a:t>could</a:t>
            </a:r>
            <a:r>
              <a:rPr lang="nl-NL" dirty="0" smtClean="0"/>
              <a:t> impact </a:t>
            </a:r>
            <a:r>
              <a:rPr lang="nl-NL" dirty="0" err="1" smtClean="0"/>
              <a:t>the</a:t>
            </a:r>
            <a:r>
              <a:rPr lang="nl-NL" dirty="0" smtClean="0"/>
              <a:t> </a:t>
            </a:r>
            <a:r>
              <a:rPr lang="nl-NL" dirty="0" err="1" smtClean="0"/>
              <a:t>validity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</a:t>
            </a:r>
            <a:r>
              <a:rPr lang="nl-NL" dirty="0" err="1" smtClean="0"/>
              <a:t>reliability</a:t>
            </a:r>
            <a:r>
              <a:rPr lang="nl-NL" dirty="0" smtClean="0"/>
              <a:t> of </a:t>
            </a:r>
            <a:r>
              <a:rPr lang="nl-NL" dirty="0" err="1" smtClean="0"/>
              <a:t>your</a:t>
            </a:r>
            <a:r>
              <a:rPr lang="nl-NL" dirty="0" smtClean="0"/>
              <a:t> research design</a:t>
            </a:r>
            <a:endParaRPr lang="nl-NL" dirty="0"/>
          </a:p>
        </p:txBody>
      </p:sp>
      <p:pic>
        <p:nvPicPr>
          <p:cNvPr id="3074" name="Picture 2" descr="How to Discipline a 2-Year-Old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7656"/>
            <a:ext cx="4234066" cy="237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50 American Candy Favorites | 2foodtrippers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97656"/>
            <a:ext cx="4524715" cy="237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5054600" y="3531394"/>
            <a:ext cx="1041400" cy="50800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075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D566C35-1D1A-43E1-9312-3471326C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Recap</a:t>
            </a:r>
            <a:r>
              <a:rPr lang="nl-NL" dirty="0" smtClean="0"/>
              <a:t> Sampling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9B0DC07-8B4E-4F0E-8A00-FE638139B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sampling </a:t>
            </a:r>
            <a:r>
              <a:rPr lang="nl-NL" dirty="0" err="1"/>
              <a:t>methods</a:t>
            </a:r>
            <a:r>
              <a:rPr lang="nl-NL" dirty="0"/>
              <a:t> have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studied</a:t>
            </a:r>
            <a:r>
              <a:rPr lang="nl-NL" dirty="0"/>
              <a:t>?</a:t>
            </a:r>
          </a:p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probability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non-</a:t>
            </a:r>
            <a:r>
              <a:rPr lang="nl-NL" dirty="0" err="1"/>
              <a:t>probability</a:t>
            </a:r>
            <a:r>
              <a:rPr lang="nl-NL" dirty="0"/>
              <a:t> sampling?</a:t>
            </a:r>
          </a:p>
        </p:txBody>
      </p:sp>
    </p:spTree>
    <p:extLst>
      <p:ext uri="{BB962C8B-B14F-4D97-AF65-F5344CB8AC3E}">
        <p14:creationId xmlns:p14="http://schemas.microsoft.com/office/powerpoint/2010/main" val="405645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261B50-C58B-4DA5-A2CA-DC596BD4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belongs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 err="1"/>
              <a:t>Probability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non-</a:t>
            </a:r>
            <a:r>
              <a:rPr lang="nl-NL" dirty="0" err="1"/>
              <a:t>probability</a:t>
            </a:r>
            <a:r>
              <a:rPr lang="nl-NL" dirty="0"/>
              <a:t> </a:t>
            </a:r>
            <a:r>
              <a:rPr lang="nl-NL" dirty="0" err="1"/>
              <a:t>methods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D43AA01-4265-4A78-BE9E-D460B3B383FF}"/>
              </a:ext>
            </a:extLst>
          </p:cNvPr>
          <p:cNvSpPr/>
          <p:nvPr/>
        </p:nvSpPr>
        <p:spPr>
          <a:xfrm>
            <a:off x="2021774" y="2581008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Snowball</a:t>
            </a:r>
            <a:r>
              <a:rPr lang="nl-NL" dirty="0"/>
              <a:t> Sampling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9ADB777-E2A7-4D92-A891-BB0EE4D46ADD}"/>
              </a:ext>
            </a:extLst>
          </p:cNvPr>
          <p:cNvSpPr/>
          <p:nvPr/>
        </p:nvSpPr>
        <p:spPr>
          <a:xfrm>
            <a:off x="6675112" y="2239385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Simple Random Sampling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82D42F11-57AF-405D-9EB3-390FDFCF0CD9}"/>
              </a:ext>
            </a:extLst>
          </p:cNvPr>
          <p:cNvSpPr/>
          <p:nvPr/>
        </p:nvSpPr>
        <p:spPr>
          <a:xfrm>
            <a:off x="4759866" y="3919403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Convenience sampling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2AB51F44-135B-4D23-8DE7-B438B2C24FDA}"/>
              </a:ext>
            </a:extLst>
          </p:cNvPr>
          <p:cNvSpPr/>
          <p:nvPr/>
        </p:nvSpPr>
        <p:spPr>
          <a:xfrm>
            <a:off x="3704947" y="4690223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Stratified</a:t>
            </a:r>
            <a:r>
              <a:rPr lang="nl-NL" dirty="0"/>
              <a:t> Sampling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BD91A714-3729-4077-B235-A52CB5416BB5}"/>
              </a:ext>
            </a:extLst>
          </p:cNvPr>
          <p:cNvSpPr/>
          <p:nvPr/>
        </p:nvSpPr>
        <p:spPr>
          <a:xfrm>
            <a:off x="7132709" y="3464120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Systemic</a:t>
            </a:r>
            <a:r>
              <a:rPr lang="nl-NL" dirty="0"/>
              <a:t> Sampling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DE0229FB-43F2-4AB2-BA8C-255295A0491B}"/>
              </a:ext>
            </a:extLst>
          </p:cNvPr>
          <p:cNvSpPr/>
          <p:nvPr/>
        </p:nvSpPr>
        <p:spPr>
          <a:xfrm>
            <a:off x="3929358" y="2063693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Clustered</a:t>
            </a:r>
            <a:r>
              <a:rPr lang="nl-NL" dirty="0"/>
              <a:t> Sampling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207C67B0-6BB3-4E82-BFD6-55D5146DF76A}"/>
              </a:ext>
            </a:extLst>
          </p:cNvPr>
          <p:cNvSpPr/>
          <p:nvPr/>
        </p:nvSpPr>
        <p:spPr>
          <a:xfrm>
            <a:off x="5035718" y="2780235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Self-Selection</a:t>
            </a:r>
            <a:r>
              <a:rPr lang="nl-NL" dirty="0"/>
              <a:t> Sampling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AC3C41A1-8C68-493E-8260-96FC62DF367F}"/>
              </a:ext>
            </a:extLst>
          </p:cNvPr>
          <p:cNvSpPr/>
          <p:nvPr/>
        </p:nvSpPr>
        <p:spPr>
          <a:xfrm>
            <a:off x="2387023" y="3575866"/>
            <a:ext cx="2477564" cy="79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Quota Sampling</a:t>
            </a:r>
          </a:p>
        </p:txBody>
      </p:sp>
      <p:pic>
        <p:nvPicPr>
          <p:cNvPr id="15" name="Graphic 14" descr="Dobbelsteen met effen opvulling">
            <a:extLst>
              <a:ext uri="{FF2B5EF4-FFF2-40B4-BE49-F238E27FC236}">
                <a16:creationId xmlns:a16="http://schemas.microsoft.com/office/drawing/2014/main" id="{D5A43E0A-B601-4F1F-84F3-FC2A7687B2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25792" y="3423254"/>
            <a:ext cx="1975665" cy="1975665"/>
          </a:xfrm>
          <a:prstGeom prst="rect">
            <a:avLst/>
          </a:prstGeom>
        </p:spPr>
      </p:pic>
      <p:pic>
        <p:nvPicPr>
          <p:cNvPr id="16" name="Graphic 15" descr="Dobbelsteen met effen opvulling">
            <a:extLst>
              <a:ext uri="{FF2B5EF4-FFF2-40B4-BE49-F238E27FC236}">
                <a16:creationId xmlns:a16="http://schemas.microsoft.com/office/drawing/2014/main" id="{254A0E3F-E85D-48AC-87C9-45A5FD99FC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79702" y="3423254"/>
            <a:ext cx="1975665" cy="1975665"/>
          </a:xfrm>
          <a:prstGeom prst="rect">
            <a:avLst/>
          </a:prstGeom>
        </p:spPr>
      </p:pic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10A43221-ABA3-4F4E-9FFE-BDDA08A9957D}"/>
              </a:ext>
            </a:extLst>
          </p:cNvPr>
          <p:cNvCxnSpPr>
            <a:cxnSpLocks/>
          </p:cNvCxnSpPr>
          <p:nvPr/>
        </p:nvCxnSpPr>
        <p:spPr>
          <a:xfrm flipV="1">
            <a:off x="9656233" y="3423254"/>
            <a:ext cx="2199134" cy="177527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91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261B50-C58B-4DA5-A2CA-DC596BD4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belongs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?</a:t>
            </a:r>
            <a:br>
              <a:rPr lang="nl-NL" dirty="0"/>
            </a:br>
            <a:r>
              <a:rPr lang="nl-NL" dirty="0" err="1"/>
              <a:t>Probability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non-</a:t>
            </a:r>
            <a:r>
              <a:rPr lang="nl-NL" dirty="0" err="1"/>
              <a:t>probability</a:t>
            </a:r>
            <a:r>
              <a:rPr lang="nl-NL" dirty="0"/>
              <a:t> </a:t>
            </a:r>
            <a:r>
              <a:rPr lang="nl-NL" dirty="0" err="1"/>
              <a:t>methods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D43AA01-4265-4A78-BE9E-D460B3B383FF}"/>
              </a:ext>
            </a:extLst>
          </p:cNvPr>
          <p:cNvSpPr/>
          <p:nvPr/>
        </p:nvSpPr>
        <p:spPr>
          <a:xfrm>
            <a:off x="2021774" y="2581008"/>
            <a:ext cx="2477564" cy="795631"/>
          </a:xfrm>
          <a:prstGeom prst="rect">
            <a:avLst/>
          </a:prstGeom>
          <a:solidFill>
            <a:srgbClr val="E0696A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Snowball</a:t>
            </a:r>
            <a:r>
              <a:rPr lang="nl-NL" dirty="0"/>
              <a:t> Sampling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9ADB777-E2A7-4D92-A891-BB0EE4D46ADD}"/>
              </a:ext>
            </a:extLst>
          </p:cNvPr>
          <p:cNvSpPr/>
          <p:nvPr/>
        </p:nvSpPr>
        <p:spPr>
          <a:xfrm>
            <a:off x="6675112" y="2239385"/>
            <a:ext cx="2477564" cy="795631"/>
          </a:xfrm>
          <a:prstGeom prst="rect">
            <a:avLst/>
          </a:prstGeom>
          <a:solidFill>
            <a:srgbClr val="59908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Simple Random Sampling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82D42F11-57AF-405D-9EB3-390FDFCF0CD9}"/>
              </a:ext>
            </a:extLst>
          </p:cNvPr>
          <p:cNvSpPr/>
          <p:nvPr/>
        </p:nvSpPr>
        <p:spPr>
          <a:xfrm>
            <a:off x="4759866" y="3919403"/>
            <a:ext cx="2477564" cy="795631"/>
          </a:xfrm>
          <a:prstGeom prst="rect">
            <a:avLst/>
          </a:prstGeom>
          <a:solidFill>
            <a:srgbClr val="E0696A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Convenience sampling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2AB51F44-135B-4D23-8DE7-B438B2C24FDA}"/>
              </a:ext>
            </a:extLst>
          </p:cNvPr>
          <p:cNvSpPr/>
          <p:nvPr/>
        </p:nvSpPr>
        <p:spPr>
          <a:xfrm>
            <a:off x="3704947" y="4690223"/>
            <a:ext cx="2477564" cy="795631"/>
          </a:xfrm>
          <a:prstGeom prst="rect">
            <a:avLst/>
          </a:prstGeom>
          <a:solidFill>
            <a:srgbClr val="59908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Stratified</a:t>
            </a:r>
            <a:r>
              <a:rPr lang="nl-NL" dirty="0"/>
              <a:t> Sampling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BD91A714-3729-4077-B235-A52CB5416BB5}"/>
              </a:ext>
            </a:extLst>
          </p:cNvPr>
          <p:cNvSpPr/>
          <p:nvPr/>
        </p:nvSpPr>
        <p:spPr>
          <a:xfrm>
            <a:off x="7132709" y="3464120"/>
            <a:ext cx="2477564" cy="795631"/>
          </a:xfrm>
          <a:prstGeom prst="rect">
            <a:avLst/>
          </a:prstGeom>
          <a:solidFill>
            <a:srgbClr val="59908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Systemic</a:t>
            </a:r>
            <a:r>
              <a:rPr lang="nl-NL" dirty="0"/>
              <a:t> Sampling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DE0229FB-43F2-4AB2-BA8C-255295A0491B}"/>
              </a:ext>
            </a:extLst>
          </p:cNvPr>
          <p:cNvSpPr/>
          <p:nvPr/>
        </p:nvSpPr>
        <p:spPr>
          <a:xfrm>
            <a:off x="3929358" y="2063693"/>
            <a:ext cx="2477564" cy="795631"/>
          </a:xfrm>
          <a:prstGeom prst="rect">
            <a:avLst/>
          </a:prstGeom>
          <a:solidFill>
            <a:srgbClr val="599089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Clustered</a:t>
            </a:r>
            <a:r>
              <a:rPr lang="nl-NL" dirty="0"/>
              <a:t> Sampling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207C67B0-6BB3-4E82-BFD6-55D5146DF76A}"/>
              </a:ext>
            </a:extLst>
          </p:cNvPr>
          <p:cNvSpPr/>
          <p:nvPr/>
        </p:nvSpPr>
        <p:spPr>
          <a:xfrm>
            <a:off x="5035718" y="2780235"/>
            <a:ext cx="2477564" cy="795631"/>
          </a:xfrm>
          <a:prstGeom prst="rect">
            <a:avLst/>
          </a:prstGeom>
          <a:solidFill>
            <a:srgbClr val="E0696A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Self-Selection</a:t>
            </a:r>
            <a:r>
              <a:rPr lang="nl-NL" dirty="0"/>
              <a:t> Sampling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AC3C41A1-8C68-493E-8260-96FC62DF367F}"/>
              </a:ext>
            </a:extLst>
          </p:cNvPr>
          <p:cNvSpPr/>
          <p:nvPr/>
        </p:nvSpPr>
        <p:spPr>
          <a:xfrm>
            <a:off x="2387023" y="3575866"/>
            <a:ext cx="2477564" cy="795631"/>
          </a:xfrm>
          <a:prstGeom prst="rect">
            <a:avLst/>
          </a:prstGeom>
          <a:solidFill>
            <a:srgbClr val="E0696A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Quota Sampling</a:t>
            </a:r>
          </a:p>
        </p:txBody>
      </p:sp>
      <p:pic>
        <p:nvPicPr>
          <p:cNvPr id="15" name="Graphic 14" descr="Dobbelsteen met effen opvulling">
            <a:extLst>
              <a:ext uri="{FF2B5EF4-FFF2-40B4-BE49-F238E27FC236}">
                <a16:creationId xmlns:a16="http://schemas.microsoft.com/office/drawing/2014/main" id="{D5A43E0A-B601-4F1F-84F3-FC2A7687B2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25792" y="3423254"/>
            <a:ext cx="1975665" cy="1975665"/>
          </a:xfrm>
          <a:prstGeom prst="rect">
            <a:avLst/>
          </a:prstGeom>
        </p:spPr>
      </p:pic>
      <p:pic>
        <p:nvPicPr>
          <p:cNvPr id="16" name="Graphic 15" descr="Dobbelsteen met effen opvulling">
            <a:extLst>
              <a:ext uri="{FF2B5EF4-FFF2-40B4-BE49-F238E27FC236}">
                <a16:creationId xmlns:a16="http://schemas.microsoft.com/office/drawing/2014/main" id="{254A0E3F-E85D-48AC-87C9-45A5FD99FC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902730" y="3727201"/>
            <a:ext cx="1975665" cy="1975665"/>
          </a:xfrm>
          <a:prstGeom prst="rect">
            <a:avLst/>
          </a:prstGeom>
          <a:effectLst>
            <a:outerShdw blurRad="50800" dist="50800" dir="5400000" algn="ctr" rotWithShape="0">
              <a:srgbClr val="D6AD51"/>
            </a:outerShdw>
          </a:effectLst>
        </p:spPr>
      </p:pic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10A43221-ABA3-4F4E-9FFE-BDDA08A9957D}"/>
              </a:ext>
            </a:extLst>
          </p:cNvPr>
          <p:cNvCxnSpPr>
            <a:cxnSpLocks/>
          </p:cNvCxnSpPr>
          <p:nvPr/>
        </p:nvCxnSpPr>
        <p:spPr>
          <a:xfrm flipV="1">
            <a:off x="9610273" y="3919403"/>
            <a:ext cx="2199134" cy="177527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01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Zuyd - HMSM Master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27F3DAC5-B41B-4793-8B1A-93E21B1EDB99}"/>
    </a:ext>
  </a:extLst>
</a:theme>
</file>

<file path=ppt/theme/theme2.xml><?xml version="1.0" encoding="utf-8"?>
<a:theme xmlns:a="http://schemas.openxmlformats.org/drawingml/2006/main" name="Zuyd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F9463F29-C729-4749-ADD9-E48EEF98922D}"/>
    </a:ext>
  </a:extLst>
</a:theme>
</file>

<file path=ppt/theme/theme3.xml><?xml version="1.0" encoding="utf-8"?>
<a:theme xmlns:a="http://schemas.openxmlformats.org/drawingml/2006/main" name="Zuyd - Inhoud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D7BC870A-B92C-4990-8EB0-3F9587A44D1F}"/>
    </a:ext>
  </a:extLst>
</a:theme>
</file>

<file path=ppt/theme/theme4.xml><?xml version="1.0" encoding="utf-8"?>
<a:theme xmlns:a="http://schemas.openxmlformats.org/drawingml/2006/main" name="1_Zuyd - HMSM Master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27F3DAC5-B41B-4793-8B1A-93E21B1EDB99}"/>
    </a:ext>
  </a:extLst>
</a:theme>
</file>

<file path=ppt/theme/theme5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8ACFDF-608B-4E1B-9ED0-2FE351C57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F87415-DC0D-4DAF-A245-A0D1B387FE30}">
  <ds:schemaRefs>
    <ds:schemaRef ds:uri="05827adb-aabe-415b-94da-6391be120ca3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fa042-ba5f-40f1-b789-4e4509f02e2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6CFD1B4-65EE-4470-BD21-EDEFABE0F8B8}"/>
</file>

<file path=docProps/app.xml><?xml version="1.0" encoding="utf-8"?>
<Properties xmlns="http://schemas.openxmlformats.org/officeDocument/2006/extended-properties" xmlns:vt="http://schemas.openxmlformats.org/officeDocument/2006/docPropsVTypes">
  <Template>zuyd---hmsm-lr-150</Template>
  <TotalTime>7563</TotalTime>
  <Words>254</Words>
  <Application>Microsoft Office PowerPoint</Application>
  <PresentationFormat>Widescreen</PresentationFormat>
  <Paragraphs>79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Verdana</vt:lpstr>
      <vt:lpstr>Wingdings</vt:lpstr>
      <vt:lpstr>Zuyd - HMSM Master</vt:lpstr>
      <vt:lpstr>Zuyd</vt:lpstr>
      <vt:lpstr>Zuyd - Inhoud</vt:lpstr>
      <vt:lpstr>1_Zuyd - HMSM Master</vt:lpstr>
      <vt:lpstr>Actually gathering data – you’ve done it before</vt:lpstr>
      <vt:lpstr>NUANCE!</vt:lpstr>
      <vt:lpstr>Data collection choices and measurements: research design</vt:lpstr>
      <vt:lpstr>Recap: Validity and Reliability</vt:lpstr>
      <vt:lpstr>Remember when you were 2 years old?</vt:lpstr>
      <vt:lpstr>You already did some research yourself!</vt:lpstr>
      <vt:lpstr>Describe what could impact the validity and reliability of your research design</vt:lpstr>
      <vt:lpstr>Recap Sampling</vt:lpstr>
      <vt:lpstr>Which belongs to which? Probability vs non-probability methods</vt:lpstr>
      <vt:lpstr>Which belongs to which? Probability vs non-probability methods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GEI meeting 7</dc:title>
  <dc:subject/>
  <dc:creator>kierty verbooy</dc:creator>
  <cp:keywords/>
  <dc:description/>
  <cp:lastModifiedBy>Verbooy, K (Kaya)</cp:lastModifiedBy>
  <cp:revision>202</cp:revision>
  <dcterms:created xsi:type="dcterms:W3CDTF">2021-11-02T06:58:01Z</dcterms:created>
  <dcterms:modified xsi:type="dcterms:W3CDTF">2023-02-18T14:08:40Z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  <property fmtid="{D5CDD505-2E9C-101B-9397-08002B2CF9AE}" pid="3" name="MediaServiceImageTags">
    <vt:lpwstr/>
  </property>
</Properties>
</file>