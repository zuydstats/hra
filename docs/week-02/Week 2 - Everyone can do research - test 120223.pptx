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4"/>
    <p:sldMasterId id="2147483648" r:id="rId5"/>
    <p:sldMasterId id="2147483677" r:id="rId6"/>
    <p:sldMasterId id="2147483743" r:id="rId7"/>
  </p:sldMasterIdLst>
  <p:notesMasterIdLst>
    <p:notesMasterId r:id="rId18"/>
  </p:notesMasterIdLst>
  <p:sldIdLst>
    <p:sldId id="256" r:id="rId8"/>
    <p:sldId id="261" r:id="rId9"/>
    <p:sldId id="257" r:id="rId10"/>
    <p:sldId id="266" r:id="rId11"/>
    <p:sldId id="258" r:id="rId12"/>
    <p:sldId id="259" r:id="rId13"/>
    <p:sldId id="268" r:id="rId14"/>
    <p:sldId id="263" r:id="rId15"/>
    <p:sldId id="264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701D171-14E9-EFE4-D092-162BF8B516FF}" name="Hanegreefs, H (Hilde)" initials="H(" userId="S::hilde.hanegreefs@zuyd.nl::03ec1bdc-8cfc-4e69-93b9-fa43091dd121" providerId="AD"/>
  <p188:author id="{4B479CA2-1328-6B36-22F5-6A4BDCA07722}" name="Huberts, D (Daan)" initials="H(" userId="S::daan.huberts@zuyd.nl::563c6390-b2c9-476e-8665-21ee6faf58d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9089"/>
    <a:srgbClr val="E0696A"/>
    <a:srgbClr val="EEDCB5"/>
    <a:srgbClr val="D6AD51"/>
    <a:srgbClr val="913173"/>
    <a:srgbClr val="E9D6E3"/>
    <a:srgbClr val="D8D1CF"/>
    <a:srgbClr val="534245"/>
    <a:srgbClr val="534259"/>
    <a:srgbClr val="9E8C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71" autoAdjust="0"/>
    <p:restoredTop sz="84854" autoAdjust="0"/>
  </p:normalViewPr>
  <p:slideViewPr>
    <p:cSldViewPr snapToGrid="0">
      <p:cViewPr varScale="1">
        <p:scale>
          <a:sx n="62" d="100"/>
          <a:sy n="62" d="100"/>
        </p:scale>
        <p:origin x="106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10" Type="http://schemas.openxmlformats.org/officeDocument/2006/relationships/slide" Target="slides/slide3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C666B6-286A-4405-99F2-53E701102167}" type="datetimeFigureOut">
              <a:rPr lang="nl-NL" smtClean="0"/>
              <a:t>18-2-2023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7922BD-4D9E-4EA2-AF6E-C02189B5208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225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7922BD-4D9E-4EA2-AF6E-C02189B52086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4003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7922BD-4D9E-4EA2-AF6E-C02189B52086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03597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7922BD-4D9E-4EA2-AF6E-C02189B52086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92895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2.sv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3.png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3.png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sv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3.png"/><Relationship Id="rId5" Type="http://schemas.openxmlformats.org/officeDocument/2006/relationships/image" Target="../media/image4.sv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3790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ENG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4136123" cy="244682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Thank you for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your attention!</a:t>
            </a:r>
          </a:p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 look forward to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welcoming you again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at our beloved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Stay connected with us</a:t>
            </a: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612301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NL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3907523" cy="235449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Bedankt voor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uw aandacht!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Graag tot ziens op </a:t>
            </a:r>
            <a:b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onze mooie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Laten we contact </a:t>
            </a:r>
            <a:r>
              <a:rPr lang="en-GB" sz="2000" b="0" i="0" u="none" strike="noStrike" baseline="0" dirty="0" err="1">
                <a:solidFill>
                  <a:srgbClr val="FFFFFF"/>
                </a:solidFill>
                <a:latin typeface="+mn-lt"/>
              </a:rPr>
              <a:t>houden</a:t>
            </a:r>
            <a:endParaRPr lang="en-GB" sz="2000" b="0" i="0" u="none" strike="noStrike" baseline="0" dirty="0">
              <a:solidFill>
                <a:srgbClr val="FFFFFF"/>
              </a:solidFill>
              <a:latin typeface="+mn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546032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Blanco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endParaRPr lang="en-GB" sz="2000" b="0" i="0" u="none" strike="noStrike" baseline="0" dirty="0">
              <a:solidFill>
                <a:srgbClr val="FFFFFF"/>
              </a:solidFill>
              <a:latin typeface="+mj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  <p:sp>
        <p:nvSpPr>
          <p:cNvPr id="3" name="Tijdelijke aanduiding Tekst 1">
            <a:extLst>
              <a:ext uri="{FF2B5EF4-FFF2-40B4-BE49-F238E27FC236}">
                <a16:creationId xmlns:a16="http://schemas.microsoft.com/office/drawing/2014/main" id="{096059D0-6078-4E6B-A4F5-73481C0CEE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68686" y="1326086"/>
            <a:ext cx="3924946" cy="470898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40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 err="1"/>
              <a:t>Thank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message</a:t>
            </a:r>
            <a:endParaRPr lang="nl-NL" dirty="0"/>
          </a:p>
        </p:txBody>
      </p:sp>
      <p:sp>
        <p:nvSpPr>
          <p:cNvPr id="12" name="Tijdelijke aanduiding Tekst 2">
            <a:extLst>
              <a:ext uri="{FF2B5EF4-FFF2-40B4-BE49-F238E27FC236}">
                <a16:creationId xmlns:a16="http://schemas.microsoft.com/office/drawing/2014/main" id="{09AC7119-4737-481D-A01D-DDBB3C57CB0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468686" y="4376387"/>
            <a:ext cx="3924946" cy="276999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/>
              <a:t>Contact </a:t>
            </a:r>
            <a:r>
              <a:rPr lang="nl-NL" dirty="0" err="1"/>
              <a:t>message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03482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 slid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763D7E0F-7BFC-4402-BA6E-CDF07A81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FFC1263-A8D5-4CFD-BF3D-D8A54FA4E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4572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g Color Background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0" y="6439919"/>
            <a:ext cx="1358761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1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5DAC3-20BC-47D4-98F5-DDF52609E96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1/3 </a:t>
            </a:r>
            <a:r>
              <a:rPr lang="nl-BE" sz="1400" dirty="0" err="1"/>
              <a:t>img</a:t>
            </a:r>
            <a:r>
              <a:rPr lang="nl-BE" sz="1400" dirty="0"/>
              <a:t> </a:t>
            </a:r>
            <a:r>
              <a:rPr lang="nl-BE" sz="1400" dirty="0" err="1"/>
              <a:t>Color</a:t>
            </a:r>
            <a:r>
              <a:rPr lang="nl-BE" sz="1400" dirty="0"/>
              <a:t> Background</a:t>
            </a:r>
          </a:p>
        </p:txBody>
      </p:sp>
    </p:spTree>
    <p:extLst>
      <p:ext uri="{BB962C8B-B14F-4D97-AF65-F5344CB8AC3E}">
        <p14:creationId xmlns:p14="http://schemas.microsoft.com/office/powerpoint/2010/main" val="531793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icon to add picture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548679-B830-4AE6-9EAF-959B9347D07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1/3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702170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942C67-E8D4-41A6-B68B-CB17A5DAE4CD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2407291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Tab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10" name="Table Placeholder 4">
            <a:extLst>
              <a:ext uri="{FF2B5EF4-FFF2-40B4-BE49-F238E27FC236}">
                <a16:creationId xmlns:a16="http://schemas.microsoft.com/office/drawing/2014/main" id="{597852CA-5D7D-461C-9DA7-327993E2AF27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4194073" y="2343601"/>
            <a:ext cx="7674735" cy="3750124"/>
          </a:xfrm>
        </p:spPr>
        <p:txBody>
          <a:bodyPr lIns="0" tIns="0" rIns="0" bIns="0" anchor="t" anchorCtr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tabel</a:t>
            </a:r>
            <a:r>
              <a:rPr lang="en-GB" dirty="0"/>
              <a:t>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605BED-F965-4AA0-9412-6AC9A486712A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Tabel</a:t>
            </a:r>
          </a:p>
        </p:txBody>
      </p:sp>
    </p:spTree>
    <p:extLst>
      <p:ext uri="{BB962C8B-B14F-4D97-AF65-F5344CB8AC3E}">
        <p14:creationId xmlns:p14="http://schemas.microsoft.com/office/powerpoint/2010/main" val="2730958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6 img Grafie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Tekst</a:t>
            </a:r>
            <a:endParaRPr lang="en-US" dirty="0"/>
          </a:p>
        </p:txBody>
      </p:sp>
      <p:sp>
        <p:nvSpPr>
          <p:cNvPr id="8" name="Chart Placeholder 2">
            <a:extLst>
              <a:ext uri="{FF2B5EF4-FFF2-40B4-BE49-F238E27FC236}">
                <a16:creationId xmlns:a16="http://schemas.microsoft.com/office/drawing/2014/main" id="{A1C1D1B9-3280-4503-AFD7-CC03003FA7E9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4194073" y="2343600"/>
            <a:ext cx="7674734" cy="3750124"/>
          </a:xfrm>
        </p:spPr>
        <p:txBody>
          <a:bodyPr lIns="0" tIns="0" rIns="0" bIns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grafiek</a:t>
            </a:r>
            <a:r>
              <a:rPr lang="en-GB" dirty="0"/>
              <a:t>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79AB8A-6841-410F-9EF2-6078AB99EEDF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Grafiek</a:t>
            </a:r>
          </a:p>
        </p:txBody>
      </p:sp>
    </p:spTree>
    <p:extLst>
      <p:ext uri="{BB962C8B-B14F-4D97-AF65-F5344CB8AC3E}">
        <p14:creationId xmlns:p14="http://schemas.microsoft.com/office/powerpoint/2010/main" val="198335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AAA4BC-0FC7-4BD2-9E5F-D925BBD97E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3737" y="2343334"/>
            <a:ext cx="7655074" cy="519395"/>
          </a:xfrm>
        </p:spPr>
        <p:txBody>
          <a:bodyPr lIns="0" tIns="0" rIns="0" bIns="0" anchor="t" anchorCtr="0">
            <a:normAutofit/>
          </a:bodyPr>
          <a:lstStyle>
            <a:lvl1pPr>
              <a:defRPr sz="3000" b="1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BC9719-122B-45BC-8567-2D9F6096FF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94075" y="3000179"/>
            <a:ext cx="7674735" cy="3093545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tx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tx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FFD7B-734A-40A6-BD7A-547BF491FD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3429000"/>
            <a:ext cx="3431175" cy="3429000"/>
          </a:xfrm>
          <a:solidFill>
            <a:srgbClr val="913173"/>
          </a:solidFill>
        </p:spPr>
        <p:txBody>
          <a:bodyPr lIns="432000" tIns="72000" rIns="72000" bIns="7200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Quote</a:t>
            </a:r>
          </a:p>
        </p:txBody>
      </p:sp>
      <p:sp>
        <p:nvSpPr>
          <p:cNvPr id="11" name="Online Image Placeholder 4">
            <a:extLst>
              <a:ext uri="{FF2B5EF4-FFF2-40B4-BE49-F238E27FC236}">
                <a16:creationId xmlns:a16="http://schemas.microsoft.com/office/drawing/2014/main" id="{24BE3241-8379-4DEA-A680-7AF95D1A39B5}"/>
              </a:ext>
            </a:extLst>
          </p:cNvPr>
          <p:cNvSpPr>
            <a:spLocks noGrp="1"/>
          </p:cNvSpPr>
          <p:nvPr>
            <p:ph type="clipArt" sz="quarter" idx="13" hasCustomPrompt="1"/>
          </p:nvPr>
        </p:nvSpPr>
        <p:spPr>
          <a:xfrm>
            <a:off x="2303472" y="4650663"/>
            <a:ext cx="608400" cy="453600"/>
          </a:xfr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2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A4063-C540-4592-81FD-A92AC8BA43BE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1/6 </a:t>
            </a:r>
            <a:r>
              <a:rPr lang="nl-BE" sz="1400" dirty="0" err="1"/>
              <a:t>img</a:t>
            </a:r>
            <a:r>
              <a:rPr lang="nl-BE" sz="1400" dirty="0"/>
              <a:t> Quote</a:t>
            </a:r>
          </a:p>
        </p:txBody>
      </p:sp>
    </p:spTree>
    <p:extLst>
      <p:ext uri="{BB962C8B-B14F-4D97-AF65-F5344CB8AC3E}">
        <p14:creationId xmlns:p14="http://schemas.microsoft.com/office/powerpoint/2010/main" val="18873734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g Color Background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B325A9-33A0-4002-BFDF-6BB4F916999F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1/2 </a:t>
            </a:r>
            <a:r>
              <a:rPr lang="nl-BE" sz="1400" dirty="0" err="1"/>
              <a:t>img</a:t>
            </a:r>
            <a:r>
              <a:rPr lang="nl-BE" sz="1400" dirty="0"/>
              <a:t> </a:t>
            </a:r>
            <a:r>
              <a:rPr lang="nl-BE" sz="1400" dirty="0" err="1"/>
              <a:t>Color</a:t>
            </a:r>
            <a:r>
              <a:rPr lang="nl-BE" sz="1400" dirty="0"/>
              <a:t> Background</a:t>
            </a:r>
          </a:p>
        </p:txBody>
      </p:sp>
    </p:spTree>
    <p:extLst>
      <p:ext uri="{BB962C8B-B14F-4D97-AF65-F5344CB8AC3E}">
        <p14:creationId xmlns:p14="http://schemas.microsoft.com/office/powerpoint/2010/main" val="42444236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g White Backgrou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 b="1">
                <a:solidFill>
                  <a:srgbClr val="91317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8AF65E-EBCC-41F0-B41D-03DFA620293A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1/2 </a:t>
            </a:r>
            <a:r>
              <a:rPr lang="nl-BE" sz="1400" dirty="0" err="1"/>
              <a:t>img</a:t>
            </a:r>
            <a:r>
              <a:rPr lang="nl-BE" sz="1400" dirty="0"/>
              <a:t> White Background</a:t>
            </a:r>
          </a:p>
        </p:txBody>
      </p:sp>
    </p:spTree>
    <p:extLst>
      <p:ext uri="{BB962C8B-B14F-4D97-AF65-F5344CB8AC3E}">
        <p14:creationId xmlns:p14="http://schemas.microsoft.com/office/powerpoint/2010/main" val="31640682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Title 6">
            <a:extLst>
              <a:ext uri="{FF2B5EF4-FFF2-40B4-BE49-F238E27FC236}">
                <a16:creationId xmlns:a16="http://schemas.microsoft.com/office/drawing/2014/main" id="{3856C393-35A5-4BF3-913C-ABB4674982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54728" y="1"/>
            <a:ext cx="3437271" cy="6857999"/>
          </a:xfrm>
          <a:solidFill>
            <a:srgbClr val="913173"/>
          </a:solidFill>
        </p:spPr>
        <p:txBody>
          <a:bodyPr lIns="396000" tIns="360000" rIns="0" bIns="3312000" anchor="b" anchorCtr="0">
            <a:normAutofit/>
          </a:bodyPr>
          <a:lstStyle>
            <a:lvl1pPr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FC0106EE-A022-47F9-8E5D-2E76A64B9C14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1" y="1"/>
            <a:ext cx="8759298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828000" anchor="ctr" anchorCtr="0"/>
          <a:lstStyle>
            <a:lvl1pPr algn="ctr">
              <a:buNone/>
              <a:defRPr/>
            </a:lvl1pPr>
          </a:lstStyle>
          <a:p>
            <a:r>
              <a:rPr lang="en-GB" dirty="0" err="1"/>
              <a:t>Klik</a:t>
            </a:r>
            <a:r>
              <a:rPr lang="en-GB" dirty="0"/>
              <a:t> om </a:t>
            </a:r>
            <a:r>
              <a:rPr lang="en-GB" dirty="0" err="1"/>
              <a:t>een</a:t>
            </a:r>
            <a:r>
              <a:rPr lang="en-GB" dirty="0"/>
              <a:t> video in </a:t>
            </a:r>
            <a:r>
              <a:rPr lang="en-GB" dirty="0" err="1"/>
              <a:t>te</a:t>
            </a:r>
            <a:r>
              <a:rPr lang="en-GB" dirty="0"/>
              <a:t> </a:t>
            </a:r>
            <a:r>
              <a:rPr lang="en-GB" dirty="0" err="1"/>
              <a:t>voegen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0E97C-9009-4ACB-AC08-964BC7AC0F2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Video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BA26A61A-4B86-480E-A7DF-8512BD363CE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BEF16D11-3E7E-49BA-A603-75DF19698D78}"/>
              </a:ext>
            </a:extLst>
          </p:cNvPr>
          <p:cNvSpPr>
            <a:spLocks noGrp="1"/>
          </p:cNvSpPr>
          <p:nvPr>
            <p:ph type="clipArt" sz="quarter" idx="12" hasCustomPrompt="1"/>
          </p:nvPr>
        </p:nvSpPr>
        <p:spPr>
          <a:xfrm>
            <a:off x="10510052" y="6439919"/>
            <a:ext cx="1358757" cy="221803"/>
          </a:xfr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FontTx/>
              <a:buNone/>
              <a:defRPr sz="800">
                <a:solidFill>
                  <a:srgbClr val="913173"/>
                </a:solidFill>
              </a:defRPr>
            </a:lvl1pPr>
          </a:lstStyle>
          <a:p>
            <a:r>
              <a:rPr lang="nl-BE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206602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im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4472" y="2999071"/>
            <a:ext cx="2710435" cy="658529"/>
          </a:xfrm>
        </p:spPr>
        <p:txBody>
          <a:bodyPr lIns="0" tIns="0" rIns="0" bIns="0" anchor="t" anchorCtr="0">
            <a:normAutofit/>
          </a:bodyPr>
          <a:lstStyle>
            <a:lvl1pPr>
              <a:defRPr sz="4000" b="0">
                <a:solidFill>
                  <a:srgbClr val="913173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76CE40-3CC7-4A42-898E-4DD929B647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759299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792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C7F64-8CBD-4592-ACC1-BEA58A5E0BA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2/3 </a:t>
            </a:r>
            <a:r>
              <a:rPr lang="nl-BE" sz="1400" dirty="0" err="1"/>
              <a:t>img</a:t>
            </a:r>
            <a:endParaRPr lang="nl-BE" sz="14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137085F-E6E8-46B9-A893-41E11E155F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rgbClr val="913173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rgbClr val="913173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rgbClr val="913173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</p:spTree>
    <p:extLst>
      <p:ext uri="{BB962C8B-B14F-4D97-AF65-F5344CB8AC3E}">
        <p14:creationId xmlns:p14="http://schemas.microsoft.com/office/powerpoint/2010/main" val="14767806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img Alternatief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4472" y="2999071"/>
            <a:ext cx="2710435" cy="658529"/>
          </a:xfrm>
        </p:spPr>
        <p:txBody>
          <a:bodyPr lIns="0" tIns="0" rIns="0" bIns="0" anchor="t" anchorCtr="0">
            <a:normAutofit/>
          </a:bodyPr>
          <a:lstStyle>
            <a:lvl1pPr>
              <a:defRPr sz="4000" b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76CE40-3CC7-4A42-898E-4DD929B647F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759299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792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C7F64-8CBD-4592-ACC1-BEA58A5E0BA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2/3 </a:t>
            </a:r>
            <a:r>
              <a:rPr lang="nl-BE" sz="1400" dirty="0" err="1"/>
              <a:t>img</a:t>
            </a:r>
            <a:endParaRPr lang="nl-BE" sz="14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137085F-E6E8-46B9-A893-41E11E155F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64472" y="3678072"/>
            <a:ext cx="2710435" cy="2238374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800" b="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2pPr>
            <a:lvl3pPr>
              <a:lnSpc>
                <a:spcPct val="100000"/>
              </a:lnSpc>
              <a:defRPr sz="1800">
                <a:solidFill>
                  <a:schemeClr val="bg1"/>
                </a:solidFill>
                <a:latin typeface="+mj-lt"/>
              </a:defRPr>
            </a:lvl3pPr>
            <a:lvl4pPr>
              <a:buNone/>
              <a:defRPr/>
            </a:lvl4pPr>
          </a:lstStyle>
          <a:p>
            <a:pPr lvl="0"/>
            <a:r>
              <a:rPr lang="en-US" dirty="0" err="1"/>
              <a:t>Niveau</a:t>
            </a:r>
            <a:r>
              <a:rPr lang="en-US" dirty="0"/>
              <a:t> 1</a:t>
            </a:r>
          </a:p>
          <a:p>
            <a:pPr lvl="1"/>
            <a:r>
              <a:rPr lang="en-US" dirty="0" err="1"/>
              <a:t>Niveau</a:t>
            </a:r>
            <a:r>
              <a:rPr lang="en-US" dirty="0"/>
              <a:t> 2</a:t>
            </a:r>
          </a:p>
          <a:p>
            <a:pPr lvl="2"/>
            <a:r>
              <a:rPr lang="en-US" dirty="0" err="1"/>
              <a:t>Niveau</a:t>
            </a:r>
            <a:r>
              <a:rPr lang="en-US" dirty="0"/>
              <a:t> 3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576645B-881C-41F8-9240-CD64EDD37C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2" y="6439919"/>
            <a:ext cx="1358757" cy="221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1159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</p:spTree>
    <p:extLst>
      <p:ext uri="{BB962C8B-B14F-4D97-AF65-F5344CB8AC3E}">
        <p14:creationId xmlns:p14="http://schemas.microsoft.com/office/powerpoint/2010/main" val="39086769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slide +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763D7E0F-7BFC-4402-BA6E-CDF07A81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FFC1263-A8D5-4CFD-BF3D-D8A54FA4E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1660490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slide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617C9E57-84C3-4FD0-87EC-FB06F8B0C7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4D5675-2ED9-48F1-8670-075AFEEF00C5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 err="1"/>
              <a:t>Color</a:t>
            </a:r>
            <a:r>
              <a:rPr lang="nl-BE" sz="1400" dirty="0"/>
              <a:t> slide</a:t>
            </a:r>
          </a:p>
        </p:txBody>
      </p:sp>
    </p:spTree>
    <p:extLst>
      <p:ext uri="{BB962C8B-B14F-4D97-AF65-F5344CB8AC3E}">
        <p14:creationId xmlns:p14="http://schemas.microsoft.com/office/powerpoint/2010/main" val="10649466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slide + text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E28BBD-DFB0-40F0-B1FD-8C2A88A54D3C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White slide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763D7E0F-7BFC-4402-BA6E-CDF07A81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FFC1263-A8D5-4CFD-BF3D-D8A54FA4EC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02A5DF1-E74B-4608-A342-28829B7CE1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510055" y="6439919"/>
            <a:ext cx="1358751" cy="221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1871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chemeClr val="tx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chemeClr val="accent1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chemeClr val="accent3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chemeClr val="bg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chemeClr val="accent4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chemeClr val="accent5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chemeClr val="accent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chemeClr val="accent6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 dirty="0"/>
              <a:t>Click icon to add picture</a:t>
            </a:r>
            <a:endParaRPr lang="en-GB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2BBD9-05FE-4ADE-92E9-CEEB1B62F2E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9610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chemeClr val="tx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D805316B-2914-4C3D-800C-A8C13C887CE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386412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chemeClr val="accent1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8528747D-C4C8-467B-90F5-14ACF1B7969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3719417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chemeClr val="accent3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4A159FC-6936-494B-A13F-5DC1D1710A4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9897532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chemeClr val="bg2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4EF2386-78EF-443D-9B9E-22CFDA647F1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0586265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chemeClr val="accent4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CFD934D-42E3-460C-AE63-5115CFEC0D3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518609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BA4876C-8C13-4FF7-8AD1-0A2F5C0B6FA9}"/>
              </a:ext>
            </a:extLst>
          </p:cNvPr>
          <p:cNvSpPr txBox="1"/>
          <p:nvPr userDrawn="1"/>
        </p:nvSpPr>
        <p:spPr>
          <a:xfrm>
            <a:off x="9505094" y="-307777"/>
            <a:ext cx="26869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BE" sz="1400" dirty="0"/>
              <a:t>Content</a:t>
            </a:r>
          </a:p>
        </p:txBody>
      </p:sp>
      <p:sp>
        <p:nvSpPr>
          <p:cNvPr id="5" name="Text Placeholder A">
            <a:extLst>
              <a:ext uri="{FF2B5EF4-FFF2-40B4-BE49-F238E27FC236}">
                <a16:creationId xmlns:a16="http://schemas.microsoft.com/office/drawing/2014/main" id="{D0F64532-F69B-4E9B-89B0-8945267895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7880" y="779591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18" name="Text Placeholder C1">
            <a:extLst>
              <a:ext uri="{FF2B5EF4-FFF2-40B4-BE49-F238E27FC236}">
                <a16:creationId xmlns:a16="http://schemas.microsoft.com/office/drawing/2014/main" id="{48B7C74A-F432-40EC-9902-F2A51A62D4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44587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nl-BE" dirty="0"/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4A28877-DEF7-43EB-B3ED-846C7B13CA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223704" y="786213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B">
            <a:extLst>
              <a:ext uri="{FF2B5EF4-FFF2-40B4-BE49-F238E27FC236}">
                <a16:creationId xmlns:a16="http://schemas.microsoft.com/office/drawing/2014/main" id="{4F01AE56-CDDF-4384-8284-E45020D7C9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25350" y="779590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34" name="Text Placeholder C2">
            <a:extLst>
              <a:ext uri="{FF2B5EF4-FFF2-40B4-BE49-F238E27FC236}">
                <a16:creationId xmlns:a16="http://schemas.microsoft.com/office/drawing/2014/main" id="{3124AAE7-235E-4824-8F15-12DA534FE8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25220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2</a:t>
            </a:r>
            <a:endParaRPr lang="nl-BE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2D2ACA7E-CD3B-477A-B03C-EB76E8B9D6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23875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5" name="Text Placeholder C">
            <a:extLst>
              <a:ext uri="{FF2B5EF4-FFF2-40B4-BE49-F238E27FC236}">
                <a16:creationId xmlns:a16="http://schemas.microsoft.com/office/drawing/2014/main" id="{B73ABE43-C362-45FB-95C5-98F74C0DE6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28222" y="78621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3" name="Text Placeholder C3">
            <a:extLst>
              <a:ext uri="{FF2B5EF4-FFF2-40B4-BE49-F238E27FC236}">
                <a16:creationId xmlns:a16="http://schemas.microsoft.com/office/drawing/2014/main" id="{04F27BD4-BBA1-4973-B2DB-DC9D47D2FAD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06647" y="2376267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3</a:t>
            </a:r>
            <a:endParaRPr lang="nl-BE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7188D963-1593-4863-AC3D-3E21F033B3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24046" y="786213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D">
            <a:extLst>
              <a:ext uri="{FF2B5EF4-FFF2-40B4-BE49-F238E27FC236}">
                <a16:creationId xmlns:a16="http://schemas.microsoft.com/office/drawing/2014/main" id="{999DE6A3-BA06-4908-9870-6064B4CFD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27880" y="2579724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47" name="Text Placeholder C4">
            <a:extLst>
              <a:ext uri="{FF2B5EF4-FFF2-40B4-BE49-F238E27FC236}">
                <a16:creationId xmlns:a16="http://schemas.microsoft.com/office/drawing/2014/main" id="{927DCF2F-C086-4A76-87F0-E230F4BCB5C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4587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4</a:t>
            </a:r>
            <a:endParaRPr lang="nl-BE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2969EB2E-71BB-4828-8287-164134299C3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23704" y="2586346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9" name="Text Placeholder E">
            <a:extLst>
              <a:ext uri="{FF2B5EF4-FFF2-40B4-BE49-F238E27FC236}">
                <a16:creationId xmlns:a16="http://schemas.microsoft.com/office/drawing/2014/main" id="{0E577167-47B8-440E-8C4A-2BD5618909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350" y="2579723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0" name="Text Placeholder C5">
            <a:extLst>
              <a:ext uri="{FF2B5EF4-FFF2-40B4-BE49-F238E27FC236}">
                <a16:creationId xmlns:a16="http://schemas.microsoft.com/office/drawing/2014/main" id="{45743D95-8561-4FA0-98F3-A57FEBDE14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225220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5</a:t>
            </a:r>
            <a:endParaRPr lang="nl-BE" dirty="0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7B283FA1-4B6B-4882-A458-779DD948C29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023875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F">
            <a:extLst>
              <a:ext uri="{FF2B5EF4-FFF2-40B4-BE49-F238E27FC236}">
                <a16:creationId xmlns:a16="http://schemas.microsoft.com/office/drawing/2014/main" id="{1D147C99-5975-4B57-A5E1-93394506002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28222" y="2586346"/>
            <a:ext cx="1676872" cy="1687669"/>
          </a:xfrm>
          <a:solidFill>
            <a:schemeClr val="accent5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3" name="Text Placeholder C6">
            <a:extLst>
              <a:ext uri="{FF2B5EF4-FFF2-40B4-BE49-F238E27FC236}">
                <a16:creationId xmlns:a16="http://schemas.microsoft.com/office/drawing/2014/main" id="{5326CBE4-41A8-4153-82DA-18A91A25C91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06647" y="4176400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6</a:t>
            </a:r>
            <a:endParaRPr lang="nl-BE" dirty="0"/>
          </a:p>
        </p:txBody>
      </p:sp>
      <p:sp>
        <p:nvSpPr>
          <p:cNvPr id="54" name="Text Placeholder 6">
            <a:extLst>
              <a:ext uri="{FF2B5EF4-FFF2-40B4-BE49-F238E27FC236}">
                <a16:creationId xmlns:a16="http://schemas.microsoft.com/office/drawing/2014/main" id="{B2809522-40F4-4330-9CF4-40597261899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824046" y="2586346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G">
            <a:extLst>
              <a:ext uri="{FF2B5EF4-FFF2-40B4-BE49-F238E27FC236}">
                <a16:creationId xmlns:a16="http://schemas.microsoft.com/office/drawing/2014/main" id="{4ECDC589-E88B-457B-BB9D-C7580D46DA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39954" y="4370837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6" name="Text Placeholder C7">
            <a:extLst>
              <a:ext uri="{FF2B5EF4-FFF2-40B4-BE49-F238E27FC236}">
                <a16:creationId xmlns:a16="http://schemas.microsoft.com/office/drawing/2014/main" id="{6573426E-FAF2-4622-B940-2C26917E79D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45794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7</a:t>
            </a:r>
            <a:endParaRPr lang="nl-BE" dirty="0"/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7668770-A855-4A5D-B22D-0E9AD0A437B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235778" y="4377459"/>
            <a:ext cx="1681048" cy="1067987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H">
            <a:extLst>
              <a:ext uri="{FF2B5EF4-FFF2-40B4-BE49-F238E27FC236}">
                <a16:creationId xmlns:a16="http://schemas.microsoft.com/office/drawing/2014/main" id="{DA5D15A1-A1A7-45E8-9641-B2AB9EB54BB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37424" y="4370836"/>
            <a:ext cx="1676872" cy="1687669"/>
          </a:xfrm>
          <a:solidFill>
            <a:srgbClr val="D8D1CF"/>
          </a:solidFill>
        </p:spPr>
        <p:txBody>
          <a:bodyPr/>
          <a:lstStyle>
            <a:lvl1pPr>
              <a:buNone/>
              <a:defRPr sz="800"/>
            </a:lvl1pPr>
            <a:lvl2pPr>
              <a:buNone/>
              <a:defRPr sz="800"/>
            </a:lvl2pPr>
            <a:lvl3pPr>
              <a:buNone/>
              <a:defRPr sz="800"/>
            </a:lvl3pPr>
            <a:lvl4pPr>
              <a:buNone/>
              <a:defRPr sz="800"/>
            </a:lvl4pPr>
            <a:lvl5pPr>
              <a:buNone/>
              <a:defRPr sz="800"/>
            </a:lvl5pPr>
          </a:lstStyle>
          <a:p>
            <a:pPr lvl="0"/>
            <a:r>
              <a:rPr lang="en-US" dirty="0"/>
              <a:t> </a:t>
            </a:r>
            <a:endParaRPr lang="nl-BE" dirty="0"/>
          </a:p>
        </p:txBody>
      </p:sp>
      <p:sp>
        <p:nvSpPr>
          <p:cNvPr id="59" name="Text Placeholder C8">
            <a:extLst>
              <a:ext uri="{FF2B5EF4-FFF2-40B4-BE49-F238E27FC236}">
                <a16:creationId xmlns:a16="http://schemas.microsoft.com/office/drawing/2014/main" id="{DDD07942-23F6-4D5E-A110-1595E2DF668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237294" y="5967513"/>
            <a:ext cx="355177" cy="285784"/>
          </a:xfrm>
        </p:spPr>
        <p:txBody>
          <a:bodyPr wrap="square" lIns="0" tIns="0" rIns="0" bIns="0" anchor="b" anchorCtr="0">
            <a:noAutofit/>
          </a:bodyPr>
          <a:lstStyle>
            <a:lvl1pPr algn="r">
              <a:buNone/>
              <a:defRPr sz="5400" b="1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8</a:t>
            </a:r>
            <a:endParaRPr lang="nl-BE" dirty="0"/>
          </a:p>
        </p:txBody>
      </p:sp>
      <p:sp>
        <p:nvSpPr>
          <p:cNvPr id="60" name="Text Placeholder 8">
            <a:extLst>
              <a:ext uri="{FF2B5EF4-FFF2-40B4-BE49-F238E27FC236}">
                <a16:creationId xmlns:a16="http://schemas.microsoft.com/office/drawing/2014/main" id="{FAA8C55E-B5E2-4382-BC54-0FE493E7D56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035949" y="4377459"/>
            <a:ext cx="1681048" cy="1067986"/>
          </a:xfrm>
          <a:noFill/>
        </p:spPr>
        <p:txBody>
          <a:bodyPr lIns="108000" tIns="90000" rIns="108000" bIns="90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25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5pPr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8FC8EF-7456-47B1-B7D5-0521C0E36A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0050" y="6439919"/>
            <a:ext cx="1358761" cy="221805"/>
          </a:xfrm>
          <a:prstGeom prst="rect">
            <a:avLst/>
          </a:prstGeom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E5C0AAB-65D0-41E5-8170-3538DD5FBBF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431176" cy="3429000"/>
          </a:xfrm>
        </p:spPr>
        <p:txBody>
          <a:bodyPr lIns="72000" tIns="72000" rIns="72000" bIns="900000" anchor="ctr" anchorCtr="0"/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BE25FD17-D781-4273-947F-4218183010C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-8981" y="3429000"/>
            <a:ext cx="3440157" cy="3429000"/>
          </a:xfrm>
          <a:solidFill>
            <a:srgbClr val="913173"/>
          </a:solidFill>
          <a:ln>
            <a:noFill/>
          </a:ln>
        </p:spPr>
        <p:txBody>
          <a:bodyPr lIns="72000" tIns="36000" rIns="72000" bIns="36000" anchor="ctr">
            <a:no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288000" indent="0">
              <a:buNone/>
              <a:defRPr/>
            </a:lvl2pPr>
            <a:lvl3pPr marL="5760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 err="1"/>
              <a:t>Inhoud</a:t>
            </a:r>
            <a:endParaRPr lang="en-US" dirty="0"/>
          </a:p>
        </p:txBody>
      </p:sp>
      <p:sp>
        <p:nvSpPr>
          <p:cNvPr id="16" name="C7">
            <a:extLst>
              <a:ext uri="{FF2B5EF4-FFF2-40B4-BE49-F238E27FC236}">
                <a16:creationId xmlns:a16="http://schemas.microsoft.com/office/drawing/2014/main" id="{47871D29-99B2-4E1D-AB9A-0047D646B43F}"/>
              </a:ext>
            </a:extLst>
          </p:cNvPr>
          <p:cNvSpPr txBox="1"/>
          <p:nvPr userDrawn="1"/>
        </p:nvSpPr>
        <p:spPr>
          <a:xfrm>
            <a:off x="5458219" y="5974734"/>
            <a:ext cx="363882" cy="285784"/>
          </a:xfrm>
          <a:prstGeom prst="rect">
            <a:avLst/>
          </a:prstGeom>
          <a:noFill/>
        </p:spPr>
        <p:txBody>
          <a:bodyPr wrap="none" lIns="0" tIns="0" rIns="0" bIns="0" rtlCol="0" anchor="b" anchorCtr="0">
            <a:noAutofit/>
          </a:bodyPr>
          <a:lstStyle/>
          <a:p>
            <a:pPr>
              <a:lnSpc>
                <a:spcPts val="1000"/>
              </a:lnSpc>
            </a:pPr>
            <a:r>
              <a:rPr lang="en-GB" sz="54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15799334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543DE1-FD74-4BAE-9DF7-990ECFEF25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463912" y="3452403"/>
            <a:ext cx="4410995" cy="2443571"/>
          </a:xfrm>
        </p:spPr>
        <p:txBody>
          <a:bodyPr lIns="0" tIns="0" rIns="0" bIns="0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Header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C5470D31-C60B-46D1-A208-696B56C1CC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63912" y="2314217"/>
            <a:ext cx="4410995" cy="941745"/>
          </a:xfrm>
        </p:spPr>
        <p:txBody>
          <a:bodyPr lIns="0" tIns="0" rIns="0" bIns="0" anchor="t" anchorCtr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Header</a:t>
            </a:r>
            <a:endParaRPr lang="en-GB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83702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ENG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4136123" cy="2446824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Thank you for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your attention!</a:t>
            </a:r>
          </a:p>
          <a:p>
            <a:pPr algn="l">
              <a:lnSpc>
                <a:spcPct val="90000"/>
              </a:lnSpc>
            </a:pP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 look forward to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welcoming you again </a:t>
            </a:r>
            <a:b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en-GB" sz="3400" b="0" i="0" u="none" strike="noStrike" baseline="0" dirty="0">
                <a:solidFill>
                  <a:srgbClr val="FFFFFF"/>
                </a:solidFill>
                <a:latin typeface="+mj-lt"/>
              </a:rPr>
              <a:t>at our beloved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Stay connected with us</a:t>
            </a: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5086005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NL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2DF4C-7B5C-4E99-B352-CA672D995416}"/>
              </a:ext>
            </a:extLst>
          </p:cNvPr>
          <p:cNvSpPr txBox="1"/>
          <p:nvPr userDrawn="1"/>
        </p:nvSpPr>
        <p:spPr>
          <a:xfrm>
            <a:off x="7465326" y="1330659"/>
            <a:ext cx="3907523" cy="235449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Bedankt voor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uw aandacht!</a:t>
            </a:r>
          </a:p>
          <a:p>
            <a:pPr algn="l">
              <a:lnSpc>
                <a:spcPct val="90000"/>
              </a:lnSpc>
            </a:pP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Graag tot ziens op </a:t>
            </a:r>
            <a:b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</a:br>
            <a:r>
              <a:rPr lang="nl-NL" sz="3400" b="0" i="0" u="none" strike="noStrike" baseline="0" dirty="0">
                <a:solidFill>
                  <a:srgbClr val="FFFFFF"/>
                </a:solidFill>
                <a:latin typeface="+mj-lt"/>
              </a:rPr>
              <a:t>onze mooie campus.</a:t>
            </a:r>
            <a:endParaRPr lang="en-GB" sz="340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n-lt"/>
              </a:rPr>
              <a:t>Laten we contact </a:t>
            </a:r>
            <a:r>
              <a:rPr lang="en-GB" sz="2000" b="0" i="0" u="none" strike="noStrike" baseline="0" dirty="0" err="1">
                <a:solidFill>
                  <a:srgbClr val="FFFFFF"/>
                </a:solidFill>
                <a:latin typeface="+mn-lt"/>
              </a:rPr>
              <a:t>houden</a:t>
            </a:r>
            <a:endParaRPr lang="en-GB" sz="2000" b="0" i="0" u="none" strike="noStrike" baseline="0" dirty="0">
              <a:solidFill>
                <a:srgbClr val="FFFFFF"/>
              </a:solidFill>
              <a:latin typeface="+mn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4125752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Blanco">
    <p:bg>
      <p:bgPr>
        <a:solidFill>
          <a:srgbClr val="9131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A956AE8F-D215-4A88-9DA7-107DC9C6D2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1089" y="6257164"/>
            <a:ext cx="2413819" cy="394032"/>
          </a:xfrm>
          <a:prstGeom prst="rect">
            <a:avLst/>
          </a:prstGeom>
        </p:spPr>
      </p:pic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9C20DAC-F480-40AF-BD7E-09A2B543C3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58000" cy="6858000"/>
          </a:xfrm>
          <a:solidFill>
            <a:schemeClr val="bg1">
              <a:lumMod val="95000"/>
            </a:schemeClr>
          </a:solidFill>
        </p:spPr>
        <p:txBody>
          <a:bodyPr lIns="72000" tIns="72000" rIns="72000" bIns="900000" anchor="ctr" anchorCtr="0"/>
          <a:lstStyle>
            <a:lvl1pPr algn="ctr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12916-DB5E-47FA-8DE8-4206880172B4}"/>
              </a:ext>
            </a:extLst>
          </p:cNvPr>
          <p:cNvSpPr txBox="1"/>
          <p:nvPr userDrawn="1"/>
        </p:nvSpPr>
        <p:spPr>
          <a:xfrm>
            <a:off x="7465327" y="4376387"/>
            <a:ext cx="3124830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endParaRPr lang="en-GB" sz="2000" b="0" i="0" u="none" strike="noStrike" baseline="0" dirty="0">
              <a:solidFill>
                <a:srgbClr val="FFFFFF"/>
              </a:solidFill>
              <a:latin typeface="+mj-lt"/>
            </a:endParaRPr>
          </a:p>
          <a:p>
            <a:pPr algn="l">
              <a:lnSpc>
                <a:spcPct val="90000"/>
              </a:lnSpc>
            </a:pPr>
            <a:r>
              <a:rPr lang="en-GB" sz="2000" b="0" i="0" u="none" strike="noStrike" baseline="0" dirty="0">
                <a:solidFill>
                  <a:srgbClr val="FFFFFF"/>
                </a:solidFill>
                <a:latin typeface="+mj-lt"/>
              </a:rPr>
              <a:t>www.hotelschoolmaastricht.nl</a:t>
            </a:r>
            <a:endParaRPr lang="en-GB" sz="2000" dirty="0">
              <a:latin typeface="+mj-lt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5A7257-7286-4CB2-AAD4-E751AA70822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20793" y="5074021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F1F3C3B-DF5B-409F-901F-677F3BE3361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3149" y="5074021"/>
            <a:ext cx="360000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710CA40-52AA-42F5-9D40-8A40F0B9C714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65327" y="5076233"/>
            <a:ext cx="423361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62A48E7-B4AC-441B-9F01-3AA61F126A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1431" t="-21430" r="-21431" b="-21430"/>
          <a:stretch/>
        </p:blipFill>
        <p:spPr>
          <a:xfrm>
            <a:off x="8311971" y="5069858"/>
            <a:ext cx="360000" cy="360000"/>
          </a:xfrm>
          <a:prstGeom prst="ellipse">
            <a:avLst/>
          </a:prstGeom>
          <a:solidFill>
            <a:schemeClr val="bg1"/>
          </a:solidFill>
        </p:spPr>
      </p:pic>
      <p:sp>
        <p:nvSpPr>
          <p:cNvPr id="3" name="Tijdelijke aanduiding Tekst 1">
            <a:extLst>
              <a:ext uri="{FF2B5EF4-FFF2-40B4-BE49-F238E27FC236}">
                <a16:creationId xmlns:a16="http://schemas.microsoft.com/office/drawing/2014/main" id="{096059D0-6078-4E6B-A4F5-73481C0CEE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68686" y="1326086"/>
            <a:ext cx="3924946" cy="470898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40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 err="1"/>
              <a:t>Thank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message</a:t>
            </a:r>
            <a:endParaRPr lang="nl-NL" dirty="0"/>
          </a:p>
        </p:txBody>
      </p:sp>
      <p:sp>
        <p:nvSpPr>
          <p:cNvPr id="12" name="Tijdelijke aanduiding Tekst 2">
            <a:extLst>
              <a:ext uri="{FF2B5EF4-FFF2-40B4-BE49-F238E27FC236}">
                <a16:creationId xmlns:a16="http://schemas.microsoft.com/office/drawing/2014/main" id="{09AC7119-4737-481D-A01D-DDBB3C57CB0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468686" y="4376387"/>
            <a:ext cx="3924946" cy="276999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nl-NL" dirty="0"/>
              <a:t>Contact </a:t>
            </a:r>
            <a:r>
              <a:rPr lang="nl-NL" dirty="0" err="1"/>
              <a:t>message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3242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4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9.xml"/><Relationship Id="rId1" Type="http://schemas.openxmlformats.org/officeDocument/2006/relationships/slideLayout" Target="../slideLayouts/slideLayout28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047162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748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E10C5-9D99-409A-A25A-807458ECBCC7}"/>
              </a:ext>
            </a:extLst>
          </p:cNvPr>
          <p:cNvSpPr/>
          <p:nvPr userDrawn="1"/>
        </p:nvSpPr>
        <p:spPr>
          <a:xfrm>
            <a:off x="-603250" y="1690688"/>
            <a:ext cx="504000" cy="28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98CA29-F882-4471-B854-5B2F343170A8}"/>
              </a:ext>
            </a:extLst>
          </p:cNvPr>
          <p:cNvSpPr/>
          <p:nvPr userDrawn="1"/>
        </p:nvSpPr>
        <p:spPr>
          <a:xfrm>
            <a:off x="-603250" y="2062626"/>
            <a:ext cx="504000" cy="28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9F36AE-EE38-41EA-8FA3-31FAB4712B9E}"/>
              </a:ext>
            </a:extLst>
          </p:cNvPr>
          <p:cNvSpPr/>
          <p:nvPr userDrawn="1"/>
        </p:nvSpPr>
        <p:spPr>
          <a:xfrm>
            <a:off x="-603250" y="2433791"/>
            <a:ext cx="504000" cy="28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8AE5BE-2313-4B86-9032-824B0009AC29}"/>
              </a:ext>
            </a:extLst>
          </p:cNvPr>
          <p:cNvSpPr/>
          <p:nvPr userDrawn="1"/>
        </p:nvSpPr>
        <p:spPr>
          <a:xfrm>
            <a:off x="-603250" y="2804956"/>
            <a:ext cx="504000" cy="28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758466-65E9-4BFA-947E-6EC2E94DAFA8}"/>
              </a:ext>
            </a:extLst>
          </p:cNvPr>
          <p:cNvSpPr/>
          <p:nvPr userDrawn="1"/>
        </p:nvSpPr>
        <p:spPr>
          <a:xfrm>
            <a:off x="-603250" y="3176121"/>
            <a:ext cx="504000" cy="28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D2A55C-6642-4F08-AA94-4FAB9C6C4BAD}"/>
              </a:ext>
            </a:extLst>
          </p:cNvPr>
          <p:cNvSpPr/>
          <p:nvPr userDrawn="1"/>
        </p:nvSpPr>
        <p:spPr>
          <a:xfrm>
            <a:off x="-603250" y="3547286"/>
            <a:ext cx="504000" cy="2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57B148-4C87-4340-BAE8-C96CF45388D5}"/>
              </a:ext>
            </a:extLst>
          </p:cNvPr>
          <p:cNvSpPr/>
          <p:nvPr userDrawn="1"/>
        </p:nvSpPr>
        <p:spPr>
          <a:xfrm>
            <a:off x="-603250" y="3918451"/>
            <a:ext cx="504000" cy="28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750F59-7D00-4414-844B-C5177B1C6A3C}"/>
              </a:ext>
            </a:extLst>
          </p:cNvPr>
          <p:cNvSpPr/>
          <p:nvPr userDrawn="1"/>
        </p:nvSpPr>
        <p:spPr>
          <a:xfrm>
            <a:off x="-603250" y="4289616"/>
            <a:ext cx="504000" cy="28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9814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64" r:id="rId7"/>
    <p:sldLayoutId id="2147483657" r:id="rId8"/>
    <p:sldLayoutId id="2147483658" r:id="rId9"/>
    <p:sldLayoutId id="2147483659" r:id="rId10"/>
    <p:sldLayoutId id="2147483685" r:id="rId11"/>
    <p:sldLayoutId id="2147483660" r:id="rId12"/>
    <p:sldLayoutId id="2147483686" r:id="rId13"/>
    <p:sldLayoutId id="2147483661" r:id="rId14"/>
    <p:sldLayoutId id="2147483688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E10C5-9D99-409A-A25A-807458ECBCC7}"/>
              </a:ext>
            </a:extLst>
          </p:cNvPr>
          <p:cNvSpPr/>
          <p:nvPr userDrawn="1"/>
        </p:nvSpPr>
        <p:spPr>
          <a:xfrm>
            <a:off x="-603250" y="1690688"/>
            <a:ext cx="504000" cy="28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98CA29-F882-4471-B854-5B2F343170A8}"/>
              </a:ext>
            </a:extLst>
          </p:cNvPr>
          <p:cNvSpPr/>
          <p:nvPr userDrawn="1"/>
        </p:nvSpPr>
        <p:spPr>
          <a:xfrm>
            <a:off x="-603250" y="2062626"/>
            <a:ext cx="504000" cy="28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9F36AE-EE38-41EA-8FA3-31FAB4712B9E}"/>
              </a:ext>
            </a:extLst>
          </p:cNvPr>
          <p:cNvSpPr/>
          <p:nvPr userDrawn="1"/>
        </p:nvSpPr>
        <p:spPr>
          <a:xfrm>
            <a:off x="-603250" y="2433791"/>
            <a:ext cx="504000" cy="28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8AE5BE-2313-4B86-9032-824B0009AC29}"/>
              </a:ext>
            </a:extLst>
          </p:cNvPr>
          <p:cNvSpPr/>
          <p:nvPr userDrawn="1"/>
        </p:nvSpPr>
        <p:spPr>
          <a:xfrm>
            <a:off x="-603250" y="2804956"/>
            <a:ext cx="504000" cy="28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758466-65E9-4BFA-947E-6EC2E94DAFA8}"/>
              </a:ext>
            </a:extLst>
          </p:cNvPr>
          <p:cNvSpPr/>
          <p:nvPr userDrawn="1"/>
        </p:nvSpPr>
        <p:spPr>
          <a:xfrm>
            <a:off x="-603250" y="3176121"/>
            <a:ext cx="504000" cy="28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D2A55C-6642-4F08-AA94-4FAB9C6C4BAD}"/>
              </a:ext>
            </a:extLst>
          </p:cNvPr>
          <p:cNvSpPr/>
          <p:nvPr userDrawn="1"/>
        </p:nvSpPr>
        <p:spPr>
          <a:xfrm>
            <a:off x="-603250" y="3547286"/>
            <a:ext cx="504000" cy="28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57B148-4C87-4340-BAE8-C96CF45388D5}"/>
              </a:ext>
            </a:extLst>
          </p:cNvPr>
          <p:cNvSpPr/>
          <p:nvPr userDrawn="1"/>
        </p:nvSpPr>
        <p:spPr>
          <a:xfrm>
            <a:off x="-603250" y="3918451"/>
            <a:ext cx="504000" cy="28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750F59-7D00-4414-844B-C5177B1C6A3C}"/>
              </a:ext>
            </a:extLst>
          </p:cNvPr>
          <p:cNvSpPr/>
          <p:nvPr userDrawn="1"/>
        </p:nvSpPr>
        <p:spPr>
          <a:xfrm>
            <a:off x="-603250" y="4289616"/>
            <a:ext cx="504000" cy="28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8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2701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4D6269-7065-42CD-B1D8-90C11460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27CA0C-E5E0-4EBE-9EE0-5DD8360C1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966532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000" indent="-288000" algn="l" defTabSz="914400" rtl="0" eaLnBrk="1" latinLnBrk="0" hangingPunct="1">
        <a:lnSpc>
          <a:spcPct val="110000"/>
        </a:lnSpc>
        <a:spcBef>
          <a:spcPts val="1000"/>
        </a:spcBef>
        <a:buSzPct val="100000"/>
        <a:buFont typeface="Wingdings" panose="05000000000000000000" pitchFamily="2" charset="2"/>
        <a:buChar char="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64000" indent="-288000" algn="l" defTabSz="914400" rtl="0" eaLnBrk="1" latinLnBrk="0" hangingPunct="1">
        <a:lnSpc>
          <a:spcPct val="110000"/>
        </a:lnSpc>
        <a:spcBef>
          <a:spcPts val="500"/>
        </a:spcBef>
        <a:buFont typeface="Verdana" panose="020B0604030504040204" pitchFamily="34" charset="0"/>
        <a:buChar char="­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4.png"/><Relationship Id="rId5" Type="http://schemas.microsoft.com/office/2007/relationships/hdphoto" Target="../media/hdphoto1.wdp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0BEBF16-1AC0-4DF9-B399-1CBFD7D4E9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i="1" dirty="0"/>
              <a:t>Week 2 </a:t>
            </a:r>
            <a:r>
              <a:rPr lang="en-GB" i="1" dirty="0" smtClean="0"/>
              <a:t>HRA2</a:t>
            </a:r>
            <a:endParaRPr lang="nl-BE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0B1887-07E4-4980-8DB4-95FA43B39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2400" dirty="0" smtClean="0"/>
              <a:t>Actually gathering data – you’ve done it before</a:t>
            </a:r>
            <a:endParaRPr lang="nl-BE" sz="2400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D94A6E5E-B1F2-42B4-9966-EF73E26729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67" r="16667"/>
          <a:stretch/>
        </p:blipFill>
        <p:spPr>
          <a:xfrm>
            <a:off x="0" y="0"/>
            <a:ext cx="6858000" cy="6858000"/>
          </a:xfrm>
        </p:spPr>
      </p:pic>
    </p:spTree>
    <p:extLst>
      <p:ext uri="{BB962C8B-B14F-4D97-AF65-F5344CB8AC3E}">
        <p14:creationId xmlns:p14="http://schemas.microsoft.com/office/powerpoint/2010/main" val="2010161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D566C35-1D1A-43E1-9312-3471326C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smtClean="0"/>
              <a:t>NUANCE!</a:t>
            </a:r>
            <a:endParaRPr lang="nl-NL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b="50964"/>
          <a:stretch/>
        </p:blipFill>
        <p:spPr>
          <a:xfrm>
            <a:off x="2267857" y="1548311"/>
            <a:ext cx="3828143" cy="112630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2057" t="47378" r="1194" b="1327"/>
          <a:stretch/>
        </p:blipFill>
        <p:spPr>
          <a:xfrm>
            <a:off x="5737860" y="1690688"/>
            <a:ext cx="3320868" cy="11781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41320" y="2612833"/>
            <a:ext cx="741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smtClean="0"/>
              <a:t>1/6</a:t>
            </a:r>
            <a:endParaRPr lang="nl-NL" dirty="0"/>
          </a:p>
        </p:txBody>
      </p:sp>
      <p:sp>
        <p:nvSpPr>
          <p:cNvPr id="6" name="TextBox 5"/>
          <p:cNvSpPr txBox="1"/>
          <p:nvPr/>
        </p:nvSpPr>
        <p:spPr>
          <a:xfrm>
            <a:off x="3927691" y="2612833"/>
            <a:ext cx="741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smtClean="0"/>
              <a:t>1/6</a:t>
            </a:r>
            <a:endParaRPr lang="nl-NL" dirty="0"/>
          </a:p>
        </p:txBody>
      </p:sp>
      <p:sp>
        <p:nvSpPr>
          <p:cNvPr id="7" name="TextBox 6"/>
          <p:cNvSpPr txBox="1"/>
          <p:nvPr/>
        </p:nvSpPr>
        <p:spPr>
          <a:xfrm>
            <a:off x="4914062" y="2612833"/>
            <a:ext cx="741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smtClean="0"/>
              <a:t>1/6</a:t>
            </a:r>
            <a:endParaRPr lang="nl-NL" dirty="0"/>
          </a:p>
        </p:txBody>
      </p:sp>
      <p:sp>
        <p:nvSpPr>
          <p:cNvPr id="8" name="TextBox 7"/>
          <p:cNvSpPr txBox="1"/>
          <p:nvPr/>
        </p:nvSpPr>
        <p:spPr>
          <a:xfrm>
            <a:off x="5988482" y="2612833"/>
            <a:ext cx="741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smtClean="0"/>
              <a:t>1/6</a:t>
            </a:r>
            <a:endParaRPr lang="nl-NL" dirty="0"/>
          </a:p>
        </p:txBody>
      </p:sp>
      <p:sp>
        <p:nvSpPr>
          <p:cNvPr id="9" name="TextBox 8"/>
          <p:cNvSpPr txBox="1"/>
          <p:nvPr/>
        </p:nvSpPr>
        <p:spPr>
          <a:xfrm>
            <a:off x="6948602" y="2612833"/>
            <a:ext cx="741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smtClean="0"/>
              <a:t>1/6</a:t>
            </a:r>
            <a:endParaRPr lang="nl-NL" dirty="0"/>
          </a:p>
        </p:txBody>
      </p:sp>
      <p:sp>
        <p:nvSpPr>
          <p:cNvPr id="10" name="TextBox 9"/>
          <p:cNvSpPr txBox="1"/>
          <p:nvPr/>
        </p:nvSpPr>
        <p:spPr>
          <a:xfrm>
            <a:off x="7908722" y="2612833"/>
            <a:ext cx="7419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smtClean="0"/>
              <a:t>1/6</a:t>
            </a:r>
            <a:endParaRPr lang="nl-NL" dirty="0"/>
          </a:p>
        </p:txBody>
      </p:sp>
      <p:sp>
        <p:nvSpPr>
          <p:cNvPr id="11" name="TextBox 10"/>
          <p:cNvSpPr txBox="1"/>
          <p:nvPr/>
        </p:nvSpPr>
        <p:spPr>
          <a:xfrm>
            <a:off x="9058728" y="2583509"/>
            <a:ext cx="2142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 smtClean="0"/>
              <a:t>[</a:t>
            </a:r>
            <a:r>
              <a:rPr lang="nl-NL" dirty="0" err="1" smtClean="0"/>
              <a:t>Added</a:t>
            </a:r>
            <a:r>
              <a:rPr lang="nl-NL" dirty="0" smtClean="0"/>
              <a:t> = 1]</a:t>
            </a:r>
            <a:endParaRPr lang="nl-NL" dirty="0"/>
          </a:p>
        </p:txBody>
      </p:sp>
      <p:sp>
        <p:nvSpPr>
          <p:cNvPr id="12" name="TextBox 11"/>
          <p:cNvSpPr txBox="1"/>
          <p:nvPr/>
        </p:nvSpPr>
        <p:spPr>
          <a:xfrm>
            <a:off x="2941320" y="315078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1*1/6</a:t>
            </a:r>
            <a:endParaRPr lang="nl-NL" dirty="0"/>
          </a:p>
        </p:txBody>
      </p:sp>
      <p:sp>
        <p:nvSpPr>
          <p:cNvPr id="13" name="TextBox 12"/>
          <p:cNvSpPr txBox="1"/>
          <p:nvPr/>
        </p:nvSpPr>
        <p:spPr>
          <a:xfrm>
            <a:off x="3927691" y="315078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2*1/6</a:t>
            </a:r>
            <a:endParaRPr lang="nl-NL" dirty="0"/>
          </a:p>
        </p:txBody>
      </p:sp>
      <p:sp>
        <p:nvSpPr>
          <p:cNvPr id="14" name="TextBox 13"/>
          <p:cNvSpPr txBox="1"/>
          <p:nvPr/>
        </p:nvSpPr>
        <p:spPr>
          <a:xfrm>
            <a:off x="4914062" y="315078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3*1/6</a:t>
            </a:r>
            <a:endParaRPr lang="nl-NL" dirty="0"/>
          </a:p>
        </p:txBody>
      </p:sp>
      <p:sp>
        <p:nvSpPr>
          <p:cNvPr id="15" name="TextBox 14"/>
          <p:cNvSpPr txBox="1"/>
          <p:nvPr/>
        </p:nvSpPr>
        <p:spPr>
          <a:xfrm>
            <a:off x="5988482" y="315078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4*1/6</a:t>
            </a:r>
            <a:endParaRPr lang="nl-NL" dirty="0"/>
          </a:p>
        </p:txBody>
      </p:sp>
      <p:sp>
        <p:nvSpPr>
          <p:cNvPr id="16" name="TextBox 15"/>
          <p:cNvSpPr txBox="1"/>
          <p:nvPr/>
        </p:nvSpPr>
        <p:spPr>
          <a:xfrm>
            <a:off x="6948602" y="315078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5*1/6</a:t>
            </a:r>
            <a:endParaRPr lang="nl-NL" dirty="0"/>
          </a:p>
        </p:txBody>
      </p:sp>
      <p:sp>
        <p:nvSpPr>
          <p:cNvPr id="17" name="TextBox 16"/>
          <p:cNvSpPr txBox="1"/>
          <p:nvPr/>
        </p:nvSpPr>
        <p:spPr>
          <a:xfrm>
            <a:off x="7908722" y="315078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6*1/6</a:t>
            </a:r>
            <a:endParaRPr lang="nl-NL" dirty="0"/>
          </a:p>
        </p:txBody>
      </p:sp>
      <p:sp>
        <p:nvSpPr>
          <p:cNvPr id="20" name="Cross 19"/>
          <p:cNvSpPr/>
          <p:nvPr/>
        </p:nvSpPr>
        <p:spPr>
          <a:xfrm>
            <a:off x="3712708" y="3240198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1" name="Cross 20"/>
          <p:cNvSpPr/>
          <p:nvPr/>
        </p:nvSpPr>
        <p:spPr>
          <a:xfrm>
            <a:off x="4658053" y="3240198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2" name="Cross 21"/>
          <p:cNvSpPr/>
          <p:nvPr/>
        </p:nvSpPr>
        <p:spPr>
          <a:xfrm>
            <a:off x="5737860" y="3240198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Cross 22"/>
          <p:cNvSpPr/>
          <p:nvPr/>
        </p:nvSpPr>
        <p:spPr>
          <a:xfrm>
            <a:off x="6791280" y="3240198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Cross 23"/>
          <p:cNvSpPr/>
          <p:nvPr/>
        </p:nvSpPr>
        <p:spPr>
          <a:xfrm>
            <a:off x="7752466" y="3240198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5" name="TextBox 24"/>
          <p:cNvSpPr txBox="1"/>
          <p:nvPr/>
        </p:nvSpPr>
        <p:spPr>
          <a:xfrm rot="19993764">
            <a:off x="717758" y="2215604"/>
            <a:ext cx="1351637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nl-NL" sz="2000" dirty="0" smtClean="0"/>
              <a:t>Data </a:t>
            </a:r>
            <a:r>
              <a:rPr lang="nl-NL" sz="2000" dirty="0" err="1" smtClean="0"/>
              <a:t>generating</a:t>
            </a:r>
            <a:r>
              <a:rPr lang="nl-NL" sz="2000" dirty="0" smtClean="0"/>
              <a:t> </a:t>
            </a:r>
            <a:r>
              <a:rPr lang="nl-NL" sz="2000" dirty="0" err="1" smtClean="0"/>
              <a:t>process</a:t>
            </a:r>
            <a:endParaRPr lang="nl-NL" sz="2000" dirty="0"/>
          </a:p>
        </p:txBody>
      </p:sp>
      <p:cxnSp>
        <p:nvCxnSpPr>
          <p:cNvPr id="27" name="Elbow Connector 26"/>
          <p:cNvCxnSpPr>
            <a:stCxn id="25" idx="3"/>
            <a:endCxn id="2" idx="1"/>
          </p:cNvCxnSpPr>
          <p:nvPr/>
        </p:nvCxnSpPr>
        <p:spPr>
          <a:xfrm flipV="1">
            <a:off x="1996959" y="2111466"/>
            <a:ext cx="270898" cy="30756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24856" y="3150782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= 3.5</a:t>
            </a:r>
            <a:endParaRPr lang="nl-NL" dirty="0"/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 rotWithShape="1">
          <a:blip r:embed="rId2"/>
          <a:srcRect b="50964"/>
          <a:stretch/>
        </p:blipFill>
        <p:spPr>
          <a:xfrm>
            <a:off x="1983660" y="3905391"/>
            <a:ext cx="3828143" cy="1126309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 rotWithShape="1">
          <a:blip r:embed="rId2"/>
          <a:srcRect l="12057" t="47378" r="1194" b="1327"/>
          <a:stretch/>
        </p:blipFill>
        <p:spPr>
          <a:xfrm>
            <a:off x="5453663" y="4047768"/>
            <a:ext cx="3320868" cy="117819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57123" y="5086521"/>
            <a:ext cx="508473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nl-NL" dirty="0" smtClean="0"/>
              <a:t>1/2</a:t>
            </a:r>
            <a:endParaRPr lang="nl-NL" dirty="0"/>
          </a:p>
        </p:txBody>
      </p:sp>
      <p:sp>
        <p:nvSpPr>
          <p:cNvPr id="41" name="TextBox 40"/>
          <p:cNvSpPr txBox="1"/>
          <p:nvPr/>
        </p:nvSpPr>
        <p:spPr>
          <a:xfrm>
            <a:off x="3643494" y="5086521"/>
            <a:ext cx="625492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nl-NL" dirty="0" smtClean="0"/>
              <a:t>1/10</a:t>
            </a:r>
            <a:endParaRPr lang="nl-NL" dirty="0"/>
          </a:p>
        </p:txBody>
      </p:sp>
      <p:sp>
        <p:nvSpPr>
          <p:cNvPr id="42" name="TextBox 41"/>
          <p:cNvSpPr txBox="1"/>
          <p:nvPr/>
        </p:nvSpPr>
        <p:spPr>
          <a:xfrm>
            <a:off x="4629865" y="5086521"/>
            <a:ext cx="625492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nl-NL" dirty="0" smtClean="0"/>
              <a:t>1/10</a:t>
            </a:r>
            <a:endParaRPr lang="nl-NL" dirty="0"/>
          </a:p>
        </p:txBody>
      </p:sp>
      <p:sp>
        <p:nvSpPr>
          <p:cNvPr id="44" name="TextBox 43"/>
          <p:cNvSpPr txBox="1"/>
          <p:nvPr/>
        </p:nvSpPr>
        <p:spPr>
          <a:xfrm>
            <a:off x="5704285" y="5086521"/>
            <a:ext cx="625492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nl-NL" dirty="0" smtClean="0"/>
              <a:t>1/10</a:t>
            </a:r>
            <a:endParaRPr lang="nl-NL" dirty="0"/>
          </a:p>
        </p:txBody>
      </p:sp>
      <p:sp>
        <p:nvSpPr>
          <p:cNvPr id="45" name="TextBox 44"/>
          <p:cNvSpPr txBox="1"/>
          <p:nvPr/>
        </p:nvSpPr>
        <p:spPr>
          <a:xfrm>
            <a:off x="6664405" y="5086521"/>
            <a:ext cx="625492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nl-NL" dirty="0" smtClean="0"/>
              <a:t>1/10</a:t>
            </a:r>
            <a:endParaRPr lang="nl-NL" dirty="0"/>
          </a:p>
        </p:txBody>
      </p:sp>
      <p:sp>
        <p:nvSpPr>
          <p:cNvPr id="46" name="TextBox 45"/>
          <p:cNvSpPr txBox="1"/>
          <p:nvPr/>
        </p:nvSpPr>
        <p:spPr>
          <a:xfrm>
            <a:off x="7624525" y="5086521"/>
            <a:ext cx="625492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nl-NL" dirty="0" smtClean="0"/>
              <a:t>1/10</a:t>
            </a:r>
            <a:endParaRPr lang="nl-NL" dirty="0"/>
          </a:p>
        </p:txBody>
      </p:sp>
      <p:sp>
        <p:nvSpPr>
          <p:cNvPr id="47" name="TextBox 46"/>
          <p:cNvSpPr txBox="1"/>
          <p:nvPr/>
        </p:nvSpPr>
        <p:spPr>
          <a:xfrm>
            <a:off x="8774531" y="5086521"/>
            <a:ext cx="2142672" cy="3693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nl-NL" dirty="0" smtClean="0"/>
              <a:t>[</a:t>
            </a:r>
            <a:r>
              <a:rPr lang="nl-NL" dirty="0" err="1" smtClean="0"/>
              <a:t>Added</a:t>
            </a:r>
            <a:r>
              <a:rPr lang="nl-NL" dirty="0" smtClean="0"/>
              <a:t> = 1]</a:t>
            </a:r>
            <a:endParaRPr lang="nl-NL" dirty="0"/>
          </a:p>
        </p:txBody>
      </p:sp>
      <p:sp>
        <p:nvSpPr>
          <p:cNvPr id="48" name="TextBox 47"/>
          <p:cNvSpPr txBox="1"/>
          <p:nvPr/>
        </p:nvSpPr>
        <p:spPr>
          <a:xfrm>
            <a:off x="2657123" y="5426036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1*1/2</a:t>
            </a:r>
            <a:endParaRPr lang="nl-NL" dirty="0"/>
          </a:p>
        </p:txBody>
      </p:sp>
      <p:sp>
        <p:nvSpPr>
          <p:cNvPr id="49" name="TextBox 48"/>
          <p:cNvSpPr txBox="1"/>
          <p:nvPr/>
        </p:nvSpPr>
        <p:spPr>
          <a:xfrm>
            <a:off x="3578237" y="5426036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2*1/10</a:t>
            </a:r>
            <a:endParaRPr lang="nl-NL" dirty="0"/>
          </a:p>
        </p:txBody>
      </p:sp>
      <p:sp>
        <p:nvSpPr>
          <p:cNvPr id="50" name="TextBox 49"/>
          <p:cNvSpPr txBox="1"/>
          <p:nvPr/>
        </p:nvSpPr>
        <p:spPr>
          <a:xfrm>
            <a:off x="4629865" y="5426036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3*1/10</a:t>
            </a:r>
            <a:endParaRPr lang="nl-NL" dirty="0"/>
          </a:p>
        </p:txBody>
      </p:sp>
      <p:sp>
        <p:nvSpPr>
          <p:cNvPr id="51" name="TextBox 50"/>
          <p:cNvSpPr txBox="1"/>
          <p:nvPr/>
        </p:nvSpPr>
        <p:spPr>
          <a:xfrm>
            <a:off x="5704285" y="5426036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4*1/10</a:t>
            </a:r>
            <a:endParaRPr lang="nl-NL" dirty="0"/>
          </a:p>
        </p:txBody>
      </p:sp>
      <p:sp>
        <p:nvSpPr>
          <p:cNvPr id="52" name="TextBox 51"/>
          <p:cNvSpPr txBox="1"/>
          <p:nvPr/>
        </p:nvSpPr>
        <p:spPr>
          <a:xfrm>
            <a:off x="6664405" y="5426036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5*1/10</a:t>
            </a:r>
            <a:endParaRPr lang="nl-NL" dirty="0"/>
          </a:p>
        </p:txBody>
      </p:sp>
      <p:sp>
        <p:nvSpPr>
          <p:cNvPr id="53" name="TextBox 52"/>
          <p:cNvSpPr txBox="1"/>
          <p:nvPr/>
        </p:nvSpPr>
        <p:spPr>
          <a:xfrm>
            <a:off x="7624525" y="5426036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6*1/10</a:t>
            </a:r>
            <a:endParaRPr lang="nl-NL" dirty="0"/>
          </a:p>
        </p:txBody>
      </p:sp>
      <p:sp>
        <p:nvSpPr>
          <p:cNvPr id="54" name="Cross 53"/>
          <p:cNvSpPr/>
          <p:nvPr/>
        </p:nvSpPr>
        <p:spPr>
          <a:xfrm>
            <a:off x="3428511" y="5515452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5" name="Cross 54"/>
          <p:cNvSpPr/>
          <p:nvPr/>
        </p:nvSpPr>
        <p:spPr>
          <a:xfrm>
            <a:off x="4373856" y="5515452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6" name="Cross 55"/>
          <p:cNvSpPr/>
          <p:nvPr/>
        </p:nvSpPr>
        <p:spPr>
          <a:xfrm>
            <a:off x="5453663" y="5515452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7" name="Cross 56"/>
          <p:cNvSpPr/>
          <p:nvPr/>
        </p:nvSpPr>
        <p:spPr>
          <a:xfrm>
            <a:off x="6507083" y="5515452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8" name="Cross 57"/>
          <p:cNvSpPr/>
          <p:nvPr/>
        </p:nvSpPr>
        <p:spPr>
          <a:xfrm>
            <a:off x="7468269" y="5515452"/>
            <a:ext cx="188732" cy="190500"/>
          </a:xfrm>
          <a:prstGeom prst="plus">
            <a:avLst>
              <a:gd name="adj" fmla="val 49225"/>
            </a:avLst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9" name="TextBox 58"/>
          <p:cNvSpPr txBox="1"/>
          <p:nvPr/>
        </p:nvSpPr>
        <p:spPr>
          <a:xfrm rot="19993764">
            <a:off x="433561" y="4572684"/>
            <a:ext cx="1351637" cy="101566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nl-NL" sz="2000" dirty="0" smtClean="0"/>
              <a:t>Data </a:t>
            </a:r>
            <a:r>
              <a:rPr lang="nl-NL" sz="2000" dirty="0" err="1" smtClean="0"/>
              <a:t>generating</a:t>
            </a:r>
            <a:r>
              <a:rPr lang="nl-NL" sz="2000" dirty="0" smtClean="0"/>
              <a:t> </a:t>
            </a:r>
            <a:r>
              <a:rPr lang="nl-NL" sz="2000" dirty="0" err="1" smtClean="0"/>
              <a:t>process</a:t>
            </a:r>
            <a:endParaRPr lang="nl-NL" sz="2000" dirty="0"/>
          </a:p>
        </p:txBody>
      </p:sp>
      <p:cxnSp>
        <p:nvCxnSpPr>
          <p:cNvPr id="60" name="Elbow Connector 59"/>
          <p:cNvCxnSpPr>
            <a:stCxn id="59" idx="3"/>
          </p:cNvCxnSpPr>
          <p:nvPr/>
        </p:nvCxnSpPr>
        <p:spPr>
          <a:xfrm flipV="1">
            <a:off x="1712762" y="4468545"/>
            <a:ext cx="568393" cy="30756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</p:cxnSp>
      <p:sp>
        <p:nvSpPr>
          <p:cNvPr id="62" name="TextBox 61"/>
          <p:cNvSpPr txBox="1"/>
          <p:nvPr/>
        </p:nvSpPr>
        <p:spPr>
          <a:xfrm>
            <a:off x="8840659" y="542603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/>
              <a:t>= 2.5</a:t>
            </a:r>
            <a:endParaRPr lang="nl-NL" dirty="0"/>
          </a:p>
        </p:txBody>
      </p:sp>
      <p:sp>
        <p:nvSpPr>
          <p:cNvPr id="63" name="Rectangle 62"/>
          <p:cNvSpPr/>
          <p:nvPr/>
        </p:nvSpPr>
        <p:spPr>
          <a:xfrm>
            <a:off x="2281155" y="1680449"/>
            <a:ext cx="8459170" cy="137260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4" name="Rectangle 63"/>
          <p:cNvSpPr/>
          <p:nvPr/>
        </p:nvSpPr>
        <p:spPr>
          <a:xfrm>
            <a:off x="2281155" y="4020918"/>
            <a:ext cx="8459170" cy="1405118"/>
          </a:xfrm>
          <a:prstGeom prst="rec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26" name="Straight Connector 25"/>
          <p:cNvCxnSpPr/>
          <p:nvPr/>
        </p:nvCxnSpPr>
        <p:spPr>
          <a:xfrm flipV="1">
            <a:off x="0" y="3714514"/>
            <a:ext cx="12192000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197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43" grpId="0"/>
      <p:bldP spid="37" grpId="0" animBg="1"/>
      <p:bldP spid="41" grpId="0" animBg="1"/>
      <p:bldP spid="42" grpId="0" animBg="1"/>
      <p:bldP spid="44" grpId="0" animBg="1"/>
      <p:bldP spid="45" grpId="0" animBg="1"/>
      <p:bldP spid="46" grpId="0" animBg="1"/>
      <p:bldP spid="47" grpId="0" animBg="1"/>
      <p:bldP spid="48" grpId="0"/>
      <p:bldP spid="49" grpId="0"/>
      <p:bldP spid="50" grpId="0"/>
      <p:bldP spid="51" grpId="0"/>
      <p:bldP spid="52" grpId="0"/>
      <p:bldP spid="53" grpId="0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2" grpId="0"/>
      <p:bldP spid="63" grpId="0" animBg="1"/>
      <p:bldP spid="6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smtClean="0"/>
              <a:t>Data </a:t>
            </a:r>
            <a:r>
              <a:rPr lang="nl-NL" dirty="0" err="1" smtClean="0"/>
              <a:t>collection</a:t>
            </a:r>
            <a:r>
              <a:rPr lang="nl-NL" dirty="0"/>
              <a:t> </a:t>
            </a:r>
            <a:r>
              <a:rPr lang="nl-NL" dirty="0" err="1" smtClean="0"/>
              <a:t>choices</a:t>
            </a:r>
            <a:r>
              <a:rPr lang="nl-NL" dirty="0" smtClean="0"/>
              <a:t> </a:t>
            </a:r>
            <a:r>
              <a:rPr lang="nl-NL" dirty="0" err="1" smtClean="0"/>
              <a:t>and</a:t>
            </a:r>
            <a:r>
              <a:rPr lang="nl-NL" dirty="0" smtClean="0"/>
              <a:t> </a:t>
            </a:r>
            <a:r>
              <a:rPr lang="nl-NL" dirty="0" err="1" smtClean="0"/>
              <a:t>measurements</a:t>
            </a:r>
            <a:r>
              <a:rPr lang="nl-NL" dirty="0" smtClean="0"/>
              <a:t>: research design</a:t>
            </a:r>
            <a:endParaRPr lang="nl-NL" dirty="0"/>
          </a:p>
        </p:txBody>
      </p:sp>
      <p:pic>
        <p:nvPicPr>
          <p:cNvPr id="1026" name="Picture 2" descr="Group Of People Icon Vector Art, Icons, and Graphics for Free Download"/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6326" y="3141131"/>
            <a:ext cx="1440000" cy="14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Group Of People Icon Vector Art, Icons, and Graphics for Free Download"/>
          <p:cNvPicPr>
            <a:picLocks noChangeAspect="1" noChangeArrowheads="1"/>
          </p:cNvPicPr>
          <p:nvPr/>
        </p:nvPicPr>
        <p:blipFill>
          <a:blip r:embed="rId3" cstate="screen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9677" y="2883545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Group Of People Icon Vector Art, Icons, and Graphics for Free Download"/>
          <p:cNvPicPr>
            <a:picLocks noChangeAspect="1" noChangeArrowheads="1"/>
          </p:cNvPicPr>
          <p:nvPr/>
        </p:nvPicPr>
        <p:blipFill>
          <a:blip r:embed="rId3" cstate="screen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699" y="3861131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Group Of People Icon Vector Art, Icons, and Graphics for Free Download"/>
          <p:cNvPicPr>
            <a:picLocks noChangeAspect="1" noChangeArrowheads="1"/>
          </p:cNvPicPr>
          <p:nvPr/>
        </p:nvPicPr>
        <p:blipFill>
          <a:blip r:embed="rId3" cstate="screen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0836" y="3423545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Group Of People Icon Vector Art, Icons, and Graphics for Free Download"/>
          <p:cNvPicPr>
            <a:picLocks noChangeAspect="1" noChangeArrowheads="1"/>
          </p:cNvPicPr>
          <p:nvPr/>
        </p:nvPicPr>
        <p:blipFill>
          <a:blip r:embed="rId3" cstate="screen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750" y="2509158"/>
            <a:ext cx="1080000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0344832" y="3735354"/>
            <a:ext cx="1100029" cy="40011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nl-NL" sz="2000" dirty="0" smtClean="0"/>
              <a:t>H</a:t>
            </a:r>
            <a:r>
              <a:rPr lang="nl-NL" sz="2000" baseline="-25000" dirty="0" smtClean="0"/>
              <a:t>0</a:t>
            </a:r>
            <a:r>
              <a:rPr lang="nl-NL" sz="2000" dirty="0" smtClean="0"/>
              <a:t>  or H</a:t>
            </a:r>
            <a:r>
              <a:rPr lang="nl-NL" sz="2000" baseline="-25000" dirty="0" smtClean="0"/>
              <a:t>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96149" y="3767641"/>
            <a:ext cx="922778" cy="364385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ight Arrow 11"/>
          <p:cNvSpPr/>
          <p:nvPr/>
        </p:nvSpPr>
        <p:spPr>
          <a:xfrm>
            <a:off x="9210166" y="3781353"/>
            <a:ext cx="922778" cy="364385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TextBox 10"/>
          <p:cNvSpPr txBox="1"/>
          <p:nvPr/>
        </p:nvSpPr>
        <p:spPr>
          <a:xfrm>
            <a:off x="8741856" y="2320560"/>
            <a:ext cx="1926618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nl-NL" dirty="0" err="1" smtClean="0">
                <a:solidFill>
                  <a:schemeClr val="accent1"/>
                </a:solidFill>
              </a:rPr>
              <a:t>Statistics</a:t>
            </a:r>
            <a:r>
              <a:rPr lang="nl-NL" dirty="0" smtClean="0">
                <a:solidFill>
                  <a:schemeClr val="accent1"/>
                </a:solidFill>
              </a:rPr>
              <a:t>:</a:t>
            </a:r>
          </a:p>
          <a:p>
            <a:r>
              <a:rPr lang="nl-NL" dirty="0" smtClean="0">
                <a:solidFill>
                  <a:schemeClr val="accent1"/>
                </a:solidFill>
              </a:rPr>
              <a:t>Type I </a:t>
            </a:r>
            <a:r>
              <a:rPr lang="nl-NL" dirty="0" err="1" smtClean="0">
                <a:solidFill>
                  <a:schemeClr val="accent1"/>
                </a:solidFill>
              </a:rPr>
              <a:t>and</a:t>
            </a:r>
            <a:r>
              <a:rPr lang="nl-NL" dirty="0" smtClean="0">
                <a:solidFill>
                  <a:schemeClr val="accent1"/>
                </a:solidFill>
              </a:rPr>
              <a:t> II </a:t>
            </a:r>
            <a:r>
              <a:rPr lang="nl-NL" dirty="0" err="1" smtClean="0">
                <a:solidFill>
                  <a:schemeClr val="accent1"/>
                </a:solidFill>
              </a:rPr>
              <a:t>errors</a:t>
            </a:r>
            <a:endParaRPr lang="nl-NL" dirty="0">
              <a:solidFill>
                <a:schemeClr val="accent1"/>
              </a:solidFill>
            </a:endParaRPr>
          </a:p>
        </p:txBody>
      </p:sp>
      <p:cxnSp>
        <p:nvCxnSpPr>
          <p:cNvPr id="14" name="Elbow Connector 13"/>
          <p:cNvCxnSpPr/>
          <p:nvPr/>
        </p:nvCxnSpPr>
        <p:spPr>
          <a:xfrm rot="16200000" flipH="1">
            <a:off x="9066987" y="3229145"/>
            <a:ext cx="918261" cy="39375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Dice Icon Vector Art, Icons, and Graphics for Free Download"/>
          <p:cNvPicPr>
            <a:picLocks noChangeAspect="1" noChangeArrowheads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66" y="3310025"/>
            <a:ext cx="2136957" cy="127961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</p:pic>
      <p:sp>
        <p:nvSpPr>
          <p:cNvPr id="17" name="Right Arrow 16"/>
          <p:cNvSpPr/>
          <p:nvPr/>
        </p:nvSpPr>
        <p:spPr>
          <a:xfrm>
            <a:off x="2452291" y="3796336"/>
            <a:ext cx="922778" cy="364385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TextBox 14"/>
          <p:cNvSpPr txBox="1"/>
          <p:nvPr/>
        </p:nvSpPr>
        <p:spPr>
          <a:xfrm>
            <a:off x="967658" y="2182060"/>
            <a:ext cx="1227772" cy="9233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nl-NL" i="1" dirty="0" smtClean="0">
                <a:solidFill>
                  <a:schemeClr val="accent4"/>
                </a:solidFill>
              </a:rPr>
              <a:t>Data</a:t>
            </a:r>
          </a:p>
          <a:p>
            <a:r>
              <a:rPr lang="nl-NL" i="1" dirty="0" smtClean="0">
                <a:solidFill>
                  <a:schemeClr val="accent4"/>
                </a:solidFill>
              </a:rPr>
              <a:t>Generating</a:t>
            </a:r>
          </a:p>
          <a:p>
            <a:r>
              <a:rPr lang="nl-NL" i="1" dirty="0" err="1" smtClean="0">
                <a:solidFill>
                  <a:schemeClr val="accent4"/>
                </a:solidFill>
              </a:rPr>
              <a:t>Process</a:t>
            </a:r>
            <a:endParaRPr lang="nl-NL" i="1" dirty="0">
              <a:solidFill>
                <a:schemeClr val="accent4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3527863" y="2182060"/>
            <a:ext cx="0" cy="3998734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744593" y="5022854"/>
            <a:ext cx="2525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smtClean="0">
                <a:solidFill>
                  <a:schemeClr val="accent3"/>
                </a:solidFill>
              </a:rPr>
              <a:t>General </a:t>
            </a:r>
            <a:r>
              <a:rPr lang="nl-NL" dirty="0" err="1" smtClean="0">
                <a:solidFill>
                  <a:schemeClr val="accent3"/>
                </a:solidFill>
              </a:rPr>
              <a:t>population</a:t>
            </a:r>
            <a:r>
              <a:rPr lang="nl-NL" dirty="0" smtClean="0">
                <a:solidFill>
                  <a:schemeClr val="accent3"/>
                </a:solidFill>
              </a:rPr>
              <a:t>:</a:t>
            </a:r>
          </a:p>
          <a:p>
            <a:r>
              <a:rPr lang="nl-NL" dirty="0" err="1" smtClean="0">
                <a:solidFill>
                  <a:schemeClr val="accent3"/>
                </a:solidFill>
              </a:rPr>
              <a:t>all</a:t>
            </a:r>
            <a:r>
              <a:rPr lang="nl-NL" dirty="0" smtClean="0">
                <a:solidFill>
                  <a:schemeClr val="accent3"/>
                </a:solidFill>
              </a:rPr>
              <a:t> </a:t>
            </a:r>
            <a:r>
              <a:rPr lang="nl-NL" dirty="0" err="1" smtClean="0">
                <a:solidFill>
                  <a:schemeClr val="accent3"/>
                </a:solidFill>
              </a:rPr>
              <a:t>observations</a:t>
            </a:r>
            <a:r>
              <a:rPr lang="nl-NL" dirty="0" smtClean="0">
                <a:solidFill>
                  <a:schemeClr val="accent3"/>
                </a:solidFill>
              </a:rPr>
              <a:t> </a:t>
            </a:r>
            <a:r>
              <a:rPr lang="nl-NL" dirty="0" err="1" smtClean="0">
                <a:solidFill>
                  <a:schemeClr val="accent3"/>
                </a:solidFill>
              </a:rPr>
              <a:t>possible</a:t>
            </a:r>
            <a:endParaRPr lang="nl-NL" dirty="0">
              <a:solidFill>
                <a:schemeClr val="accent3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026483" y="5161353"/>
            <a:ext cx="2359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 smtClean="0">
                <a:solidFill>
                  <a:schemeClr val="accent3"/>
                </a:solidFill>
              </a:rPr>
              <a:t>Your</a:t>
            </a:r>
            <a:r>
              <a:rPr lang="nl-NL" dirty="0" smtClean="0">
                <a:solidFill>
                  <a:schemeClr val="accent3"/>
                </a:solidFill>
              </a:rPr>
              <a:t> data/</a:t>
            </a:r>
            <a:r>
              <a:rPr lang="nl-NL" dirty="0" err="1" smtClean="0">
                <a:solidFill>
                  <a:schemeClr val="accent3"/>
                </a:solidFill>
              </a:rPr>
              <a:t>observations</a:t>
            </a:r>
            <a:endParaRPr lang="nl-NL" dirty="0">
              <a:solidFill>
                <a:schemeClr val="accent3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784540" y="1498521"/>
            <a:ext cx="2296503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nl-NL" dirty="0" err="1" smtClean="0">
                <a:solidFill>
                  <a:schemeClr val="accent1"/>
                </a:solidFill>
              </a:rPr>
              <a:t>Choices</a:t>
            </a:r>
            <a:r>
              <a:rPr lang="nl-NL" dirty="0">
                <a:solidFill>
                  <a:schemeClr val="accent1"/>
                </a:solidFill>
              </a:rPr>
              <a:t> </a:t>
            </a:r>
            <a:r>
              <a:rPr lang="nl-NL" dirty="0" smtClean="0">
                <a:solidFill>
                  <a:schemeClr val="accent1"/>
                </a:solidFill>
              </a:rPr>
              <a:t>on data </a:t>
            </a:r>
            <a:r>
              <a:rPr lang="nl-NL" dirty="0" err="1" smtClean="0">
                <a:solidFill>
                  <a:schemeClr val="accent1"/>
                </a:solidFill>
              </a:rPr>
              <a:t>collection</a:t>
            </a:r>
            <a:r>
              <a:rPr lang="nl-NL" dirty="0">
                <a:solidFill>
                  <a:schemeClr val="accent1"/>
                </a:solidFill>
              </a:rPr>
              <a:t> </a:t>
            </a:r>
            <a:r>
              <a:rPr lang="nl-NL" dirty="0" err="1" smtClean="0">
                <a:solidFill>
                  <a:schemeClr val="accent1"/>
                </a:solidFill>
              </a:rPr>
              <a:t>and</a:t>
            </a:r>
            <a:r>
              <a:rPr lang="nl-NL" dirty="0" smtClean="0">
                <a:solidFill>
                  <a:schemeClr val="accent1"/>
                </a:solidFill>
              </a:rPr>
              <a:t> </a:t>
            </a:r>
            <a:r>
              <a:rPr lang="nl-NL" dirty="0" err="1" smtClean="0">
                <a:solidFill>
                  <a:schemeClr val="accent1"/>
                </a:solidFill>
              </a:rPr>
              <a:t>measurement</a:t>
            </a:r>
            <a:r>
              <a:rPr lang="nl-NL" dirty="0" smtClean="0">
                <a:solidFill>
                  <a:schemeClr val="accent1"/>
                </a:solidFill>
              </a:rPr>
              <a:t>:</a:t>
            </a:r>
          </a:p>
          <a:p>
            <a:r>
              <a:rPr lang="nl-NL" dirty="0" smtClean="0">
                <a:solidFill>
                  <a:schemeClr val="accent1"/>
                </a:solidFill>
              </a:rPr>
              <a:t>sampling, </a:t>
            </a:r>
            <a:r>
              <a:rPr lang="nl-NL" dirty="0" err="1" smtClean="0">
                <a:solidFill>
                  <a:schemeClr val="accent1"/>
                </a:solidFill>
              </a:rPr>
              <a:t>validity</a:t>
            </a:r>
            <a:r>
              <a:rPr lang="nl-NL" dirty="0" smtClean="0">
                <a:solidFill>
                  <a:schemeClr val="accent1"/>
                </a:solidFill>
              </a:rPr>
              <a:t> </a:t>
            </a:r>
            <a:r>
              <a:rPr lang="nl-NL" dirty="0" err="1" smtClean="0">
                <a:solidFill>
                  <a:schemeClr val="accent1"/>
                </a:solidFill>
              </a:rPr>
              <a:t>and</a:t>
            </a:r>
            <a:r>
              <a:rPr lang="nl-NL" dirty="0" smtClean="0">
                <a:solidFill>
                  <a:schemeClr val="accent1"/>
                </a:solidFill>
              </a:rPr>
              <a:t> </a:t>
            </a:r>
            <a:r>
              <a:rPr lang="nl-NL" dirty="0" err="1" smtClean="0">
                <a:solidFill>
                  <a:schemeClr val="accent1"/>
                </a:solidFill>
              </a:rPr>
              <a:t>reliability</a:t>
            </a:r>
            <a:endParaRPr lang="nl-NL" dirty="0">
              <a:solidFill>
                <a:schemeClr val="accent1"/>
              </a:solidFill>
            </a:endParaRPr>
          </a:p>
        </p:txBody>
      </p:sp>
      <p:cxnSp>
        <p:nvCxnSpPr>
          <p:cNvPr id="25" name="Elbow Connector 24"/>
          <p:cNvCxnSpPr/>
          <p:nvPr/>
        </p:nvCxnSpPr>
        <p:spPr>
          <a:xfrm rot="16200000" flipH="1">
            <a:off x="5971614" y="3229145"/>
            <a:ext cx="918261" cy="39375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>
            <a:stCxn id="24" idx="3"/>
            <a:endCxn id="11" idx="1"/>
          </p:cNvCxnSpPr>
          <p:nvPr/>
        </p:nvCxnSpPr>
        <p:spPr>
          <a:xfrm>
            <a:off x="8081043" y="2237185"/>
            <a:ext cx="660813" cy="40654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Measurement Icons - Free SVG &amp; PNG Measurement Images - Noun ..."/>
          <p:cNvPicPr>
            <a:picLocks noChangeAspect="1" noChangeArrowheads="1"/>
          </p:cNvPicPr>
          <p:nvPr/>
        </p:nvPicPr>
        <p:blipFill>
          <a:blip r:embed="rId6" cstate="screen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8696" y="4021880"/>
            <a:ext cx="963330" cy="96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 descr="Measurement Icons - Free SVG &amp; PNG Measurement Images - Noun ..."/>
          <p:cNvPicPr>
            <a:picLocks noChangeAspect="1" noChangeArrowheads="1"/>
          </p:cNvPicPr>
          <p:nvPr/>
        </p:nvPicPr>
        <p:blipFill>
          <a:blip r:embed="rId6" cstate="screen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6325" y="4021880"/>
            <a:ext cx="963330" cy="96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ectangle 25"/>
          <p:cNvSpPr/>
          <p:nvPr/>
        </p:nvSpPr>
        <p:spPr>
          <a:xfrm>
            <a:off x="5136740" y="4021880"/>
            <a:ext cx="963330" cy="96333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8" name="Rectangle 27"/>
          <p:cNvSpPr/>
          <p:nvPr/>
        </p:nvSpPr>
        <p:spPr>
          <a:xfrm>
            <a:off x="8206325" y="4021880"/>
            <a:ext cx="963330" cy="96333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60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10" grpId="0" animBg="1"/>
      <p:bldP spid="12" grpId="0" animBg="1"/>
      <p:bldP spid="11" grpId="0" animBg="1"/>
      <p:bldP spid="17" grpId="0" animBg="1"/>
      <p:bldP spid="15" grpId="0" animBg="1"/>
      <p:bldP spid="19" grpId="0"/>
      <p:bldP spid="22" grpId="0"/>
      <p:bldP spid="24" grpId="0" animBg="1"/>
      <p:bldP spid="26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 smtClean="0"/>
              <a:t>Recap</a:t>
            </a:r>
            <a:r>
              <a:rPr lang="nl-NL" dirty="0" smtClean="0"/>
              <a:t>: </a:t>
            </a:r>
            <a:r>
              <a:rPr lang="nl-NL" dirty="0" err="1" smtClean="0"/>
              <a:t>Validity</a:t>
            </a:r>
            <a:r>
              <a:rPr lang="nl-NL" dirty="0" smtClean="0"/>
              <a:t> </a:t>
            </a:r>
            <a:r>
              <a:rPr lang="nl-NL" dirty="0" err="1" smtClean="0"/>
              <a:t>and</a:t>
            </a:r>
            <a:r>
              <a:rPr lang="nl-NL" dirty="0" smtClean="0"/>
              <a:t> </a:t>
            </a:r>
            <a:r>
              <a:rPr lang="nl-NL" dirty="0" err="1" smtClean="0"/>
              <a:t>Reliability</a:t>
            </a:r>
            <a:endParaRPr lang="nl-NL" dirty="0"/>
          </a:p>
        </p:txBody>
      </p:sp>
      <p:pic>
        <p:nvPicPr>
          <p:cNvPr id="2054" name="Picture 6" descr="File:Reliability and validity.svg"/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7075" y="1789906"/>
            <a:ext cx="4467225" cy="4786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7064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 smtClean="0"/>
              <a:t>Remember</a:t>
            </a:r>
            <a:r>
              <a:rPr lang="nl-NL" dirty="0" smtClean="0"/>
              <a:t> </a:t>
            </a:r>
            <a:r>
              <a:rPr lang="nl-NL" dirty="0" err="1" smtClean="0"/>
              <a:t>when</a:t>
            </a:r>
            <a:r>
              <a:rPr lang="nl-NL" dirty="0" smtClean="0"/>
              <a:t> </a:t>
            </a:r>
            <a:r>
              <a:rPr lang="nl-NL" dirty="0" err="1" smtClean="0"/>
              <a:t>you</a:t>
            </a:r>
            <a:r>
              <a:rPr lang="nl-NL" dirty="0" smtClean="0"/>
              <a:t> </a:t>
            </a:r>
            <a:r>
              <a:rPr lang="nl-NL" dirty="0" err="1" smtClean="0"/>
              <a:t>were</a:t>
            </a:r>
            <a:r>
              <a:rPr lang="nl-NL" dirty="0" smtClean="0"/>
              <a:t> 2 </a:t>
            </a:r>
            <a:r>
              <a:rPr lang="nl-NL" dirty="0" err="1" smtClean="0"/>
              <a:t>years</a:t>
            </a:r>
            <a:r>
              <a:rPr lang="nl-NL" dirty="0" smtClean="0"/>
              <a:t> </a:t>
            </a:r>
            <a:r>
              <a:rPr lang="nl-NL" dirty="0" err="1" smtClean="0"/>
              <a:t>old</a:t>
            </a:r>
            <a:r>
              <a:rPr lang="nl-NL" dirty="0" smtClean="0"/>
              <a:t>?</a:t>
            </a:r>
            <a:endParaRPr lang="nl-NL" dirty="0"/>
          </a:p>
        </p:txBody>
      </p:sp>
      <p:pic>
        <p:nvPicPr>
          <p:cNvPr id="2050" name="Picture 2" descr="Outdoor Play Made Easy: How to get out there with your kids (and why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5550" y="1690688"/>
            <a:ext cx="7200900" cy="4793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046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dirty="0" err="1" smtClean="0"/>
              <a:t>You</a:t>
            </a:r>
            <a:r>
              <a:rPr lang="nl-NL" dirty="0" smtClean="0"/>
              <a:t> </a:t>
            </a:r>
            <a:r>
              <a:rPr lang="nl-NL" dirty="0" err="1" smtClean="0"/>
              <a:t>already</a:t>
            </a:r>
            <a:r>
              <a:rPr lang="nl-NL" dirty="0" smtClean="0"/>
              <a:t> </a:t>
            </a:r>
            <a:r>
              <a:rPr lang="nl-NL" dirty="0" err="1" smtClean="0"/>
              <a:t>did</a:t>
            </a:r>
            <a:r>
              <a:rPr lang="nl-NL" dirty="0" smtClean="0"/>
              <a:t> </a:t>
            </a:r>
            <a:r>
              <a:rPr lang="nl-NL" dirty="0" err="1" smtClean="0"/>
              <a:t>some</a:t>
            </a:r>
            <a:r>
              <a:rPr lang="nl-NL" dirty="0" smtClean="0"/>
              <a:t> research </a:t>
            </a:r>
            <a:r>
              <a:rPr lang="nl-NL" dirty="0" err="1" smtClean="0"/>
              <a:t>yourself</a:t>
            </a:r>
            <a:r>
              <a:rPr lang="nl-NL" dirty="0" smtClean="0"/>
              <a:t>!</a:t>
            </a:r>
            <a:endParaRPr lang="nl-NL" dirty="0"/>
          </a:p>
        </p:txBody>
      </p:sp>
      <p:pic>
        <p:nvPicPr>
          <p:cNvPr id="3074" name="Picture 2" descr="How to Discipline a 2-Year-Old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797556"/>
            <a:ext cx="4234066" cy="2375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50 American Candy Favorites | 2foodtrippers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797556"/>
            <a:ext cx="4524715" cy="2375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ight Arrow 4"/>
          <p:cNvSpPr/>
          <p:nvPr/>
        </p:nvSpPr>
        <p:spPr>
          <a:xfrm>
            <a:off x="5054600" y="2731294"/>
            <a:ext cx="1041400" cy="508000"/>
          </a:xfrm>
          <a:prstGeom prst="right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TextBox 5"/>
          <p:cNvSpPr txBox="1"/>
          <p:nvPr/>
        </p:nvSpPr>
        <p:spPr>
          <a:xfrm>
            <a:off x="726353" y="4584701"/>
            <a:ext cx="826524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Formulate a (management) problem to research</a:t>
            </a:r>
            <a:endParaRPr lang="nl-NL" dirty="0"/>
          </a:p>
          <a:p>
            <a:r>
              <a:rPr lang="en-US" dirty="0"/>
              <a:t>Describe what you want to investigate (research question)</a:t>
            </a:r>
            <a:endParaRPr lang="nl-NL" dirty="0"/>
          </a:p>
          <a:p>
            <a:r>
              <a:rPr lang="en-US" dirty="0"/>
              <a:t>Indicate what methodology you will use</a:t>
            </a:r>
            <a:endParaRPr lang="nl-NL" dirty="0"/>
          </a:p>
          <a:p>
            <a:r>
              <a:rPr lang="en-US" dirty="0"/>
              <a:t>Describe what you will do to collect data</a:t>
            </a:r>
            <a:endParaRPr lang="nl-NL" dirty="0"/>
          </a:p>
          <a:p>
            <a:r>
              <a:rPr lang="en-US" dirty="0"/>
              <a:t>What result do you expect? </a:t>
            </a:r>
            <a:endParaRPr lang="nl-NL" dirty="0"/>
          </a:p>
          <a:p>
            <a:r>
              <a:rPr lang="en-US" dirty="0"/>
              <a:t>Formulate a Null and an alternative hypothesis H0 and Ha</a:t>
            </a:r>
            <a:endParaRPr lang="nl-NL" dirty="0"/>
          </a:p>
          <a:p>
            <a:pPr marL="342900" indent="-342900">
              <a:buAutoNum type="arabicPeriod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34899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dirty="0" err="1" smtClean="0"/>
              <a:t>Describe</a:t>
            </a:r>
            <a:r>
              <a:rPr lang="nl-NL" dirty="0" smtClean="0"/>
              <a:t> </a:t>
            </a:r>
            <a:r>
              <a:rPr lang="nl-NL" dirty="0" err="1" smtClean="0"/>
              <a:t>what</a:t>
            </a:r>
            <a:r>
              <a:rPr lang="nl-NL" dirty="0" smtClean="0"/>
              <a:t> </a:t>
            </a:r>
            <a:r>
              <a:rPr lang="nl-NL" dirty="0" err="1" smtClean="0"/>
              <a:t>could</a:t>
            </a:r>
            <a:r>
              <a:rPr lang="nl-NL" dirty="0" smtClean="0"/>
              <a:t> impact </a:t>
            </a:r>
            <a:r>
              <a:rPr lang="nl-NL" dirty="0" err="1" smtClean="0"/>
              <a:t>the</a:t>
            </a:r>
            <a:r>
              <a:rPr lang="nl-NL" dirty="0" smtClean="0"/>
              <a:t> </a:t>
            </a:r>
            <a:r>
              <a:rPr lang="nl-NL" dirty="0" err="1" smtClean="0"/>
              <a:t>validity</a:t>
            </a:r>
            <a:r>
              <a:rPr lang="nl-NL" dirty="0" smtClean="0"/>
              <a:t> </a:t>
            </a:r>
            <a:r>
              <a:rPr lang="nl-NL" dirty="0" err="1" smtClean="0"/>
              <a:t>and</a:t>
            </a:r>
            <a:r>
              <a:rPr lang="nl-NL" dirty="0" smtClean="0"/>
              <a:t> </a:t>
            </a:r>
            <a:r>
              <a:rPr lang="nl-NL" dirty="0" err="1" smtClean="0"/>
              <a:t>reliability</a:t>
            </a:r>
            <a:r>
              <a:rPr lang="nl-NL" dirty="0" smtClean="0"/>
              <a:t> of </a:t>
            </a:r>
            <a:r>
              <a:rPr lang="nl-NL" dirty="0" err="1" smtClean="0"/>
              <a:t>your</a:t>
            </a:r>
            <a:r>
              <a:rPr lang="nl-NL" dirty="0" smtClean="0"/>
              <a:t> research design</a:t>
            </a:r>
            <a:endParaRPr lang="nl-NL" dirty="0"/>
          </a:p>
        </p:txBody>
      </p:sp>
      <p:pic>
        <p:nvPicPr>
          <p:cNvPr id="3074" name="Picture 2" descr="How to Discipline a 2-Year-Old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97656"/>
            <a:ext cx="4234066" cy="2375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50 American Candy Favorites | 2foodtrippers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97656"/>
            <a:ext cx="4524715" cy="2375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ight Arrow 4"/>
          <p:cNvSpPr/>
          <p:nvPr/>
        </p:nvSpPr>
        <p:spPr>
          <a:xfrm>
            <a:off x="5054600" y="3531394"/>
            <a:ext cx="1041400" cy="508000"/>
          </a:xfrm>
          <a:prstGeom prst="right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50752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D566C35-1D1A-43E1-9312-3471326CB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 smtClean="0"/>
              <a:t>Recap</a:t>
            </a:r>
            <a:r>
              <a:rPr lang="nl-NL" dirty="0" smtClean="0"/>
              <a:t> Sampling</a:t>
            </a:r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9B0DC07-8B4E-4F0E-8A00-FE638139B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err="1"/>
              <a:t>What</a:t>
            </a:r>
            <a:r>
              <a:rPr lang="nl-NL" dirty="0"/>
              <a:t> sampling </a:t>
            </a:r>
            <a:r>
              <a:rPr lang="nl-NL" dirty="0" err="1"/>
              <a:t>methods</a:t>
            </a:r>
            <a:r>
              <a:rPr lang="nl-NL" dirty="0"/>
              <a:t> have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studied</a:t>
            </a:r>
            <a:r>
              <a:rPr lang="nl-NL" dirty="0"/>
              <a:t>?</a:t>
            </a:r>
          </a:p>
          <a:p>
            <a:r>
              <a:rPr lang="nl-NL" dirty="0" err="1"/>
              <a:t>What</a:t>
            </a:r>
            <a:r>
              <a:rPr lang="nl-NL" dirty="0"/>
              <a:t> is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difference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non-</a:t>
            </a:r>
            <a:r>
              <a:rPr lang="nl-NL" dirty="0" err="1"/>
              <a:t>probability</a:t>
            </a:r>
            <a:r>
              <a:rPr lang="nl-NL" dirty="0"/>
              <a:t> sampling?</a:t>
            </a:r>
          </a:p>
        </p:txBody>
      </p:sp>
    </p:spTree>
    <p:extLst>
      <p:ext uri="{BB962C8B-B14F-4D97-AF65-F5344CB8AC3E}">
        <p14:creationId xmlns:p14="http://schemas.microsoft.com/office/powerpoint/2010/main" val="4056450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9261B50-C58B-4DA5-A2CA-DC596BD49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belongs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?</a:t>
            </a:r>
            <a:br>
              <a:rPr lang="nl-NL" dirty="0"/>
            </a:b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vs</a:t>
            </a:r>
            <a:r>
              <a:rPr lang="nl-NL" dirty="0"/>
              <a:t> non-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methods</a:t>
            </a:r>
            <a:endParaRPr lang="nl-NL" dirty="0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6D43AA01-4265-4A78-BE9E-D460B3B383FF}"/>
              </a:ext>
            </a:extLst>
          </p:cNvPr>
          <p:cNvSpPr/>
          <p:nvPr/>
        </p:nvSpPr>
        <p:spPr>
          <a:xfrm>
            <a:off x="2021774" y="2581008"/>
            <a:ext cx="2477564" cy="7956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Snowball</a:t>
            </a:r>
            <a:r>
              <a:rPr lang="nl-NL" dirty="0"/>
              <a:t> Sampling</a:t>
            </a:r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B9ADB777-E2A7-4D92-A891-BB0EE4D46ADD}"/>
              </a:ext>
            </a:extLst>
          </p:cNvPr>
          <p:cNvSpPr/>
          <p:nvPr/>
        </p:nvSpPr>
        <p:spPr>
          <a:xfrm>
            <a:off x="6675112" y="2239385"/>
            <a:ext cx="2477564" cy="7956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Simple Random Sampling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82D42F11-57AF-405D-9EB3-390FDFCF0CD9}"/>
              </a:ext>
            </a:extLst>
          </p:cNvPr>
          <p:cNvSpPr/>
          <p:nvPr/>
        </p:nvSpPr>
        <p:spPr>
          <a:xfrm>
            <a:off x="4759866" y="3919403"/>
            <a:ext cx="2477564" cy="7956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Convenience sampling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2AB51F44-135B-4D23-8DE7-B438B2C24FDA}"/>
              </a:ext>
            </a:extLst>
          </p:cNvPr>
          <p:cNvSpPr/>
          <p:nvPr/>
        </p:nvSpPr>
        <p:spPr>
          <a:xfrm>
            <a:off x="3704947" y="4690223"/>
            <a:ext cx="2477564" cy="7956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Stratified</a:t>
            </a:r>
            <a:r>
              <a:rPr lang="nl-NL" dirty="0"/>
              <a:t> Sampling</a:t>
            </a: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BD91A714-3729-4077-B235-A52CB5416BB5}"/>
              </a:ext>
            </a:extLst>
          </p:cNvPr>
          <p:cNvSpPr/>
          <p:nvPr/>
        </p:nvSpPr>
        <p:spPr>
          <a:xfrm>
            <a:off x="7132709" y="3464120"/>
            <a:ext cx="2477564" cy="7956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Systemic</a:t>
            </a:r>
            <a:r>
              <a:rPr lang="nl-NL" dirty="0"/>
              <a:t> Sampling</a:t>
            </a:r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DE0229FB-43F2-4AB2-BA8C-255295A0491B}"/>
              </a:ext>
            </a:extLst>
          </p:cNvPr>
          <p:cNvSpPr/>
          <p:nvPr/>
        </p:nvSpPr>
        <p:spPr>
          <a:xfrm>
            <a:off x="3929358" y="2063693"/>
            <a:ext cx="2477564" cy="7956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Clustered</a:t>
            </a:r>
            <a:r>
              <a:rPr lang="nl-NL" dirty="0"/>
              <a:t> Sampling</a:t>
            </a:r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207C67B0-6BB3-4E82-BFD6-55D5146DF76A}"/>
              </a:ext>
            </a:extLst>
          </p:cNvPr>
          <p:cNvSpPr/>
          <p:nvPr/>
        </p:nvSpPr>
        <p:spPr>
          <a:xfrm>
            <a:off x="5035718" y="2780235"/>
            <a:ext cx="2477564" cy="7956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Self-Selection</a:t>
            </a:r>
            <a:r>
              <a:rPr lang="nl-NL" dirty="0"/>
              <a:t> Sampling</a:t>
            </a:r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AC3C41A1-8C68-493E-8260-96FC62DF367F}"/>
              </a:ext>
            </a:extLst>
          </p:cNvPr>
          <p:cNvSpPr/>
          <p:nvPr/>
        </p:nvSpPr>
        <p:spPr>
          <a:xfrm>
            <a:off x="2387023" y="3575866"/>
            <a:ext cx="2477564" cy="7956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Quota Sampling</a:t>
            </a:r>
          </a:p>
        </p:txBody>
      </p:sp>
      <p:pic>
        <p:nvPicPr>
          <p:cNvPr id="15" name="Graphic 14" descr="Dobbelsteen met effen opvulling">
            <a:extLst>
              <a:ext uri="{FF2B5EF4-FFF2-40B4-BE49-F238E27FC236}">
                <a16:creationId xmlns:a16="http://schemas.microsoft.com/office/drawing/2014/main" id="{D5A43E0A-B601-4F1F-84F3-FC2A7687B2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325792" y="3423254"/>
            <a:ext cx="1975665" cy="1975665"/>
          </a:xfrm>
          <a:prstGeom prst="rect">
            <a:avLst/>
          </a:prstGeom>
        </p:spPr>
      </p:pic>
      <p:pic>
        <p:nvPicPr>
          <p:cNvPr id="16" name="Graphic 15" descr="Dobbelsteen met effen opvulling">
            <a:extLst>
              <a:ext uri="{FF2B5EF4-FFF2-40B4-BE49-F238E27FC236}">
                <a16:creationId xmlns:a16="http://schemas.microsoft.com/office/drawing/2014/main" id="{254A0E3F-E85D-48AC-87C9-45A5FD99FC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9879702" y="3423254"/>
            <a:ext cx="1975665" cy="1975665"/>
          </a:xfrm>
          <a:prstGeom prst="rect">
            <a:avLst/>
          </a:prstGeom>
        </p:spPr>
      </p:pic>
      <p:cxnSp>
        <p:nvCxnSpPr>
          <p:cNvPr id="18" name="Rechte verbindingslijn 17">
            <a:extLst>
              <a:ext uri="{FF2B5EF4-FFF2-40B4-BE49-F238E27FC236}">
                <a16:creationId xmlns:a16="http://schemas.microsoft.com/office/drawing/2014/main" id="{10A43221-ABA3-4F4E-9FFE-BDDA08A9957D}"/>
              </a:ext>
            </a:extLst>
          </p:cNvPr>
          <p:cNvCxnSpPr>
            <a:cxnSpLocks/>
          </p:cNvCxnSpPr>
          <p:nvPr/>
        </p:nvCxnSpPr>
        <p:spPr>
          <a:xfrm flipV="1">
            <a:off x="9656233" y="3423254"/>
            <a:ext cx="2199134" cy="1775279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914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9261B50-C58B-4DA5-A2CA-DC596BD49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belongs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?</a:t>
            </a:r>
            <a:br>
              <a:rPr lang="nl-NL" dirty="0"/>
            </a:b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vs</a:t>
            </a:r>
            <a:r>
              <a:rPr lang="nl-NL" dirty="0"/>
              <a:t> non-</a:t>
            </a:r>
            <a:r>
              <a:rPr lang="nl-NL" dirty="0" err="1"/>
              <a:t>probability</a:t>
            </a:r>
            <a:r>
              <a:rPr lang="nl-NL" dirty="0"/>
              <a:t> </a:t>
            </a:r>
            <a:r>
              <a:rPr lang="nl-NL" dirty="0" err="1"/>
              <a:t>methods</a:t>
            </a:r>
            <a:endParaRPr lang="nl-NL" dirty="0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6D43AA01-4265-4A78-BE9E-D460B3B383FF}"/>
              </a:ext>
            </a:extLst>
          </p:cNvPr>
          <p:cNvSpPr/>
          <p:nvPr/>
        </p:nvSpPr>
        <p:spPr>
          <a:xfrm>
            <a:off x="2021774" y="2581008"/>
            <a:ext cx="2477564" cy="795631"/>
          </a:xfrm>
          <a:prstGeom prst="rect">
            <a:avLst/>
          </a:prstGeom>
          <a:solidFill>
            <a:srgbClr val="E0696A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Snowball</a:t>
            </a:r>
            <a:r>
              <a:rPr lang="nl-NL" dirty="0"/>
              <a:t> Sampling</a:t>
            </a:r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B9ADB777-E2A7-4D92-A891-BB0EE4D46ADD}"/>
              </a:ext>
            </a:extLst>
          </p:cNvPr>
          <p:cNvSpPr/>
          <p:nvPr/>
        </p:nvSpPr>
        <p:spPr>
          <a:xfrm>
            <a:off x="6675112" y="2239385"/>
            <a:ext cx="2477564" cy="795631"/>
          </a:xfrm>
          <a:prstGeom prst="rect">
            <a:avLst/>
          </a:prstGeom>
          <a:solidFill>
            <a:srgbClr val="599089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Simple Random Sampling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82D42F11-57AF-405D-9EB3-390FDFCF0CD9}"/>
              </a:ext>
            </a:extLst>
          </p:cNvPr>
          <p:cNvSpPr/>
          <p:nvPr/>
        </p:nvSpPr>
        <p:spPr>
          <a:xfrm>
            <a:off x="4759866" y="3919403"/>
            <a:ext cx="2477564" cy="795631"/>
          </a:xfrm>
          <a:prstGeom prst="rect">
            <a:avLst/>
          </a:prstGeom>
          <a:solidFill>
            <a:srgbClr val="E0696A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Convenience sampling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2AB51F44-135B-4D23-8DE7-B438B2C24FDA}"/>
              </a:ext>
            </a:extLst>
          </p:cNvPr>
          <p:cNvSpPr/>
          <p:nvPr/>
        </p:nvSpPr>
        <p:spPr>
          <a:xfrm>
            <a:off x="3704947" y="4690223"/>
            <a:ext cx="2477564" cy="795631"/>
          </a:xfrm>
          <a:prstGeom prst="rect">
            <a:avLst/>
          </a:prstGeom>
          <a:solidFill>
            <a:srgbClr val="599089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Stratified</a:t>
            </a:r>
            <a:r>
              <a:rPr lang="nl-NL" dirty="0"/>
              <a:t> Sampling</a:t>
            </a:r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BD91A714-3729-4077-B235-A52CB5416BB5}"/>
              </a:ext>
            </a:extLst>
          </p:cNvPr>
          <p:cNvSpPr/>
          <p:nvPr/>
        </p:nvSpPr>
        <p:spPr>
          <a:xfrm>
            <a:off x="7132709" y="3464120"/>
            <a:ext cx="2477564" cy="795631"/>
          </a:xfrm>
          <a:prstGeom prst="rect">
            <a:avLst/>
          </a:prstGeom>
          <a:solidFill>
            <a:srgbClr val="599089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Systemic</a:t>
            </a:r>
            <a:r>
              <a:rPr lang="nl-NL" dirty="0"/>
              <a:t> Sampling</a:t>
            </a:r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DE0229FB-43F2-4AB2-BA8C-255295A0491B}"/>
              </a:ext>
            </a:extLst>
          </p:cNvPr>
          <p:cNvSpPr/>
          <p:nvPr/>
        </p:nvSpPr>
        <p:spPr>
          <a:xfrm>
            <a:off x="3929358" y="2063693"/>
            <a:ext cx="2477564" cy="795631"/>
          </a:xfrm>
          <a:prstGeom prst="rect">
            <a:avLst/>
          </a:prstGeom>
          <a:solidFill>
            <a:srgbClr val="599089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Clustered</a:t>
            </a:r>
            <a:r>
              <a:rPr lang="nl-NL" dirty="0"/>
              <a:t> Sampling</a:t>
            </a:r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207C67B0-6BB3-4E82-BFD6-55D5146DF76A}"/>
              </a:ext>
            </a:extLst>
          </p:cNvPr>
          <p:cNvSpPr/>
          <p:nvPr/>
        </p:nvSpPr>
        <p:spPr>
          <a:xfrm>
            <a:off x="5035718" y="2780235"/>
            <a:ext cx="2477564" cy="795631"/>
          </a:xfrm>
          <a:prstGeom prst="rect">
            <a:avLst/>
          </a:prstGeom>
          <a:solidFill>
            <a:srgbClr val="E0696A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Self-Selection</a:t>
            </a:r>
            <a:r>
              <a:rPr lang="nl-NL" dirty="0"/>
              <a:t> Sampling</a:t>
            </a:r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AC3C41A1-8C68-493E-8260-96FC62DF367F}"/>
              </a:ext>
            </a:extLst>
          </p:cNvPr>
          <p:cNvSpPr/>
          <p:nvPr/>
        </p:nvSpPr>
        <p:spPr>
          <a:xfrm>
            <a:off x="2387023" y="3575866"/>
            <a:ext cx="2477564" cy="795631"/>
          </a:xfrm>
          <a:prstGeom prst="rect">
            <a:avLst/>
          </a:prstGeom>
          <a:solidFill>
            <a:srgbClr val="E0696A"/>
          </a:solidFill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Quota Sampling</a:t>
            </a:r>
          </a:p>
        </p:txBody>
      </p:sp>
      <p:pic>
        <p:nvPicPr>
          <p:cNvPr id="15" name="Graphic 14" descr="Dobbelsteen met effen opvulling">
            <a:extLst>
              <a:ext uri="{FF2B5EF4-FFF2-40B4-BE49-F238E27FC236}">
                <a16:creationId xmlns:a16="http://schemas.microsoft.com/office/drawing/2014/main" id="{D5A43E0A-B601-4F1F-84F3-FC2A7687B2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325792" y="3423254"/>
            <a:ext cx="1975665" cy="1975665"/>
          </a:xfrm>
          <a:prstGeom prst="rect">
            <a:avLst/>
          </a:prstGeom>
        </p:spPr>
      </p:pic>
      <p:pic>
        <p:nvPicPr>
          <p:cNvPr id="16" name="Graphic 15" descr="Dobbelsteen met effen opvulling">
            <a:extLst>
              <a:ext uri="{FF2B5EF4-FFF2-40B4-BE49-F238E27FC236}">
                <a16:creationId xmlns:a16="http://schemas.microsoft.com/office/drawing/2014/main" id="{254A0E3F-E85D-48AC-87C9-45A5FD99FC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9902730" y="3727201"/>
            <a:ext cx="1975665" cy="1975665"/>
          </a:xfrm>
          <a:prstGeom prst="rect">
            <a:avLst/>
          </a:prstGeom>
          <a:effectLst>
            <a:outerShdw blurRad="50800" dist="50800" dir="5400000" algn="ctr" rotWithShape="0">
              <a:srgbClr val="D6AD51"/>
            </a:outerShdw>
          </a:effectLst>
        </p:spPr>
      </p:pic>
      <p:cxnSp>
        <p:nvCxnSpPr>
          <p:cNvPr id="18" name="Rechte verbindingslijn 17">
            <a:extLst>
              <a:ext uri="{FF2B5EF4-FFF2-40B4-BE49-F238E27FC236}">
                <a16:creationId xmlns:a16="http://schemas.microsoft.com/office/drawing/2014/main" id="{10A43221-ABA3-4F4E-9FFE-BDDA08A9957D}"/>
              </a:ext>
            </a:extLst>
          </p:cNvPr>
          <p:cNvCxnSpPr>
            <a:cxnSpLocks/>
          </p:cNvCxnSpPr>
          <p:nvPr/>
        </p:nvCxnSpPr>
        <p:spPr>
          <a:xfrm flipV="1">
            <a:off x="9610273" y="3919403"/>
            <a:ext cx="2199134" cy="1775279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4018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Zuyd - HMSM Master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27F3DAC5-B41B-4793-8B1A-93E21B1EDB99}"/>
    </a:ext>
  </a:extLst>
</a:theme>
</file>

<file path=ppt/theme/theme2.xml><?xml version="1.0" encoding="utf-8"?>
<a:theme xmlns:a="http://schemas.openxmlformats.org/drawingml/2006/main" name="Zuyd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F9463F29-C729-4749-ADD9-E48EEF98922D}"/>
    </a:ext>
  </a:extLst>
</a:theme>
</file>

<file path=ppt/theme/theme3.xml><?xml version="1.0" encoding="utf-8"?>
<a:theme xmlns:a="http://schemas.openxmlformats.org/drawingml/2006/main" name="Zuyd - Inhoud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D7BC870A-B92C-4990-8EB0-3F9587A44D1F}"/>
    </a:ext>
  </a:extLst>
</a:theme>
</file>

<file path=ppt/theme/theme4.xml><?xml version="1.0" encoding="utf-8"?>
<a:theme xmlns:a="http://schemas.openxmlformats.org/drawingml/2006/main" name="1_Zuyd - HMSM Master">
  <a:themeElements>
    <a:clrScheme name="Zuyd">
      <a:dk1>
        <a:sysClr val="windowText" lastClr="000000"/>
      </a:dk1>
      <a:lt1>
        <a:sysClr val="window" lastClr="FFFFFF"/>
      </a:lt1>
      <a:dk2>
        <a:srgbClr val="626075"/>
      </a:dk2>
      <a:lt2>
        <a:srgbClr val="ADBD74"/>
      </a:lt2>
      <a:accent1>
        <a:srgbClr val="E0696A"/>
      </a:accent1>
      <a:accent2>
        <a:srgbClr val="83C8B6"/>
      </a:accent2>
      <a:accent3>
        <a:srgbClr val="599089"/>
      </a:accent3>
      <a:accent4>
        <a:srgbClr val="D6AD51"/>
      </a:accent4>
      <a:accent5>
        <a:srgbClr val="48A7B4"/>
      </a:accent5>
      <a:accent6>
        <a:srgbClr val="5E7578"/>
      </a:accent6>
      <a:hlink>
        <a:srgbClr val="0563C1"/>
      </a:hlink>
      <a:folHlink>
        <a:srgbClr val="954F72"/>
      </a:folHlink>
    </a:clrScheme>
    <a:fontScheme name="Zuyd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Zuyd - HMSM LR 150" id="{F93E5391-01B6-4B93-908B-680F629B564E}" vid="{27F3DAC5-B41B-4793-8B1A-93E21B1EDB99}"/>
    </a:ext>
  </a:extLst>
</a:theme>
</file>

<file path=ppt/theme/theme5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2AA6958990464F80153A8A5DA1EA6C" ma:contentTypeVersion="14" ma:contentTypeDescription="Create a new document." ma:contentTypeScope="" ma:versionID="6c68ed370016a591e784174216944397">
  <xsd:schema xmlns:xsd="http://www.w3.org/2001/XMLSchema" xmlns:xs="http://www.w3.org/2001/XMLSchema" xmlns:p="http://schemas.microsoft.com/office/2006/metadata/properties" xmlns:ns3="564fa042-ba5f-40f1-b789-4e4509f02e28" xmlns:ns4="05827adb-aabe-415b-94da-6391be120ca3" targetNamespace="http://schemas.microsoft.com/office/2006/metadata/properties" ma:root="true" ma:fieldsID="99cef128ba3ad89ce1413b032782ae4f" ns3:_="" ns4:_="">
    <xsd:import namespace="564fa042-ba5f-40f1-b789-4e4509f02e28"/>
    <xsd:import namespace="05827adb-aabe-415b-94da-6391be120ca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4fa042-ba5f-40f1-b789-4e4509f02e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827adb-aabe-415b-94da-6391be120ca3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98ACFDF-608B-4E1B-9ED0-2FE351C57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BF87415-DC0D-4DAF-A245-A0D1B387FE30}">
  <ds:schemaRefs>
    <ds:schemaRef ds:uri="05827adb-aabe-415b-94da-6391be120ca3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564fa042-ba5f-40f1-b789-4e4509f02e28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281B6F6-9941-4059-9231-E3E3F6E410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4fa042-ba5f-40f1-b789-4e4509f02e28"/>
    <ds:schemaRef ds:uri="05827adb-aabe-415b-94da-6391be120ca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zuyd---hmsm-lr-150</Template>
  <TotalTime>7563</TotalTime>
  <Words>254</Words>
  <Application>Microsoft Office PowerPoint</Application>
  <PresentationFormat>Widescreen</PresentationFormat>
  <Paragraphs>79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Calibri</vt:lpstr>
      <vt:lpstr>Calibri Light</vt:lpstr>
      <vt:lpstr>Verdana</vt:lpstr>
      <vt:lpstr>Wingdings</vt:lpstr>
      <vt:lpstr>Zuyd - HMSM Master</vt:lpstr>
      <vt:lpstr>Zuyd</vt:lpstr>
      <vt:lpstr>Zuyd - Inhoud</vt:lpstr>
      <vt:lpstr>1_Zuyd - HMSM Master</vt:lpstr>
      <vt:lpstr>Actually gathering data – you’ve done it before</vt:lpstr>
      <vt:lpstr>NUANCE!</vt:lpstr>
      <vt:lpstr>Data collection choices and measurements: research design</vt:lpstr>
      <vt:lpstr>Recap: Validity and Reliability</vt:lpstr>
      <vt:lpstr>Remember when you were 2 years old?</vt:lpstr>
      <vt:lpstr>You already did some research yourself!</vt:lpstr>
      <vt:lpstr>Describe what could impact the validity and reliability of your research design</vt:lpstr>
      <vt:lpstr>Recap Sampling</vt:lpstr>
      <vt:lpstr>Which belongs to which? Probability vs non-probability methods</vt:lpstr>
      <vt:lpstr>Which belongs to which? Probability vs non-probability methods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GEI meeting 7</dc:title>
  <dc:subject/>
  <dc:creator>kierty verbooy</dc:creator>
  <cp:keywords/>
  <dc:description/>
  <cp:lastModifiedBy>Verbooy, K (Kaya)</cp:lastModifiedBy>
  <cp:revision>202</cp:revision>
  <dcterms:created xsi:type="dcterms:W3CDTF">2021-11-02T06:58:01Z</dcterms:created>
  <dcterms:modified xsi:type="dcterms:W3CDTF">2023-02-18T14:08:40Z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0x010100B62AA6958990464F80153A8A5DA1EA6C</vt:lpwstr>
  </property>
  <property fmtid="{D5CDD505-2E9C-101B-9397-08002B2CF9AE}" pid="3" name="MediaServiceImageTags">
    <vt:lpwstr/>
  </property>
</Properties>
</file>