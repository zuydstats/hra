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9" r:id="rId4"/>
    <p:sldId id="260" r:id="rId5"/>
    <p:sldId id="261" r:id="rId6"/>
    <p:sldId id="262" r:id="rId7"/>
    <p:sldId id="263" r:id="rId8"/>
    <p:sldId id="264" r:id="rId9"/>
    <p:sldId id="267" r:id="rId10"/>
    <p:sldId id="266" r:id="rId11"/>
    <p:sldId id="268" r:id="rId12"/>
    <p:sldId id="273" r:id="rId13"/>
    <p:sldId id="270" r:id="rId14"/>
    <p:sldId id="272" r:id="rId15"/>
    <p:sldId id="271" r:id="rId16"/>
    <p:sldId id="274" r:id="rId17"/>
    <p:sldId id="275" r:id="rId18"/>
    <p:sldId id="276" r:id="rId19"/>
    <p:sldId id="277" r:id="rId20"/>
    <p:sldId id="278" r:id="rId21"/>
    <p:sldId id="279" r:id="rId22"/>
    <p:sldId id="280" r:id="rId23"/>
    <p:sldId id="281" r:id="rId24"/>
    <p:sldId id="282" r:id="rId25"/>
    <p:sldId id="283" r:id="rId26"/>
    <p:sldId id="284" r:id="rId27"/>
    <p:sldId id="285" r:id="rId28"/>
    <p:sldId id="289" r:id="rId29"/>
    <p:sldId id="286" r:id="rId30"/>
    <p:sldId id="290" r:id="rId31"/>
    <p:sldId id="291" r:id="rId32"/>
    <p:sldId id="287" r:id="rId33"/>
    <p:sldId id="288" r:id="rId34"/>
    <p:sldId id="292" r:id="rId35"/>
    <p:sldId id="293" r:id="rId36"/>
    <p:sldId id="258" r:id="rId37"/>
    <p:sldId id="294" r:id="rId38"/>
    <p:sldId id="295" r:id="rId39"/>
    <p:sldId id="296" r:id="rId40"/>
    <p:sldId id="297" r:id="rId41"/>
    <p:sldId id="298" r:id="rId42"/>
    <p:sldId id="299" r:id="rId43"/>
    <p:sldId id="300" r:id="rId44"/>
    <p:sldId id="265" r:id="rId45"/>
    <p:sldId id="301" r:id="rId46"/>
    <p:sldId id="302" r:id="rId47"/>
    <p:sldId id="269"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Lst>
  <p:sldSz cx="12192000" cy="6858000"/>
  <p:notesSz cx="6858000" cy="9144000"/>
  <p:defaultTextStyle>
    <a:defPPr>
      <a:defRPr lang="en-N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F791F92D-2914-47E2-A0F3-5E745A5D78A3}" v="8" dt="2024-10-07T10:39:17.464"/>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660"/>
  </p:normalViewPr>
  <p:slideViewPr>
    <p:cSldViewPr snapToGrid="0">
      <p:cViewPr varScale="1">
        <p:scale>
          <a:sx n="67" d="100"/>
          <a:sy n="67" d="100"/>
        </p:scale>
        <p:origin x="644" y="4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theme" Target="theme/theme1.xml"/><Relationship Id="rId68" Type="http://schemas.openxmlformats.org/officeDocument/2006/relationships/customXml" Target="../customXml/item2.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microsoft.com/office/2015/10/relationships/revisionInfo" Target="revisionInfo.xml"/><Relationship Id="rId5" Type="http://schemas.openxmlformats.org/officeDocument/2006/relationships/slide" Target="slides/slide4.xml"/><Relationship Id="rId61" Type="http://schemas.openxmlformats.org/officeDocument/2006/relationships/presProps" Target="presProps.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tableStyles" Target="tableStyles.xml"/><Relationship Id="rId69" Type="http://schemas.openxmlformats.org/officeDocument/2006/relationships/customXml" Target="../customXml/item3.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customXml" Target="../customXml/item1.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microsoft.com/office/2016/11/relationships/changesInfo" Target="changesInfos/changesInfo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Langill, T.A. (Tori)" userId="f2a0729f-78d3-40b0-b388-826b4c078191" providerId="ADAL" clId="{F791F92D-2914-47E2-A0F3-5E745A5D78A3}"/>
    <pc:docChg chg="custSel addSld modSld sldOrd">
      <pc:chgData name="Langill, T.A. (Tori)" userId="f2a0729f-78d3-40b0-b388-826b4c078191" providerId="ADAL" clId="{F791F92D-2914-47E2-A0F3-5E745A5D78A3}" dt="2024-10-07T10:39:17.457" v="352"/>
      <pc:docMkLst>
        <pc:docMk/>
      </pc:docMkLst>
      <pc:sldChg chg="modSp mod">
        <pc:chgData name="Langill, T.A. (Tori)" userId="f2a0729f-78d3-40b0-b388-826b4c078191" providerId="ADAL" clId="{F791F92D-2914-47E2-A0F3-5E745A5D78A3}" dt="2024-10-03T09:31:33.165" v="1" actId="113"/>
        <pc:sldMkLst>
          <pc:docMk/>
          <pc:sldMk cId="171753307" sldId="256"/>
        </pc:sldMkLst>
        <pc:spChg chg="mod">
          <ac:chgData name="Langill, T.A. (Tori)" userId="f2a0729f-78d3-40b0-b388-826b4c078191" providerId="ADAL" clId="{F791F92D-2914-47E2-A0F3-5E745A5D78A3}" dt="2024-10-03T09:31:33.165" v="1" actId="113"/>
          <ac:spMkLst>
            <pc:docMk/>
            <pc:sldMk cId="171753307" sldId="256"/>
            <ac:spMk id="2" creationId="{D82C9C8F-ABCE-A530-7556-7DD9BA8CEA51}"/>
          </ac:spMkLst>
        </pc:spChg>
      </pc:sldChg>
      <pc:sldChg chg="modSp mod">
        <pc:chgData name="Langill, T.A. (Tori)" userId="f2a0729f-78d3-40b0-b388-826b4c078191" providerId="ADAL" clId="{F791F92D-2914-47E2-A0F3-5E745A5D78A3}" dt="2024-10-03T09:31:24.324" v="0" actId="13926"/>
        <pc:sldMkLst>
          <pc:docMk/>
          <pc:sldMk cId="1054704708" sldId="257"/>
        </pc:sldMkLst>
        <pc:spChg chg="mod">
          <ac:chgData name="Langill, T.A. (Tori)" userId="f2a0729f-78d3-40b0-b388-826b4c078191" providerId="ADAL" clId="{F791F92D-2914-47E2-A0F3-5E745A5D78A3}" dt="2024-10-03T09:31:24.324" v="0" actId="13926"/>
          <ac:spMkLst>
            <pc:docMk/>
            <pc:sldMk cId="1054704708" sldId="257"/>
            <ac:spMk id="2" creationId="{D82C9C8F-ABCE-A530-7556-7DD9BA8CEA51}"/>
          </ac:spMkLst>
        </pc:spChg>
      </pc:sldChg>
      <pc:sldChg chg="add">
        <pc:chgData name="Langill, T.A. (Tori)" userId="f2a0729f-78d3-40b0-b388-826b4c078191" providerId="ADAL" clId="{F791F92D-2914-47E2-A0F3-5E745A5D78A3}" dt="2024-10-07T10:39:17.457" v="352"/>
        <pc:sldMkLst>
          <pc:docMk/>
          <pc:sldMk cId="967658061" sldId="258"/>
        </pc:sldMkLst>
      </pc:sldChg>
      <pc:sldChg chg="add">
        <pc:chgData name="Langill, T.A. (Tori)" userId="f2a0729f-78d3-40b0-b388-826b4c078191" providerId="ADAL" clId="{F791F92D-2914-47E2-A0F3-5E745A5D78A3}" dt="2024-10-07T10:39:17.457" v="352"/>
        <pc:sldMkLst>
          <pc:docMk/>
          <pc:sldMk cId="3920406087" sldId="265"/>
        </pc:sldMkLst>
      </pc:sldChg>
      <pc:sldChg chg="add">
        <pc:chgData name="Langill, T.A. (Tori)" userId="f2a0729f-78d3-40b0-b388-826b4c078191" providerId="ADAL" clId="{F791F92D-2914-47E2-A0F3-5E745A5D78A3}" dt="2024-10-07T10:39:17.457" v="352"/>
        <pc:sldMkLst>
          <pc:docMk/>
          <pc:sldMk cId="3068828334" sldId="269"/>
        </pc:sldMkLst>
      </pc:sldChg>
      <pc:sldChg chg="modSp new mod">
        <pc:chgData name="Langill, T.A. (Tori)" userId="f2a0729f-78d3-40b0-b388-826b4c078191" providerId="ADAL" clId="{F791F92D-2914-47E2-A0F3-5E745A5D78A3}" dt="2024-10-07T10:31:07.321" v="273" actId="20577"/>
        <pc:sldMkLst>
          <pc:docMk/>
          <pc:sldMk cId="4007873435" sldId="279"/>
        </pc:sldMkLst>
        <pc:spChg chg="mod">
          <ac:chgData name="Langill, T.A. (Tori)" userId="f2a0729f-78d3-40b0-b388-826b4c078191" providerId="ADAL" clId="{F791F92D-2914-47E2-A0F3-5E745A5D78A3}" dt="2024-10-07T10:30:12.301" v="60" actId="20577"/>
          <ac:spMkLst>
            <pc:docMk/>
            <pc:sldMk cId="4007873435" sldId="279"/>
            <ac:spMk id="2" creationId="{DEEA5047-038B-3839-554B-821951599F75}"/>
          </ac:spMkLst>
        </pc:spChg>
        <pc:spChg chg="mod">
          <ac:chgData name="Langill, T.A. (Tori)" userId="f2a0729f-78d3-40b0-b388-826b4c078191" providerId="ADAL" clId="{F791F92D-2914-47E2-A0F3-5E745A5D78A3}" dt="2024-10-07T10:31:07.321" v="273" actId="20577"/>
          <ac:spMkLst>
            <pc:docMk/>
            <pc:sldMk cId="4007873435" sldId="279"/>
            <ac:spMk id="3" creationId="{69D683D1-4765-B95F-C8B0-393028A82E06}"/>
          </ac:spMkLst>
        </pc:spChg>
      </pc:sldChg>
      <pc:sldChg chg="modSp add mod">
        <pc:chgData name="Langill, T.A. (Tori)" userId="f2a0729f-78d3-40b0-b388-826b4c078191" providerId="ADAL" clId="{F791F92D-2914-47E2-A0F3-5E745A5D78A3}" dt="2024-10-07T10:31:29.980" v="275" actId="13926"/>
        <pc:sldMkLst>
          <pc:docMk/>
          <pc:sldMk cId="3678378528" sldId="280"/>
        </pc:sldMkLst>
        <pc:spChg chg="mod">
          <ac:chgData name="Langill, T.A. (Tori)" userId="f2a0729f-78d3-40b0-b388-826b4c078191" providerId="ADAL" clId="{F791F92D-2914-47E2-A0F3-5E745A5D78A3}" dt="2024-10-07T10:31:29.980" v="275" actId="13926"/>
          <ac:spMkLst>
            <pc:docMk/>
            <pc:sldMk cId="3678378528" sldId="280"/>
            <ac:spMk id="3" creationId="{69D683D1-4765-B95F-C8B0-393028A82E06}"/>
          </ac:spMkLst>
        </pc:spChg>
      </pc:sldChg>
      <pc:sldChg chg="delSp modSp new mod">
        <pc:chgData name="Langill, T.A. (Tori)" userId="f2a0729f-78d3-40b0-b388-826b4c078191" providerId="ADAL" clId="{F791F92D-2914-47E2-A0F3-5E745A5D78A3}" dt="2024-10-07T10:32:50.928" v="280" actId="1076"/>
        <pc:sldMkLst>
          <pc:docMk/>
          <pc:sldMk cId="3868631169" sldId="281"/>
        </pc:sldMkLst>
        <pc:spChg chg="mod">
          <ac:chgData name="Langill, T.A. (Tori)" userId="f2a0729f-78d3-40b0-b388-826b4c078191" providerId="ADAL" clId="{F791F92D-2914-47E2-A0F3-5E745A5D78A3}" dt="2024-10-07T10:32:50.928" v="280" actId="1076"/>
          <ac:spMkLst>
            <pc:docMk/>
            <pc:sldMk cId="3868631169" sldId="281"/>
            <ac:spMk id="2" creationId="{A1013FFE-B5F5-51CE-7488-0863572D261B}"/>
          </ac:spMkLst>
        </pc:spChg>
        <pc:spChg chg="del">
          <ac:chgData name="Langill, T.A. (Tori)" userId="f2a0729f-78d3-40b0-b388-826b4c078191" providerId="ADAL" clId="{F791F92D-2914-47E2-A0F3-5E745A5D78A3}" dt="2024-10-07T10:32:45.724" v="279" actId="478"/>
          <ac:spMkLst>
            <pc:docMk/>
            <pc:sldMk cId="3868631169" sldId="281"/>
            <ac:spMk id="3" creationId="{EF40F226-9F50-4BDF-4EA3-ECEF862D3B7F}"/>
          </ac:spMkLst>
        </pc:spChg>
      </pc:sldChg>
      <pc:sldChg chg="modSp add mod">
        <pc:chgData name="Langill, T.A. (Tori)" userId="f2a0729f-78d3-40b0-b388-826b4c078191" providerId="ADAL" clId="{F791F92D-2914-47E2-A0F3-5E745A5D78A3}" dt="2024-10-07T10:32:58.320" v="282" actId="13926"/>
        <pc:sldMkLst>
          <pc:docMk/>
          <pc:sldMk cId="3106255306" sldId="282"/>
        </pc:sldMkLst>
        <pc:spChg chg="mod">
          <ac:chgData name="Langill, T.A. (Tori)" userId="f2a0729f-78d3-40b0-b388-826b4c078191" providerId="ADAL" clId="{F791F92D-2914-47E2-A0F3-5E745A5D78A3}" dt="2024-10-07T10:32:58.320" v="282" actId="13926"/>
          <ac:spMkLst>
            <pc:docMk/>
            <pc:sldMk cId="3106255306" sldId="282"/>
            <ac:spMk id="2" creationId="{A1013FFE-B5F5-51CE-7488-0863572D261B}"/>
          </ac:spMkLst>
        </pc:spChg>
      </pc:sldChg>
      <pc:sldChg chg="delSp modSp new mod">
        <pc:chgData name="Langill, T.A. (Tori)" userId="f2a0729f-78d3-40b0-b388-826b4c078191" providerId="ADAL" clId="{F791F92D-2914-47E2-A0F3-5E745A5D78A3}" dt="2024-10-07T10:33:44.921" v="290" actId="20577"/>
        <pc:sldMkLst>
          <pc:docMk/>
          <pc:sldMk cId="978259027" sldId="283"/>
        </pc:sldMkLst>
        <pc:spChg chg="mod">
          <ac:chgData name="Langill, T.A. (Tori)" userId="f2a0729f-78d3-40b0-b388-826b4c078191" providerId="ADAL" clId="{F791F92D-2914-47E2-A0F3-5E745A5D78A3}" dt="2024-10-07T10:33:44.921" v="290" actId="20577"/>
          <ac:spMkLst>
            <pc:docMk/>
            <pc:sldMk cId="978259027" sldId="283"/>
            <ac:spMk id="2" creationId="{25950199-B3ED-9879-8CAE-C62204099719}"/>
          </ac:spMkLst>
        </pc:spChg>
        <pc:spChg chg="del">
          <ac:chgData name="Langill, T.A. (Tori)" userId="f2a0729f-78d3-40b0-b388-826b4c078191" providerId="ADAL" clId="{F791F92D-2914-47E2-A0F3-5E745A5D78A3}" dt="2024-10-07T10:33:35.101" v="286" actId="478"/>
          <ac:spMkLst>
            <pc:docMk/>
            <pc:sldMk cId="978259027" sldId="283"/>
            <ac:spMk id="3" creationId="{87648BA0-D393-3C10-CAB0-5C8235943EB0}"/>
          </ac:spMkLst>
        </pc:spChg>
      </pc:sldChg>
      <pc:sldChg chg="modSp add mod">
        <pc:chgData name="Langill, T.A. (Tori)" userId="f2a0729f-78d3-40b0-b388-826b4c078191" providerId="ADAL" clId="{F791F92D-2914-47E2-A0F3-5E745A5D78A3}" dt="2024-10-07T10:33:52.710" v="292" actId="13926"/>
        <pc:sldMkLst>
          <pc:docMk/>
          <pc:sldMk cId="330633827" sldId="284"/>
        </pc:sldMkLst>
        <pc:spChg chg="mod">
          <ac:chgData name="Langill, T.A. (Tori)" userId="f2a0729f-78d3-40b0-b388-826b4c078191" providerId="ADAL" clId="{F791F92D-2914-47E2-A0F3-5E745A5D78A3}" dt="2024-10-07T10:33:52.710" v="292" actId="13926"/>
          <ac:spMkLst>
            <pc:docMk/>
            <pc:sldMk cId="330633827" sldId="284"/>
            <ac:spMk id="2" creationId="{25950199-B3ED-9879-8CAE-C62204099719}"/>
          </ac:spMkLst>
        </pc:spChg>
      </pc:sldChg>
      <pc:sldChg chg="delSp modSp new mod">
        <pc:chgData name="Langill, T.A. (Tori)" userId="f2a0729f-78d3-40b0-b388-826b4c078191" providerId="ADAL" clId="{F791F92D-2914-47E2-A0F3-5E745A5D78A3}" dt="2024-10-07T10:37:39.177" v="318" actId="13926"/>
        <pc:sldMkLst>
          <pc:docMk/>
          <pc:sldMk cId="435541326" sldId="285"/>
        </pc:sldMkLst>
        <pc:spChg chg="mod">
          <ac:chgData name="Langill, T.A. (Tori)" userId="f2a0729f-78d3-40b0-b388-826b4c078191" providerId="ADAL" clId="{F791F92D-2914-47E2-A0F3-5E745A5D78A3}" dt="2024-10-07T10:37:39.177" v="318" actId="13926"/>
          <ac:spMkLst>
            <pc:docMk/>
            <pc:sldMk cId="435541326" sldId="285"/>
            <ac:spMk id="2" creationId="{8AC5B19E-6C56-220C-A94A-9715888185AA}"/>
          </ac:spMkLst>
        </pc:spChg>
        <pc:spChg chg="del">
          <ac:chgData name="Langill, T.A. (Tori)" userId="f2a0729f-78d3-40b0-b388-826b4c078191" providerId="ADAL" clId="{F791F92D-2914-47E2-A0F3-5E745A5D78A3}" dt="2024-10-07T10:34:38.038" v="296" actId="478"/>
          <ac:spMkLst>
            <pc:docMk/>
            <pc:sldMk cId="435541326" sldId="285"/>
            <ac:spMk id="3" creationId="{F95645C6-9437-EBAE-9578-4BB0E00325CD}"/>
          </ac:spMkLst>
        </pc:spChg>
      </pc:sldChg>
      <pc:sldChg chg="delSp modSp new mod">
        <pc:chgData name="Langill, T.A. (Tori)" userId="f2a0729f-78d3-40b0-b388-826b4c078191" providerId="ADAL" clId="{F791F92D-2914-47E2-A0F3-5E745A5D78A3}" dt="2024-10-07T10:37:56.552" v="321" actId="13926"/>
        <pc:sldMkLst>
          <pc:docMk/>
          <pc:sldMk cId="1475718721" sldId="286"/>
        </pc:sldMkLst>
        <pc:spChg chg="mod">
          <ac:chgData name="Langill, T.A. (Tori)" userId="f2a0729f-78d3-40b0-b388-826b4c078191" providerId="ADAL" clId="{F791F92D-2914-47E2-A0F3-5E745A5D78A3}" dt="2024-10-07T10:37:56.552" v="321" actId="13926"/>
          <ac:spMkLst>
            <pc:docMk/>
            <pc:sldMk cId="1475718721" sldId="286"/>
            <ac:spMk id="2" creationId="{A37B6C79-5525-28F5-24C2-26933067A6E1}"/>
          </ac:spMkLst>
        </pc:spChg>
        <pc:spChg chg="del">
          <ac:chgData name="Langill, T.A. (Tori)" userId="f2a0729f-78d3-40b0-b388-826b4c078191" providerId="ADAL" clId="{F791F92D-2914-47E2-A0F3-5E745A5D78A3}" dt="2024-10-07T10:35:23.388" v="304" actId="478"/>
          <ac:spMkLst>
            <pc:docMk/>
            <pc:sldMk cId="1475718721" sldId="286"/>
            <ac:spMk id="3" creationId="{CAB25144-8462-A641-4A2F-E73707055F08}"/>
          </ac:spMkLst>
        </pc:spChg>
      </pc:sldChg>
      <pc:sldChg chg="delSp modSp new mod">
        <pc:chgData name="Langill, T.A. (Tori)" userId="f2a0729f-78d3-40b0-b388-826b4c078191" providerId="ADAL" clId="{F791F92D-2914-47E2-A0F3-5E745A5D78A3}" dt="2024-10-07T10:37:19.403" v="314" actId="13926"/>
        <pc:sldMkLst>
          <pc:docMk/>
          <pc:sldMk cId="2694132936" sldId="287"/>
        </pc:sldMkLst>
        <pc:spChg chg="mod">
          <ac:chgData name="Langill, T.A. (Tori)" userId="f2a0729f-78d3-40b0-b388-826b4c078191" providerId="ADAL" clId="{F791F92D-2914-47E2-A0F3-5E745A5D78A3}" dt="2024-10-07T10:37:19.403" v="314" actId="13926"/>
          <ac:spMkLst>
            <pc:docMk/>
            <pc:sldMk cId="2694132936" sldId="287"/>
            <ac:spMk id="2" creationId="{07C52CB1-E82E-5EDC-CD78-39150F0A0B2B}"/>
          </ac:spMkLst>
        </pc:spChg>
        <pc:spChg chg="del">
          <ac:chgData name="Langill, T.A. (Tori)" userId="f2a0729f-78d3-40b0-b388-826b4c078191" providerId="ADAL" clId="{F791F92D-2914-47E2-A0F3-5E745A5D78A3}" dt="2024-10-07T10:37:10.536" v="311" actId="478"/>
          <ac:spMkLst>
            <pc:docMk/>
            <pc:sldMk cId="2694132936" sldId="287"/>
            <ac:spMk id="3" creationId="{480E058B-6BDF-97D1-20FA-E6C1599480D4}"/>
          </ac:spMkLst>
        </pc:spChg>
      </pc:sldChg>
      <pc:sldChg chg="delSp modSp new mod">
        <pc:chgData name="Langill, T.A. (Tori)" userId="f2a0729f-78d3-40b0-b388-826b4c078191" providerId="ADAL" clId="{F791F92D-2914-47E2-A0F3-5E745A5D78A3}" dt="2024-10-07T10:38:49.898" v="349" actId="20577"/>
        <pc:sldMkLst>
          <pc:docMk/>
          <pc:sldMk cId="3311741865" sldId="288"/>
        </pc:sldMkLst>
        <pc:spChg chg="mod">
          <ac:chgData name="Langill, T.A. (Tori)" userId="f2a0729f-78d3-40b0-b388-826b4c078191" providerId="ADAL" clId="{F791F92D-2914-47E2-A0F3-5E745A5D78A3}" dt="2024-10-07T10:38:49.898" v="349" actId="20577"/>
          <ac:spMkLst>
            <pc:docMk/>
            <pc:sldMk cId="3311741865" sldId="288"/>
            <ac:spMk id="2" creationId="{552A5C77-892A-15D5-6CA4-7A30F0BCED8E}"/>
          </ac:spMkLst>
        </pc:spChg>
        <pc:spChg chg="del">
          <ac:chgData name="Langill, T.A. (Tori)" userId="f2a0729f-78d3-40b0-b388-826b4c078191" providerId="ADAL" clId="{F791F92D-2914-47E2-A0F3-5E745A5D78A3}" dt="2024-10-07T10:38:38.035" v="328" actId="478"/>
          <ac:spMkLst>
            <pc:docMk/>
            <pc:sldMk cId="3311741865" sldId="288"/>
            <ac:spMk id="3" creationId="{D02014EE-224D-99EE-B965-D4F0E93B3F02}"/>
          </ac:spMkLst>
        </pc:spChg>
      </pc:sldChg>
      <pc:sldChg chg="add">
        <pc:chgData name="Langill, T.A. (Tori)" userId="f2a0729f-78d3-40b0-b388-826b4c078191" providerId="ADAL" clId="{F791F92D-2914-47E2-A0F3-5E745A5D78A3}" dt="2024-10-07T10:37:33.361" v="316"/>
        <pc:sldMkLst>
          <pc:docMk/>
          <pc:sldMk cId="1334518923" sldId="289"/>
        </pc:sldMkLst>
      </pc:sldChg>
      <pc:sldChg chg="add">
        <pc:chgData name="Langill, T.A. (Tori)" userId="f2a0729f-78d3-40b0-b388-826b4c078191" providerId="ADAL" clId="{F791F92D-2914-47E2-A0F3-5E745A5D78A3}" dt="2024-10-07T10:37:44.120" v="319"/>
        <pc:sldMkLst>
          <pc:docMk/>
          <pc:sldMk cId="405264429" sldId="290"/>
        </pc:sldMkLst>
      </pc:sldChg>
      <pc:sldChg chg="modSp add mod ord">
        <pc:chgData name="Langill, T.A. (Tori)" userId="f2a0729f-78d3-40b0-b388-826b4c078191" providerId="ADAL" clId="{F791F92D-2914-47E2-A0F3-5E745A5D78A3}" dt="2024-10-07T10:38:14.425" v="325" actId="13926"/>
        <pc:sldMkLst>
          <pc:docMk/>
          <pc:sldMk cId="842717212" sldId="291"/>
        </pc:sldMkLst>
        <pc:spChg chg="mod">
          <ac:chgData name="Langill, T.A. (Tori)" userId="f2a0729f-78d3-40b0-b388-826b4c078191" providerId="ADAL" clId="{F791F92D-2914-47E2-A0F3-5E745A5D78A3}" dt="2024-10-07T10:38:14.425" v="325" actId="13926"/>
          <ac:spMkLst>
            <pc:docMk/>
            <pc:sldMk cId="842717212" sldId="291"/>
            <ac:spMk id="2" creationId="{07C52CB1-E82E-5EDC-CD78-39150F0A0B2B}"/>
          </ac:spMkLst>
        </pc:spChg>
      </pc:sldChg>
      <pc:sldChg chg="modSp add mod">
        <pc:chgData name="Langill, T.A. (Tori)" userId="f2a0729f-78d3-40b0-b388-826b4c078191" providerId="ADAL" clId="{F791F92D-2914-47E2-A0F3-5E745A5D78A3}" dt="2024-10-07T10:38:57.227" v="351" actId="13926"/>
        <pc:sldMkLst>
          <pc:docMk/>
          <pc:sldMk cId="1244014208" sldId="292"/>
        </pc:sldMkLst>
        <pc:spChg chg="mod">
          <ac:chgData name="Langill, T.A. (Tori)" userId="f2a0729f-78d3-40b0-b388-826b4c078191" providerId="ADAL" clId="{F791F92D-2914-47E2-A0F3-5E745A5D78A3}" dt="2024-10-07T10:38:57.227" v="351" actId="13926"/>
          <ac:spMkLst>
            <pc:docMk/>
            <pc:sldMk cId="1244014208" sldId="292"/>
            <ac:spMk id="2" creationId="{552A5C77-892A-15D5-6CA4-7A30F0BCED8E}"/>
          </ac:spMkLst>
        </pc:spChg>
      </pc:sldChg>
      <pc:sldChg chg="add">
        <pc:chgData name="Langill, T.A. (Tori)" userId="f2a0729f-78d3-40b0-b388-826b4c078191" providerId="ADAL" clId="{F791F92D-2914-47E2-A0F3-5E745A5D78A3}" dt="2024-10-07T10:39:17.457" v="352"/>
        <pc:sldMkLst>
          <pc:docMk/>
          <pc:sldMk cId="2642061578" sldId="293"/>
        </pc:sldMkLst>
      </pc:sldChg>
      <pc:sldChg chg="add">
        <pc:chgData name="Langill, T.A. (Tori)" userId="f2a0729f-78d3-40b0-b388-826b4c078191" providerId="ADAL" clId="{F791F92D-2914-47E2-A0F3-5E745A5D78A3}" dt="2024-10-07T10:39:17.457" v="352"/>
        <pc:sldMkLst>
          <pc:docMk/>
          <pc:sldMk cId="824657851" sldId="294"/>
        </pc:sldMkLst>
      </pc:sldChg>
      <pc:sldChg chg="add">
        <pc:chgData name="Langill, T.A. (Tori)" userId="f2a0729f-78d3-40b0-b388-826b4c078191" providerId="ADAL" clId="{F791F92D-2914-47E2-A0F3-5E745A5D78A3}" dt="2024-10-07T10:39:17.457" v="352"/>
        <pc:sldMkLst>
          <pc:docMk/>
          <pc:sldMk cId="3388261890" sldId="295"/>
        </pc:sldMkLst>
      </pc:sldChg>
      <pc:sldChg chg="add">
        <pc:chgData name="Langill, T.A. (Tori)" userId="f2a0729f-78d3-40b0-b388-826b4c078191" providerId="ADAL" clId="{F791F92D-2914-47E2-A0F3-5E745A5D78A3}" dt="2024-10-07T10:39:17.457" v="352"/>
        <pc:sldMkLst>
          <pc:docMk/>
          <pc:sldMk cId="3166339758" sldId="296"/>
        </pc:sldMkLst>
      </pc:sldChg>
      <pc:sldChg chg="add">
        <pc:chgData name="Langill, T.A. (Tori)" userId="f2a0729f-78d3-40b0-b388-826b4c078191" providerId="ADAL" clId="{F791F92D-2914-47E2-A0F3-5E745A5D78A3}" dt="2024-10-07T10:39:17.457" v="352"/>
        <pc:sldMkLst>
          <pc:docMk/>
          <pc:sldMk cId="2104146176" sldId="297"/>
        </pc:sldMkLst>
      </pc:sldChg>
      <pc:sldChg chg="add">
        <pc:chgData name="Langill, T.A. (Tori)" userId="f2a0729f-78d3-40b0-b388-826b4c078191" providerId="ADAL" clId="{F791F92D-2914-47E2-A0F3-5E745A5D78A3}" dt="2024-10-07T10:39:17.457" v="352"/>
        <pc:sldMkLst>
          <pc:docMk/>
          <pc:sldMk cId="3554511033" sldId="298"/>
        </pc:sldMkLst>
      </pc:sldChg>
      <pc:sldChg chg="add">
        <pc:chgData name="Langill, T.A. (Tori)" userId="f2a0729f-78d3-40b0-b388-826b4c078191" providerId="ADAL" clId="{F791F92D-2914-47E2-A0F3-5E745A5D78A3}" dt="2024-10-07T10:39:17.457" v="352"/>
        <pc:sldMkLst>
          <pc:docMk/>
          <pc:sldMk cId="2166650579" sldId="299"/>
        </pc:sldMkLst>
      </pc:sldChg>
      <pc:sldChg chg="add">
        <pc:chgData name="Langill, T.A. (Tori)" userId="f2a0729f-78d3-40b0-b388-826b4c078191" providerId="ADAL" clId="{F791F92D-2914-47E2-A0F3-5E745A5D78A3}" dt="2024-10-07T10:39:17.457" v="352"/>
        <pc:sldMkLst>
          <pc:docMk/>
          <pc:sldMk cId="75713069" sldId="300"/>
        </pc:sldMkLst>
      </pc:sldChg>
      <pc:sldChg chg="add">
        <pc:chgData name="Langill, T.A. (Tori)" userId="f2a0729f-78d3-40b0-b388-826b4c078191" providerId="ADAL" clId="{F791F92D-2914-47E2-A0F3-5E745A5D78A3}" dt="2024-10-07T10:39:17.457" v="352"/>
        <pc:sldMkLst>
          <pc:docMk/>
          <pc:sldMk cId="3320677090" sldId="301"/>
        </pc:sldMkLst>
      </pc:sldChg>
      <pc:sldChg chg="add">
        <pc:chgData name="Langill, T.A. (Tori)" userId="f2a0729f-78d3-40b0-b388-826b4c078191" providerId="ADAL" clId="{F791F92D-2914-47E2-A0F3-5E745A5D78A3}" dt="2024-10-07T10:39:17.457" v="352"/>
        <pc:sldMkLst>
          <pc:docMk/>
          <pc:sldMk cId="3762835287" sldId="302"/>
        </pc:sldMkLst>
      </pc:sldChg>
      <pc:sldChg chg="add">
        <pc:chgData name="Langill, T.A. (Tori)" userId="f2a0729f-78d3-40b0-b388-826b4c078191" providerId="ADAL" clId="{F791F92D-2914-47E2-A0F3-5E745A5D78A3}" dt="2024-10-07T10:39:17.457" v="352"/>
        <pc:sldMkLst>
          <pc:docMk/>
          <pc:sldMk cId="3169293559" sldId="303"/>
        </pc:sldMkLst>
      </pc:sldChg>
      <pc:sldChg chg="add">
        <pc:chgData name="Langill, T.A. (Tori)" userId="f2a0729f-78d3-40b0-b388-826b4c078191" providerId="ADAL" clId="{F791F92D-2914-47E2-A0F3-5E745A5D78A3}" dt="2024-10-07T10:39:17.457" v="352"/>
        <pc:sldMkLst>
          <pc:docMk/>
          <pc:sldMk cId="4089447139" sldId="304"/>
        </pc:sldMkLst>
      </pc:sldChg>
      <pc:sldChg chg="add">
        <pc:chgData name="Langill, T.A. (Tori)" userId="f2a0729f-78d3-40b0-b388-826b4c078191" providerId="ADAL" clId="{F791F92D-2914-47E2-A0F3-5E745A5D78A3}" dt="2024-10-07T10:39:17.457" v="352"/>
        <pc:sldMkLst>
          <pc:docMk/>
          <pc:sldMk cId="3649668724" sldId="305"/>
        </pc:sldMkLst>
      </pc:sldChg>
      <pc:sldChg chg="add">
        <pc:chgData name="Langill, T.A. (Tori)" userId="f2a0729f-78d3-40b0-b388-826b4c078191" providerId="ADAL" clId="{F791F92D-2914-47E2-A0F3-5E745A5D78A3}" dt="2024-10-07T10:39:17.457" v="352"/>
        <pc:sldMkLst>
          <pc:docMk/>
          <pc:sldMk cId="828765948" sldId="306"/>
        </pc:sldMkLst>
      </pc:sldChg>
      <pc:sldChg chg="add">
        <pc:chgData name="Langill, T.A. (Tori)" userId="f2a0729f-78d3-40b0-b388-826b4c078191" providerId="ADAL" clId="{F791F92D-2914-47E2-A0F3-5E745A5D78A3}" dt="2024-10-07T10:39:17.457" v="352"/>
        <pc:sldMkLst>
          <pc:docMk/>
          <pc:sldMk cId="3604094887" sldId="307"/>
        </pc:sldMkLst>
      </pc:sldChg>
      <pc:sldChg chg="add">
        <pc:chgData name="Langill, T.A. (Tori)" userId="f2a0729f-78d3-40b0-b388-826b4c078191" providerId="ADAL" clId="{F791F92D-2914-47E2-A0F3-5E745A5D78A3}" dt="2024-10-07T10:39:17.457" v="352"/>
        <pc:sldMkLst>
          <pc:docMk/>
          <pc:sldMk cId="2624562893" sldId="308"/>
        </pc:sldMkLst>
      </pc:sldChg>
      <pc:sldChg chg="add">
        <pc:chgData name="Langill, T.A. (Tori)" userId="f2a0729f-78d3-40b0-b388-826b4c078191" providerId="ADAL" clId="{F791F92D-2914-47E2-A0F3-5E745A5D78A3}" dt="2024-10-07T10:39:17.457" v="352"/>
        <pc:sldMkLst>
          <pc:docMk/>
          <pc:sldMk cId="298043700" sldId="309"/>
        </pc:sldMkLst>
      </pc:sldChg>
      <pc:sldChg chg="add">
        <pc:chgData name="Langill, T.A. (Tori)" userId="f2a0729f-78d3-40b0-b388-826b4c078191" providerId="ADAL" clId="{F791F92D-2914-47E2-A0F3-5E745A5D78A3}" dt="2024-10-07T10:39:17.457" v="352"/>
        <pc:sldMkLst>
          <pc:docMk/>
          <pc:sldMk cId="2204558617" sldId="310"/>
        </pc:sldMkLst>
      </pc:sldChg>
      <pc:sldChg chg="add">
        <pc:chgData name="Langill, T.A. (Tori)" userId="f2a0729f-78d3-40b0-b388-826b4c078191" providerId="ADAL" clId="{F791F92D-2914-47E2-A0F3-5E745A5D78A3}" dt="2024-10-07T10:39:17.457" v="352"/>
        <pc:sldMkLst>
          <pc:docMk/>
          <pc:sldMk cId="272341105" sldId="311"/>
        </pc:sldMkLst>
      </pc:sldChg>
      <pc:sldChg chg="add">
        <pc:chgData name="Langill, T.A. (Tori)" userId="f2a0729f-78d3-40b0-b388-826b4c078191" providerId="ADAL" clId="{F791F92D-2914-47E2-A0F3-5E745A5D78A3}" dt="2024-10-07T10:39:17.457" v="352"/>
        <pc:sldMkLst>
          <pc:docMk/>
          <pc:sldMk cId="3599115190" sldId="312"/>
        </pc:sldMkLst>
      </pc:sldChg>
      <pc:sldChg chg="add">
        <pc:chgData name="Langill, T.A. (Tori)" userId="f2a0729f-78d3-40b0-b388-826b4c078191" providerId="ADAL" clId="{F791F92D-2914-47E2-A0F3-5E745A5D78A3}" dt="2024-10-07T10:39:17.457" v="352"/>
        <pc:sldMkLst>
          <pc:docMk/>
          <pc:sldMk cId="1943307365" sldId="313"/>
        </pc:sldMkLst>
      </pc:sldChg>
      <pc:sldChg chg="add">
        <pc:chgData name="Langill, T.A. (Tori)" userId="f2a0729f-78d3-40b0-b388-826b4c078191" providerId="ADAL" clId="{F791F92D-2914-47E2-A0F3-5E745A5D78A3}" dt="2024-10-07T10:39:17.457" v="352"/>
        <pc:sldMkLst>
          <pc:docMk/>
          <pc:sldMk cId="3490010908" sldId="314"/>
        </pc:sldMkLst>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51CE93-28E7-F835-01CD-AB64F1A68735}"/>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NL"/>
          </a:p>
        </p:txBody>
      </p:sp>
      <p:sp>
        <p:nvSpPr>
          <p:cNvPr id="3" name="Subtitle 2">
            <a:extLst>
              <a:ext uri="{FF2B5EF4-FFF2-40B4-BE49-F238E27FC236}">
                <a16:creationId xmlns:a16="http://schemas.microsoft.com/office/drawing/2014/main" id="{953B0625-7758-CAD4-1C2F-E5855B5EB431}"/>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NL"/>
          </a:p>
        </p:txBody>
      </p:sp>
      <p:sp>
        <p:nvSpPr>
          <p:cNvPr id="4" name="Date Placeholder 3">
            <a:extLst>
              <a:ext uri="{FF2B5EF4-FFF2-40B4-BE49-F238E27FC236}">
                <a16:creationId xmlns:a16="http://schemas.microsoft.com/office/drawing/2014/main" id="{0AD1A194-B632-D43F-55E1-42BFFFFD612E}"/>
              </a:ext>
            </a:extLst>
          </p:cNvPr>
          <p:cNvSpPr>
            <a:spLocks noGrp="1"/>
          </p:cNvSpPr>
          <p:nvPr>
            <p:ph type="dt" sz="half" idx="10"/>
          </p:nvPr>
        </p:nvSpPr>
        <p:spPr/>
        <p:txBody>
          <a:bodyPr/>
          <a:lstStyle/>
          <a:p>
            <a:fld id="{604BC9AD-A006-48C6-903D-5E6C510C3F79}" type="datetimeFigureOut">
              <a:rPr lang="en-NL" smtClean="0"/>
              <a:t>07/10/2024</a:t>
            </a:fld>
            <a:endParaRPr lang="en-NL"/>
          </a:p>
        </p:txBody>
      </p:sp>
      <p:sp>
        <p:nvSpPr>
          <p:cNvPr id="5" name="Footer Placeholder 4">
            <a:extLst>
              <a:ext uri="{FF2B5EF4-FFF2-40B4-BE49-F238E27FC236}">
                <a16:creationId xmlns:a16="http://schemas.microsoft.com/office/drawing/2014/main" id="{0134895B-5A7F-E92F-2151-357629946B9E}"/>
              </a:ext>
            </a:extLst>
          </p:cNvPr>
          <p:cNvSpPr>
            <a:spLocks noGrp="1"/>
          </p:cNvSpPr>
          <p:nvPr>
            <p:ph type="ftr" sz="quarter" idx="11"/>
          </p:nvPr>
        </p:nvSpPr>
        <p:spPr/>
        <p:txBody>
          <a:bodyPr/>
          <a:lstStyle/>
          <a:p>
            <a:endParaRPr lang="en-NL"/>
          </a:p>
        </p:txBody>
      </p:sp>
      <p:sp>
        <p:nvSpPr>
          <p:cNvPr id="6" name="Slide Number Placeholder 5">
            <a:extLst>
              <a:ext uri="{FF2B5EF4-FFF2-40B4-BE49-F238E27FC236}">
                <a16:creationId xmlns:a16="http://schemas.microsoft.com/office/drawing/2014/main" id="{56C2BD51-2F1B-38B1-71C1-97C1ECE5201D}"/>
              </a:ext>
            </a:extLst>
          </p:cNvPr>
          <p:cNvSpPr>
            <a:spLocks noGrp="1"/>
          </p:cNvSpPr>
          <p:nvPr>
            <p:ph type="sldNum" sz="quarter" idx="12"/>
          </p:nvPr>
        </p:nvSpPr>
        <p:spPr/>
        <p:txBody>
          <a:bodyPr/>
          <a:lstStyle/>
          <a:p>
            <a:fld id="{698AA76E-DAAA-4E6A-8390-0ED5E93F1AB9}" type="slidenum">
              <a:rPr lang="en-NL" smtClean="0"/>
              <a:t>‹#›</a:t>
            </a:fld>
            <a:endParaRPr lang="en-NL"/>
          </a:p>
        </p:txBody>
      </p:sp>
    </p:spTree>
    <p:extLst>
      <p:ext uri="{BB962C8B-B14F-4D97-AF65-F5344CB8AC3E}">
        <p14:creationId xmlns:p14="http://schemas.microsoft.com/office/powerpoint/2010/main" val="305785410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1B085A-2E81-A7A9-6914-4D0AF4920FCB}"/>
              </a:ext>
            </a:extLst>
          </p:cNvPr>
          <p:cNvSpPr>
            <a:spLocks noGrp="1"/>
          </p:cNvSpPr>
          <p:nvPr>
            <p:ph type="title"/>
          </p:nvPr>
        </p:nvSpPr>
        <p:spPr/>
        <p:txBody>
          <a:bodyPr/>
          <a:lstStyle/>
          <a:p>
            <a:r>
              <a:rPr lang="en-US"/>
              <a:t>Click to edit Master title style</a:t>
            </a:r>
            <a:endParaRPr lang="en-NL"/>
          </a:p>
        </p:txBody>
      </p:sp>
      <p:sp>
        <p:nvSpPr>
          <p:cNvPr id="3" name="Content Placeholder 2">
            <a:extLst>
              <a:ext uri="{FF2B5EF4-FFF2-40B4-BE49-F238E27FC236}">
                <a16:creationId xmlns:a16="http://schemas.microsoft.com/office/drawing/2014/main" id="{8907D8DE-F1AD-F95E-085B-A88392FB4196}"/>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L"/>
          </a:p>
        </p:txBody>
      </p:sp>
      <p:sp>
        <p:nvSpPr>
          <p:cNvPr id="4" name="Date Placeholder 3">
            <a:extLst>
              <a:ext uri="{FF2B5EF4-FFF2-40B4-BE49-F238E27FC236}">
                <a16:creationId xmlns:a16="http://schemas.microsoft.com/office/drawing/2014/main" id="{A33D6ECB-5556-721D-C0BF-D28267AC1471}"/>
              </a:ext>
            </a:extLst>
          </p:cNvPr>
          <p:cNvSpPr>
            <a:spLocks noGrp="1"/>
          </p:cNvSpPr>
          <p:nvPr>
            <p:ph type="dt" sz="half" idx="10"/>
          </p:nvPr>
        </p:nvSpPr>
        <p:spPr/>
        <p:txBody>
          <a:bodyPr/>
          <a:lstStyle/>
          <a:p>
            <a:fld id="{604BC9AD-A006-48C6-903D-5E6C510C3F79}" type="datetimeFigureOut">
              <a:rPr lang="en-NL" smtClean="0"/>
              <a:t>07/10/2024</a:t>
            </a:fld>
            <a:endParaRPr lang="en-NL"/>
          </a:p>
        </p:txBody>
      </p:sp>
      <p:sp>
        <p:nvSpPr>
          <p:cNvPr id="5" name="Footer Placeholder 4">
            <a:extLst>
              <a:ext uri="{FF2B5EF4-FFF2-40B4-BE49-F238E27FC236}">
                <a16:creationId xmlns:a16="http://schemas.microsoft.com/office/drawing/2014/main" id="{5AC5D24C-C0A9-BEEF-8FE5-0FF9D97D99B9}"/>
              </a:ext>
            </a:extLst>
          </p:cNvPr>
          <p:cNvSpPr>
            <a:spLocks noGrp="1"/>
          </p:cNvSpPr>
          <p:nvPr>
            <p:ph type="ftr" sz="quarter" idx="11"/>
          </p:nvPr>
        </p:nvSpPr>
        <p:spPr/>
        <p:txBody>
          <a:bodyPr/>
          <a:lstStyle/>
          <a:p>
            <a:endParaRPr lang="en-NL"/>
          </a:p>
        </p:txBody>
      </p:sp>
      <p:sp>
        <p:nvSpPr>
          <p:cNvPr id="6" name="Slide Number Placeholder 5">
            <a:extLst>
              <a:ext uri="{FF2B5EF4-FFF2-40B4-BE49-F238E27FC236}">
                <a16:creationId xmlns:a16="http://schemas.microsoft.com/office/drawing/2014/main" id="{17D8E0A4-70F2-26E8-1828-A2EC350CC995}"/>
              </a:ext>
            </a:extLst>
          </p:cNvPr>
          <p:cNvSpPr>
            <a:spLocks noGrp="1"/>
          </p:cNvSpPr>
          <p:nvPr>
            <p:ph type="sldNum" sz="quarter" idx="12"/>
          </p:nvPr>
        </p:nvSpPr>
        <p:spPr/>
        <p:txBody>
          <a:bodyPr/>
          <a:lstStyle/>
          <a:p>
            <a:fld id="{698AA76E-DAAA-4E6A-8390-0ED5E93F1AB9}" type="slidenum">
              <a:rPr lang="en-NL" smtClean="0"/>
              <a:t>‹#›</a:t>
            </a:fld>
            <a:endParaRPr lang="en-NL"/>
          </a:p>
        </p:txBody>
      </p:sp>
    </p:spTree>
    <p:extLst>
      <p:ext uri="{BB962C8B-B14F-4D97-AF65-F5344CB8AC3E}">
        <p14:creationId xmlns:p14="http://schemas.microsoft.com/office/powerpoint/2010/main" val="250333704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EC1065-90F6-D2A7-9FA4-6DBF910837F2}"/>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NL"/>
          </a:p>
        </p:txBody>
      </p:sp>
      <p:sp>
        <p:nvSpPr>
          <p:cNvPr id="3" name="Text Placeholder 2">
            <a:extLst>
              <a:ext uri="{FF2B5EF4-FFF2-40B4-BE49-F238E27FC236}">
                <a16:creationId xmlns:a16="http://schemas.microsoft.com/office/drawing/2014/main" id="{2C206AB4-4245-C3F5-FC06-8B31594DC1F2}"/>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4E8DC7BF-B650-AEDC-BCC8-2D71CDB97E32}"/>
              </a:ext>
            </a:extLst>
          </p:cNvPr>
          <p:cNvSpPr>
            <a:spLocks noGrp="1"/>
          </p:cNvSpPr>
          <p:nvPr>
            <p:ph type="dt" sz="half" idx="10"/>
          </p:nvPr>
        </p:nvSpPr>
        <p:spPr/>
        <p:txBody>
          <a:bodyPr/>
          <a:lstStyle/>
          <a:p>
            <a:fld id="{604BC9AD-A006-48C6-903D-5E6C510C3F79}" type="datetimeFigureOut">
              <a:rPr lang="en-NL" smtClean="0"/>
              <a:t>07/10/2024</a:t>
            </a:fld>
            <a:endParaRPr lang="en-NL"/>
          </a:p>
        </p:txBody>
      </p:sp>
      <p:sp>
        <p:nvSpPr>
          <p:cNvPr id="5" name="Footer Placeholder 4">
            <a:extLst>
              <a:ext uri="{FF2B5EF4-FFF2-40B4-BE49-F238E27FC236}">
                <a16:creationId xmlns:a16="http://schemas.microsoft.com/office/drawing/2014/main" id="{5F2ABAE5-36B6-2B0A-6E39-E7C1BFC5FEAC}"/>
              </a:ext>
            </a:extLst>
          </p:cNvPr>
          <p:cNvSpPr>
            <a:spLocks noGrp="1"/>
          </p:cNvSpPr>
          <p:nvPr>
            <p:ph type="ftr" sz="quarter" idx="11"/>
          </p:nvPr>
        </p:nvSpPr>
        <p:spPr/>
        <p:txBody>
          <a:bodyPr/>
          <a:lstStyle/>
          <a:p>
            <a:endParaRPr lang="en-NL"/>
          </a:p>
        </p:txBody>
      </p:sp>
      <p:sp>
        <p:nvSpPr>
          <p:cNvPr id="6" name="Slide Number Placeholder 5">
            <a:extLst>
              <a:ext uri="{FF2B5EF4-FFF2-40B4-BE49-F238E27FC236}">
                <a16:creationId xmlns:a16="http://schemas.microsoft.com/office/drawing/2014/main" id="{BA6E4B2A-B153-2C4C-E199-9488C858C93B}"/>
              </a:ext>
            </a:extLst>
          </p:cNvPr>
          <p:cNvSpPr>
            <a:spLocks noGrp="1"/>
          </p:cNvSpPr>
          <p:nvPr>
            <p:ph type="sldNum" sz="quarter" idx="12"/>
          </p:nvPr>
        </p:nvSpPr>
        <p:spPr/>
        <p:txBody>
          <a:bodyPr/>
          <a:lstStyle/>
          <a:p>
            <a:fld id="{698AA76E-DAAA-4E6A-8390-0ED5E93F1AB9}" type="slidenum">
              <a:rPr lang="en-NL" smtClean="0"/>
              <a:t>‹#›</a:t>
            </a:fld>
            <a:endParaRPr lang="en-NL"/>
          </a:p>
        </p:txBody>
      </p:sp>
    </p:spTree>
    <p:extLst>
      <p:ext uri="{BB962C8B-B14F-4D97-AF65-F5344CB8AC3E}">
        <p14:creationId xmlns:p14="http://schemas.microsoft.com/office/powerpoint/2010/main" val="252045329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CE9EED-5E22-5FE4-C58E-025D394EFA53}"/>
              </a:ext>
            </a:extLst>
          </p:cNvPr>
          <p:cNvSpPr>
            <a:spLocks noGrp="1"/>
          </p:cNvSpPr>
          <p:nvPr>
            <p:ph type="title"/>
          </p:nvPr>
        </p:nvSpPr>
        <p:spPr/>
        <p:txBody>
          <a:bodyPr/>
          <a:lstStyle/>
          <a:p>
            <a:r>
              <a:rPr lang="en-US"/>
              <a:t>Click to edit Master title style</a:t>
            </a:r>
            <a:endParaRPr lang="en-NL"/>
          </a:p>
        </p:txBody>
      </p:sp>
      <p:sp>
        <p:nvSpPr>
          <p:cNvPr id="3" name="Content Placeholder 2">
            <a:extLst>
              <a:ext uri="{FF2B5EF4-FFF2-40B4-BE49-F238E27FC236}">
                <a16:creationId xmlns:a16="http://schemas.microsoft.com/office/drawing/2014/main" id="{B3FA1253-9504-BBF2-4C21-1C4CA059FD6C}"/>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L"/>
          </a:p>
        </p:txBody>
      </p:sp>
      <p:sp>
        <p:nvSpPr>
          <p:cNvPr id="4" name="Content Placeholder 3">
            <a:extLst>
              <a:ext uri="{FF2B5EF4-FFF2-40B4-BE49-F238E27FC236}">
                <a16:creationId xmlns:a16="http://schemas.microsoft.com/office/drawing/2014/main" id="{9D6920F6-686C-ED0A-9436-433DD978958A}"/>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L"/>
          </a:p>
        </p:txBody>
      </p:sp>
      <p:sp>
        <p:nvSpPr>
          <p:cNvPr id="5" name="Date Placeholder 4">
            <a:extLst>
              <a:ext uri="{FF2B5EF4-FFF2-40B4-BE49-F238E27FC236}">
                <a16:creationId xmlns:a16="http://schemas.microsoft.com/office/drawing/2014/main" id="{BEFBF579-34DD-97A3-84C2-E554C1D27246}"/>
              </a:ext>
            </a:extLst>
          </p:cNvPr>
          <p:cNvSpPr>
            <a:spLocks noGrp="1"/>
          </p:cNvSpPr>
          <p:nvPr>
            <p:ph type="dt" sz="half" idx="10"/>
          </p:nvPr>
        </p:nvSpPr>
        <p:spPr/>
        <p:txBody>
          <a:bodyPr/>
          <a:lstStyle/>
          <a:p>
            <a:fld id="{604BC9AD-A006-48C6-903D-5E6C510C3F79}" type="datetimeFigureOut">
              <a:rPr lang="en-NL" smtClean="0"/>
              <a:t>07/10/2024</a:t>
            </a:fld>
            <a:endParaRPr lang="en-NL"/>
          </a:p>
        </p:txBody>
      </p:sp>
      <p:sp>
        <p:nvSpPr>
          <p:cNvPr id="6" name="Footer Placeholder 5">
            <a:extLst>
              <a:ext uri="{FF2B5EF4-FFF2-40B4-BE49-F238E27FC236}">
                <a16:creationId xmlns:a16="http://schemas.microsoft.com/office/drawing/2014/main" id="{92FC3963-D00C-ECAD-BB53-142286020FA1}"/>
              </a:ext>
            </a:extLst>
          </p:cNvPr>
          <p:cNvSpPr>
            <a:spLocks noGrp="1"/>
          </p:cNvSpPr>
          <p:nvPr>
            <p:ph type="ftr" sz="quarter" idx="11"/>
          </p:nvPr>
        </p:nvSpPr>
        <p:spPr/>
        <p:txBody>
          <a:bodyPr/>
          <a:lstStyle/>
          <a:p>
            <a:endParaRPr lang="en-NL"/>
          </a:p>
        </p:txBody>
      </p:sp>
      <p:sp>
        <p:nvSpPr>
          <p:cNvPr id="7" name="Slide Number Placeholder 6">
            <a:extLst>
              <a:ext uri="{FF2B5EF4-FFF2-40B4-BE49-F238E27FC236}">
                <a16:creationId xmlns:a16="http://schemas.microsoft.com/office/drawing/2014/main" id="{EB21285F-B1AB-6161-B679-B15289EC346D}"/>
              </a:ext>
            </a:extLst>
          </p:cNvPr>
          <p:cNvSpPr>
            <a:spLocks noGrp="1"/>
          </p:cNvSpPr>
          <p:nvPr>
            <p:ph type="sldNum" sz="quarter" idx="12"/>
          </p:nvPr>
        </p:nvSpPr>
        <p:spPr/>
        <p:txBody>
          <a:bodyPr/>
          <a:lstStyle/>
          <a:p>
            <a:fld id="{698AA76E-DAAA-4E6A-8390-0ED5E93F1AB9}" type="slidenum">
              <a:rPr lang="en-NL" smtClean="0"/>
              <a:t>‹#›</a:t>
            </a:fld>
            <a:endParaRPr lang="en-NL"/>
          </a:p>
        </p:txBody>
      </p:sp>
    </p:spTree>
    <p:extLst>
      <p:ext uri="{BB962C8B-B14F-4D97-AF65-F5344CB8AC3E}">
        <p14:creationId xmlns:p14="http://schemas.microsoft.com/office/powerpoint/2010/main" val="353578417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E42D1E-8BDC-BEBE-980E-5F8AB7ADCF90}"/>
              </a:ext>
            </a:extLst>
          </p:cNvPr>
          <p:cNvSpPr>
            <a:spLocks noGrp="1"/>
          </p:cNvSpPr>
          <p:nvPr>
            <p:ph type="title"/>
          </p:nvPr>
        </p:nvSpPr>
        <p:spPr>
          <a:xfrm>
            <a:off x="839788" y="365125"/>
            <a:ext cx="10515600" cy="1325563"/>
          </a:xfrm>
        </p:spPr>
        <p:txBody>
          <a:bodyPr/>
          <a:lstStyle/>
          <a:p>
            <a:r>
              <a:rPr lang="en-US"/>
              <a:t>Click to edit Master title style</a:t>
            </a:r>
            <a:endParaRPr lang="en-NL"/>
          </a:p>
        </p:txBody>
      </p:sp>
      <p:sp>
        <p:nvSpPr>
          <p:cNvPr id="3" name="Text Placeholder 2">
            <a:extLst>
              <a:ext uri="{FF2B5EF4-FFF2-40B4-BE49-F238E27FC236}">
                <a16:creationId xmlns:a16="http://schemas.microsoft.com/office/drawing/2014/main" id="{653EAEBB-0675-8FA0-C599-44B54F0DBF99}"/>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4E8F436E-8E7C-2066-8D42-B02740275981}"/>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L"/>
          </a:p>
        </p:txBody>
      </p:sp>
      <p:sp>
        <p:nvSpPr>
          <p:cNvPr id="5" name="Text Placeholder 4">
            <a:extLst>
              <a:ext uri="{FF2B5EF4-FFF2-40B4-BE49-F238E27FC236}">
                <a16:creationId xmlns:a16="http://schemas.microsoft.com/office/drawing/2014/main" id="{B1C050DA-F1FE-A857-7B9C-058259A56AB5}"/>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839C79EF-963F-E8B9-3A5A-9991AFF7C2D5}"/>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L"/>
          </a:p>
        </p:txBody>
      </p:sp>
      <p:sp>
        <p:nvSpPr>
          <p:cNvPr id="7" name="Date Placeholder 6">
            <a:extLst>
              <a:ext uri="{FF2B5EF4-FFF2-40B4-BE49-F238E27FC236}">
                <a16:creationId xmlns:a16="http://schemas.microsoft.com/office/drawing/2014/main" id="{072FB237-AB92-4AB3-34A7-235127AC97B7}"/>
              </a:ext>
            </a:extLst>
          </p:cNvPr>
          <p:cNvSpPr>
            <a:spLocks noGrp="1"/>
          </p:cNvSpPr>
          <p:nvPr>
            <p:ph type="dt" sz="half" idx="10"/>
          </p:nvPr>
        </p:nvSpPr>
        <p:spPr/>
        <p:txBody>
          <a:bodyPr/>
          <a:lstStyle/>
          <a:p>
            <a:fld id="{604BC9AD-A006-48C6-903D-5E6C510C3F79}" type="datetimeFigureOut">
              <a:rPr lang="en-NL" smtClean="0"/>
              <a:t>07/10/2024</a:t>
            </a:fld>
            <a:endParaRPr lang="en-NL"/>
          </a:p>
        </p:txBody>
      </p:sp>
      <p:sp>
        <p:nvSpPr>
          <p:cNvPr id="8" name="Footer Placeholder 7">
            <a:extLst>
              <a:ext uri="{FF2B5EF4-FFF2-40B4-BE49-F238E27FC236}">
                <a16:creationId xmlns:a16="http://schemas.microsoft.com/office/drawing/2014/main" id="{F7D595AF-C2E4-CEFA-81A4-F8AE871BC5D9}"/>
              </a:ext>
            </a:extLst>
          </p:cNvPr>
          <p:cNvSpPr>
            <a:spLocks noGrp="1"/>
          </p:cNvSpPr>
          <p:nvPr>
            <p:ph type="ftr" sz="quarter" idx="11"/>
          </p:nvPr>
        </p:nvSpPr>
        <p:spPr/>
        <p:txBody>
          <a:bodyPr/>
          <a:lstStyle/>
          <a:p>
            <a:endParaRPr lang="en-NL"/>
          </a:p>
        </p:txBody>
      </p:sp>
      <p:sp>
        <p:nvSpPr>
          <p:cNvPr id="9" name="Slide Number Placeholder 8">
            <a:extLst>
              <a:ext uri="{FF2B5EF4-FFF2-40B4-BE49-F238E27FC236}">
                <a16:creationId xmlns:a16="http://schemas.microsoft.com/office/drawing/2014/main" id="{2C92BA99-12FD-03FD-7FAC-2D914B192604}"/>
              </a:ext>
            </a:extLst>
          </p:cNvPr>
          <p:cNvSpPr>
            <a:spLocks noGrp="1"/>
          </p:cNvSpPr>
          <p:nvPr>
            <p:ph type="sldNum" sz="quarter" idx="12"/>
          </p:nvPr>
        </p:nvSpPr>
        <p:spPr/>
        <p:txBody>
          <a:bodyPr/>
          <a:lstStyle/>
          <a:p>
            <a:fld id="{698AA76E-DAAA-4E6A-8390-0ED5E93F1AB9}" type="slidenum">
              <a:rPr lang="en-NL" smtClean="0"/>
              <a:t>‹#›</a:t>
            </a:fld>
            <a:endParaRPr lang="en-NL"/>
          </a:p>
        </p:txBody>
      </p:sp>
    </p:spTree>
    <p:extLst>
      <p:ext uri="{BB962C8B-B14F-4D97-AF65-F5344CB8AC3E}">
        <p14:creationId xmlns:p14="http://schemas.microsoft.com/office/powerpoint/2010/main" val="51998342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71149B-7F00-9404-56FC-A6F49AC984F0}"/>
              </a:ext>
            </a:extLst>
          </p:cNvPr>
          <p:cNvSpPr>
            <a:spLocks noGrp="1"/>
          </p:cNvSpPr>
          <p:nvPr>
            <p:ph type="title"/>
          </p:nvPr>
        </p:nvSpPr>
        <p:spPr/>
        <p:txBody>
          <a:bodyPr/>
          <a:lstStyle/>
          <a:p>
            <a:r>
              <a:rPr lang="en-US"/>
              <a:t>Click to edit Master title style</a:t>
            </a:r>
            <a:endParaRPr lang="en-NL"/>
          </a:p>
        </p:txBody>
      </p:sp>
      <p:sp>
        <p:nvSpPr>
          <p:cNvPr id="3" name="Date Placeholder 2">
            <a:extLst>
              <a:ext uri="{FF2B5EF4-FFF2-40B4-BE49-F238E27FC236}">
                <a16:creationId xmlns:a16="http://schemas.microsoft.com/office/drawing/2014/main" id="{02D55395-92C4-FAA1-9CAD-A56E2F37E3AC}"/>
              </a:ext>
            </a:extLst>
          </p:cNvPr>
          <p:cNvSpPr>
            <a:spLocks noGrp="1"/>
          </p:cNvSpPr>
          <p:nvPr>
            <p:ph type="dt" sz="half" idx="10"/>
          </p:nvPr>
        </p:nvSpPr>
        <p:spPr/>
        <p:txBody>
          <a:bodyPr/>
          <a:lstStyle/>
          <a:p>
            <a:fld id="{604BC9AD-A006-48C6-903D-5E6C510C3F79}" type="datetimeFigureOut">
              <a:rPr lang="en-NL" smtClean="0"/>
              <a:t>07/10/2024</a:t>
            </a:fld>
            <a:endParaRPr lang="en-NL"/>
          </a:p>
        </p:txBody>
      </p:sp>
      <p:sp>
        <p:nvSpPr>
          <p:cNvPr id="4" name="Footer Placeholder 3">
            <a:extLst>
              <a:ext uri="{FF2B5EF4-FFF2-40B4-BE49-F238E27FC236}">
                <a16:creationId xmlns:a16="http://schemas.microsoft.com/office/drawing/2014/main" id="{FCC54F91-F2A8-F18F-04AA-0575B457F326}"/>
              </a:ext>
            </a:extLst>
          </p:cNvPr>
          <p:cNvSpPr>
            <a:spLocks noGrp="1"/>
          </p:cNvSpPr>
          <p:nvPr>
            <p:ph type="ftr" sz="quarter" idx="11"/>
          </p:nvPr>
        </p:nvSpPr>
        <p:spPr/>
        <p:txBody>
          <a:bodyPr/>
          <a:lstStyle/>
          <a:p>
            <a:endParaRPr lang="en-NL"/>
          </a:p>
        </p:txBody>
      </p:sp>
      <p:sp>
        <p:nvSpPr>
          <p:cNvPr id="5" name="Slide Number Placeholder 4">
            <a:extLst>
              <a:ext uri="{FF2B5EF4-FFF2-40B4-BE49-F238E27FC236}">
                <a16:creationId xmlns:a16="http://schemas.microsoft.com/office/drawing/2014/main" id="{0986EC6F-5299-B966-8BB2-D4F9C4D2D792}"/>
              </a:ext>
            </a:extLst>
          </p:cNvPr>
          <p:cNvSpPr>
            <a:spLocks noGrp="1"/>
          </p:cNvSpPr>
          <p:nvPr>
            <p:ph type="sldNum" sz="quarter" idx="12"/>
          </p:nvPr>
        </p:nvSpPr>
        <p:spPr/>
        <p:txBody>
          <a:bodyPr/>
          <a:lstStyle/>
          <a:p>
            <a:fld id="{698AA76E-DAAA-4E6A-8390-0ED5E93F1AB9}" type="slidenum">
              <a:rPr lang="en-NL" smtClean="0"/>
              <a:t>‹#›</a:t>
            </a:fld>
            <a:endParaRPr lang="en-NL"/>
          </a:p>
        </p:txBody>
      </p:sp>
    </p:spTree>
    <p:extLst>
      <p:ext uri="{BB962C8B-B14F-4D97-AF65-F5344CB8AC3E}">
        <p14:creationId xmlns:p14="http://schemas.microsoft.com/office/powerpoint/2010/main" val="415046916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6027348-5F2B-674A-A02D-AC0AAD7D5E8A}"/>
              </a:ext>
            </a:extLst>
          </p:cNvPr>
          <p:cNvSpPr>
            <a:spLocks noGrp="1"/>
          </p:cNvSpPr>
          <p:nvPr>
            <p:ph type="dt" sz="half" idx="10"/>
          </p:nvPr>
        </p:nvSpPr>
        <p:spPr/>
        <p:txBody>
          <a:bodyPr/>
          <a:lstStyle/>
          <a:p>
            <a:fld id="{604BC9AD-A006-48C6-903D-5E6C510C3F79}" type="datetimeFigureOut">
              <a:rPr lang="en-NL" smtClean="0"/>
              <a:t>07/10/2024</a:t>
            </a:fld>
            <a:endParaRPr lang="en-NL"/>
          </a:p>
        </p:txBody>
      </p:sp>
      <p:sp>
        <p:nvSpPr>
          <p:cNvPr id="3" name="Footer Placeholder 2">
            <a:extLst>
              <a:ext uri="{FF2B5EF4-FFF2-40B4-BE49-F238E27FC236}">
                <a16:creationId xmlns:a16="http://schemas.microsoft.com/office/drawing/2014/main" id="{E67EAA22-25E0-D769-F250-655C1D6B8DC0}"/>
              </a:ext>
            </a:extLst>
          </p:cNvPr>
          <p:cNvSpPr>
            <a:spLocks noGrp="1"/>
          </p:cNvSpPr>
          <p:nvPr>
            <p:ph type="ftr" sz="quarter" idx="11"/>
          </p:nvPr>
        </p:nvSpPr>
        <p:spPr/>
        <p:txBody>
          <a:bodyPr/>
          <a:lstStyle/>
          <a:p>
            <a:endParaRPr lang="en-NL"/>
          </a:p>
        </p:txBody>
      </p:sp>
      <p:sp>
        <p:nvSpPr>
          <p:cNvPr id="4" name="Slide Number Placeholder 3">
            <a:extLst>
              <a:ext uri="{FF2B5EF4-FFF2-40B4-BE49-F238E27FC236}">
                <a16:creationId xmlns:a16="http://schemas.microsoft.com/office/drawing/2014/main" id="{A4EFDCB1-C741-27D6-F53E-C738C3F41D0F}"/>
              </a:ext>
            </a:extLst>
          </p:cNvPr>
          <p:cNvSpPr>
            <a:spLocks noGrp="1"/>
          </p:cNvSpPr>
          <p:nvPr>
            <p:ph type="sldNum" sz="quarter" idx="12"/>
          </p:nvPr>
        </p:nvSpPr>
        <p:spPr/>
        <p:txBody>
          <a:bodyPr/>
          <a:lstStyle/>
          <a:p>
            <a:fld id="{698AA76E-DAAA-4E6A-8390-0ED5E93F1AB9}" type="slidenum">
              <a:rPr lang="en-NL" smtClean="0"/>
              <a:t>‹#›</a:t>
            </a:fld>
            <a:endParaRPr lang="en-NL"/>
          </a:p>
        </p:txBody>
      </p:sp>
    </p:spTree>
    <p:extLst>
      <p:ext uri="{BB962C8B-B14F-4D97-AF65-F5344CB8AC3E}">
        <p14:creationId xmlns:p14="http://schemas.microsoft.com/office/powerpoint/2010/main" val="240518660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D3D147-FEA3-E4FD-7C83-5DF0CA74FEF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NL"/>
          </a:p>
        </p:txBody>
      </p:sp>
      <p:sp>
        <p:nvSpPr>
          <p:cNvPr id="3" name="Content Placeholder 2">
            <a:extLst>
              <a:ext uri="{FF2B5EF4-FFF2-40B4-BE49-F238E27FC236}">
                <a16:creationId xmlns:a16="http://schemas.microsoft.com/office/drawing/2014/main" id="{2323D092-AE28-8515-1973-EED197482EB9}"/>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L"/>
          </a:p>
        </p:txBody>
      </p:sp>
      <p:sp>
        <p:nvSpPr>
          <p:cNvPr id="4" name="Text Placeholder 3">
            <a:extLst>
              <a:ext uri="{FF2B5EF4-FFF2-40B4-BE49-F238E27FC236}">
                <a16:creationId xmlns:a16="http://schemas.microsoft.com/office/drawing/2014/main" id="{AD125083-F302-BD3E-AC92-CB0F472ECC9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EC4AE21-6E04-9D16-4E5F-8A6BE92390BD}"/>
              </a:ext>
            </a:extLst>
          </p:cNvPr>
          <p:cNvSpPr>
            <a:spLocks noGrp="1"/>
          </p:cNvSpPr>
          <p:nvPr>
            <p:ph type="dt" sz="half" idx="10"/>
          </p:nvPr>
        </p:nvSpPr>
        <p:spPr/>
        <p:txBody>
          <a:bodyPr/>
          <a:lstStyle/>
          <a:p>
            <a:fld id="{604BC9AD-A006-48C6-903D-5E6C510C3F79}" type="datetimeFigureOut">
              <a:rPr lang="en-NL" smtClean="0"/>
              <a:t>07/10/2024</a:t>
            </a:fld>
            <a:endParaRPr lang="en-NL"/>
          </a:p>
        </p:txBody>
      </p:sp>
      <p:sp>
        <p:nvSpPr>
          <p:cNvPr id="6" name="Footer Placeholder 5">
            <a:extLst>
              <a:ext uri="{FF2B5EF4-FFF2-40B4-BE49-F238E27FC236}">
                <a16:creationId xmlns:a16="http://schemas.microsoft.com/office/drawing/2014/main" id="{711355E4-AA75-494C-0BEA-E33067AF62CA}"/>
              </a:ext>
            </a:extLst>
          </p:cNvPr>
          <p:cNvSpPr>
            <a:spLocks noGrp="1"/>
          </p:cNvSpPr>
          <p:nvPr>
            <p:ph type="ftr" sz="quarter" idx="11"/>
          </p:nvPr>
        </p:nvSpPr>
        <p:spPr/>
        <p:txBody>
          <a:bodyPr/>
          <a:lstStyle/>
          <a:p>
            <a:endParaRPr lang="en-NL"/>
          </a:p>
        </p:txBody>
      </p:sp>
      <p:sp>
        <p:nvSpPr>
          <p:cNvPr id="7" name="Slide Number Placeholder 6">
            <a:extLst>
              <a:ext uri="{FF2B5EF4-FFF2-40B4-BE49-F238E27FC236}">
                <a16:creationId xmlns:a16="http://schemas.microsoft.com/office/drawing/2014/main" id="{6164B156-200F-7FDC-2A8F-715BB7589241}"/>
              </a:ext>
            </a:extLst>
          </p:cNvPr>
          <p:cNvSpPr>
            <a:spLocks noGrp="1"/>
          </p:cNvSpPr>
          <p:nvPr>
            <p:ph type="sldNum" sz="quarter" idx="12"/>
          </p:nvPr>
        </p:nvSpPr>
        <p:spPr/>
        <p:txBody>
          <a:bodyPr/>
          <a:lstStyle/>
          <a:p>
            <a:fld id="{698AA76E-DAAA-4E6A-8390-0ED5E93F1AB9}" type="slidenum">
              <a:rPr lang="en-NL" smtClean="0"/>
              <a:t>‹#›</a:t>
            </a:fld>
            <a:endParaRPr lang="en-NL"/>
          </a:p>
        </p:txBody>
      </p:sp>
    </p:spTree>
    <p:extLst>
      <p:ext uri="{BB962C8B-B14F-4D97-AF65-F5344CB8AC3E}">
        <p14:creationId xmlns:p14="http://schemas.microsoft.com/office/powerpoint/2010/main" val="182469672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103D76-FBC7-0250-4AD0-A5372A5B2B8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NL"/>
          </a:p>
        </p:txBody>
      </p:sp>
      <p:sp>
        <p:nvSpPr>
          <p:cNvPr id="3" name="Picture Placeholder 2">
            <a:extLst>
              <a:ext uri="{FF2B5EF4-FFF2-40B4-BE49-F238E27FC236}">
                <a16:creationId xmlns:a16="http://schemas.microsoft.com/office/drawing/2014/main" id="{E1FD3AE7-0725-B81C-B91B-9F87278202B3}"/>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NL"/>
          </a:p>
        </p:txBody>
      </p:sp>
      <p:sp>
        <p:nvSpPr>
          <p:cNvPr id="4" name="Text Placeholder 3">
            <a:extLst>
              <a:ext uri="{FF2B5EF4-FFF2-40B4-BE49-F238E27FC236}">
                <a16:creationId xmlns:a16="http://schemas.microsoft.com/office/drawing/2014/main" id="{B6BBC620-AA7B-BD89-F04A-F0D0DEAC4B1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F9B620D-C0EA-0258-5037-59F1AEDDB2EC}"/>
              </a:ext>
            </a:extLst>
          </p:cNvPr>
          <p:cNvSpPr>
            <a:spLocks noGrp="1"/>
          </p:cNvSpPr>
          <p:nvPr>
            <p:ph type="dt" sz="half" idx="10"/>
          </p:nvPr>
        </p:nvSpPr>
        <p:spPr/>
        <p:txBody>
          <a:bodyPr/>
          <a:lstStyle/>
          <a:p>
            <a:fld id="{604BC9AD-A006-48C6-903D-5E6C510C3F79}" type="datetimeFigureOut">
              <a:rPr lang="en-NL" smtClean="0"/>
              <a:t>07/10/2024</a:t>
            </a:fld>
            <a:endParaRPr lang="en-NL"/>
          </a:p>
        </p:txBody>
      </p:sp>
      <p:sp>
        <p:nvSpPr>
          <p:cNvPr id="6" name="Footer Placeholder 5">
            <a:extLst>
              <a:ext uri="{FF2B5EF4-FFF2-40B4-BE49-F238E27FC236}">
                <a16:creationId xmlns:a16="http://schemas.microsoft.com/office/drawing/2014/main" id="{8EE243FC-2A70-C41D-3571-19D07EDA9202}"/>
              </a:ext>
            </a:extLst>
          </p:cNvPr>
          <p:cNvSpPr>
            <a:spLocks noGrp="1"/>
          </p:cNvSpPr>
          <p:nvPr>
            <p:ph type="ftr" sz="quarter" idx="11"/>
          </p:nvPr>
        </p:nvSpPr>
        <p:spPr/>
        <p:txBody>
          <a:bodyPr/>
          <a:lstStyle/>
          <a:p>
            <a:endParaRPr lang="en-NL"/>
          </a:p>
        </p:txBody>
      </p:sp>
      <p:sp>
        <p:nvSpPr>
          <p:cNvPr id="7" name="Slide Number Placeholder 6">
            <a:extLst>
              <a:ext uri="{FF2B5EF4-FFF2-40B4-BE49-F238E27FC236}">
                <a16:creationId xmlns:a16="http://schemas.microsoft.com/office/drawing/2014/main" id="{C44B92BB-2D4D-08A1-D8BF-AD0CAF60B647}"/>
              </a:ext>
            </a:extLst>
          </p:cNvPr>
          <p:cNvSpPr>
            <a:spLocks noGrp="1"/>
          </p:cNvSpPr>
          <p:nvPr>
            <p:ph type="sldNum" sz="quarter" idx="12"/>
          </p:nvPr>
        </p:nvSpPr>
        <p:spPr/>
        <p:txBody>
          <a:bodyPr/>
          <a:lstStyle/>
          <a:p>
            <a:fld id="{698AA76E-DAAA-4E6A-8390-0ED5E93F1AB9}" type="slidenum">
              <a:rPr lang="en-NL" smtClean="0"/>
              <a:t>‹#›</a:t>
            </a:fld>
            <a:endParaRPr lang="en-NL"/>
          </a:p>
        </p:txBody>
      </p:sp>
    </p:spTree>
    <p:extLst>
      <p:ext uri="{BB962C8B-B14F-4D97-AF65-F5344CB8AC3E}">
        <p14:creationId xmlns:p14="http://schemas.microsoft.com/office/powerpoint/2010/main" val="256776893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DCEA8A-445C-7895-05BC-D97DB932FE42}"/>
              </a:ext>
            </a:extLst>
          </p:cNvPr>
          <p:cNvSpPr>
            <a:spLocks noGrp="1"/>
          </p:cNvSpPr>
          <p:nvPr>
            <p:ph type="title"/>
          </p:nvPr>
        </p:nvSpPr>
        <p:spPr/>
        <p:txBody>
          <a:bodyPr/>
          <a:lstStyle/>
          <a:p>
            <a:r>
              <a:rPr lang="en-US"/>
              <a:t>Click to edit Master title style</a:t>
            </a:r>
            <a:endParaRPr lang="en-NL"/>
          </a:p>
        </p:txBody>
      </p:sp>
      <p:sp>
        <p:nvSpPr>
          <p:cNvPr id="3" name="Vertical Text Placeholder 2">
            <a:extLst>
              <a:ext uri="{FF2B5EF4-FFF2-40B4-BE49-F238E27FC236}">
                <a16:creationId xmlns:a16="http://schemas.microsoft.com/office/drawing/2014/main" id="{C48DF917-FB50-6288-4C07-56E492E33F6F}"/>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L"/>
          </a:p>
        </p:txBody>
      </p:sp>
      <p:sp>
        <p:nvSpPr>
          <p:cNvPr id="4" name="Date Placeholder 3">
            <a:extLst>
              <a:ext uri="{FF2B5EF4-FFF2-40B4-BE49-F238E27FC236}">
                <a16:creationId xmlns:a16="http://schemas.microsoft.com/office/drawing/2014/main" id="{28C6C196-F80B-0FCC-D864-B13E762FAC6C}"/>
              </a:ext>
            </a:extLst>
          </p:cNvPr>
          <p:cNvSpPr>
            <a:spLocks noGrp="1"/>
          </p:cNvSpPr>
          <p:nvPr>
            <p:ph type="dt" sz="half" idx="10"/>
          </p:nvPr>
        </p:nvSpPr>
        <p:spPr/>
        <p:txBody>
          <a:bodyPr/>
          <a:lstStyle/>
          <a:p>
            <a:fld id="{604BC9AD-A006-48C6-903D-5E6C510C3F79}" type="datetimeFigureOut">
              <a:rPr lang="en-NL" smtClean="0"/>
              <a:t>07/10/2024</a:t>
            </a:fld>
            <a:endParaRPr lang="en-NL"/>
          </a:p>
        </p:txBody>
      </p:sp>
      <p:sp>
        <p:nvSpPr>
          <p:cNvPr id="5" name="Footer Placeholder 4">
            <a:extLst>
              <a:ext uri="{FF2B5EF4-FFF2-40B4-BE49-F238E27FC236}">
                <a16:creationId xmlns:a16="http://schemas.microsoft.com/office/drawing/2014/main" id="{DE79D9CF-9234-C120-4C5F-0D3D05422962}"/>
              </a:ext>
            </a:extLst>
          </p:cNvPr>
          <p:cNvSpPr>
            <a:spLocks noGrp="1"/>
          </p:cNvSpPr>
          <p:nvPr>
            <p:ph type="ftr" sz="quarter" idx="11"/>
          </p:nvPr>
        </p:nvSpPr>
        <p:spPr/>
        <p:txBody>
          <a:bodyPr/>
          <a:lstStyle/>
          <a:p>
            <a:endParaRPr lang="en-NL"/>
          </a:p>
        </p:txBody>
      </p:sp>
      <p:sp>
        <p:nvSpPr>
          <p:cNvPr id="6" name="Slide Number Placeholder 5">
            <a:extLst>
              <a:ext uri="{FF2B5EF4-FFF2-40B4-BE49-F238E27FC236}">
                <a16:creationId xmlns:a16="http://schemas.microsoft.com/office/drawing/2014/main" id="{02A25859-7DEE-65EA-8DE5-C9B5D327DCA3}"/>
              </a:ext>
            </a:extLst>
          </p:cNvPr>
          <p:cNvSpPr>
            <a:spLocks noGrp="1"/>
          </p:cNvSpPr>
          <p:nvPr>
            <p:ph type="sldNum" sz="quarter" idx="12"/>
          </p:nvPr>
        </p:nvSpPr>
        <p:spPr/>
        <p:txBody>
          <a:bodyPr/>
          <a:lstStyle/>
          <a:p>
            <a:fld id="{698AA76E-DAAA-4E6A-8390-0ED5E93F1AB9}" type="slidenum">
              <a:rPr lang="en-NL" smtClean="0"/>
              <a:t>‹#›</a:t>
            </a:fld>
            <a:endParaRPr lang="en-NL"/>
          </a:p>
        </p:txBody>
      </p:sp>
    </p:spTree>
    <p:extLst>
      <p:ext uri="{BB962C8B-B14F-4D97-AF65-F5344CB8AC3E}">
        <p14:creationId xmlns:p14="http://schemas.microsoft.com/office/powerpoint/2010/main" val="313757323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E301BC87-F7EA-DCDC-D9B4-76697A131D6A}"/>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NL"/>
          </a:p>
        </p:txBody>
      </p:sp>
      <p:sp>
        <p:nvSpPr>
          <p:cNvPr id="3" name="Vertical Text Placeholder 2">
            <a:extLst>
              <a:ext uri="{FF2B5EF4-FFF2-40B4-BE49-F238E27FC236}">
                <a16:creationId xmlns:a16="http://schemas.microsoft.com/office/drawing/2014/main" id="{D5FA59AB-53DD-5E7E-F374-73F8DC71021A}"/>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L"/>
          </a:p>
        </p:txBody>
      </p:sp>
      <p:sp>
        <p:nvSpPr>
          <p:cNvPr id="4" name="Date Placeholder 3">
            <a:extLst>
              <a:ext uri="{FF2B5EF4-FFF2-40B4-BE49-F238E27FC236}">
                <a16:creationId xmlns:a16="http://schemas.microsoft.com/office/drawing/2014/main" id="{E66E8809-40A6-1ED3-835C-2ECBA5DB6413}"/>
              </a:ext>
            </a:extLst>
          </p:cNvPr>
          <p:cNvSpPr>
            <a:spLocks noGrp="1"/>
          </p:cNvSpPr>
          <p:nvPr>
            <p:ph type="dt" sz="half" idx="10"/>
          </p:nvPr>
        </p:nvSpPr>
        <p:spPr/>
        <p:txBody>
          <a:bodyPr/>
          <a:lstStyle/>
          <a:p>
            <a:fld id="{604BC9AD-A006-48C6-903D-5E6C510C3F79}" type="datetimeFigureOut">
              <a:rPr lang="en-NL" smtClean="0"/>
              <a:t>07/10/2024</a:t>
            </a:fld>
            <a:endParaRPr lang="en-NL"/>
          </a:p>
        </p:txBody>
      </p:sp>
      <p:sp>
        <p:nvSpPr>
          <p:cNvPr id="5" name="Footer Placeholder 4">
            <a:extLst>
              <a:ext uri="{FF2B5EF4-FFF2-40B4-BE49-F238E27FC236}">
                <a16:creationId xmlns:a16="http://schemas.microsoft.com/office/drawing/2014/main" id="{8DD65E74-4E61-496F-7C93-9BC5381DFD83}"/>
              </a:ext>
            </a:extLst>
          </p:cNvPr>
          <p:cNvSpPr>
            <a:spLocks noGrp="1"/>
          </p:cNvSpPr>
          <p:nvPr>
            <p:ph type="ftr" sz="quarter" idx="11"/>
          </p:nvPr>
        </p:nvSpPr>
        <p:spPr/>
        <p:txBody>
          <a:bodyPr/>
          <a:lstStyle/>
          <a:p>
            <a:endParaRPr lang="en-NL"/>
          </a:p>
        </p:txBody>
      </p:sp>
      <p:sp>
        <p:nvSpPr>
          <p:cNvPr id="6" name="Slide Number Placeholder 5">
            <a:extLst>
              <a:ext uri="{FF2B5EF4-FFF2-40B4-BE49-F238E27FC236}">
                <a16:creationId xmlns:a16="http://schemas.microsoft.com/office/drawing/2014/main" id="{5D3AD977-D62D-C768-EE04-FE559D286CCC}"/>
              </a:ext>
            </a:extLst>
          </p:cNvPr>
          <p:cNvSpPr>
            <a:spLocks noGrp="1"/>
          </p:cNvSpPr>
          <p:nvPr>
            <p:ph type="sldNum" sz="quarter" idx="12"/>
          </p:nvPr>
        </p:nvSpPr>
        <p:spPr/>
        <p:txBody>
          <a:bodyPr/>
          <a:lstStyle/>
          <a:p>
            <a:fld id="{698AA76E-DAAA-4E6A-8390-0ED5E93F1AB9}" type="slidenum">
              <a:rPr lang="en-NL" smtClean="0"/>
              <a:t>‹#›</a:t>
            </a:fld>
            <a:endParaRPr lang="en-NL"/>
          </a:p>
        </p:txBody>
      </p:sp>
    </p:spTree>
    <p:extLst>
      <p:ext uri="{BB962C8B-B14F-4D97-AF65-F5344CB8AC3E}">
        <p14:creationId xmlns:p14="http://schemas.microsoft.com/office/powerpoint/2010/main" val="107063788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6F7E050-5B32-BCAC-AD70-BFEBD0548FF0}"/>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NL"/>
          </a:p>
        </p:txBody>
      </p:sp>
      <p:sp>
        <p:nvSpPr>
          <p:cNvPr id="3" name="Text Placeholder 2">
            <a:extLst>
              <a:ext uri="{FF2B5EF4-FFF2-40B4-BE49-F238E27FC236}">
                <a16:creationId xmlns:a16="http://schemas.microsoft.com/office/drawing/2014/main" id="{B4AEF433-7612-0C74-DC82-E46FEBFA2B6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L"/>
          </a:p>
        </p:txBody>
      </p:sp>
      <p:sp>
        <p:nvSpPr>
          <p:cNvPr id="4" name="Date Placeholder 3">
            <a:extLst>
              <a:ext uri="{FF2B5EF4-FFF2-40B4-BE49-F238E27FC236}">
                <a16:creationId xmlns:a16="http://schemas.microsoft.com/office/drawing/2014/main" id="{D9E733FC-381A-D095-5653-BCC8F66B70FA}"/>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04BC9AD-A006-48C6-903D-5E6C510C3F79}" type="datetimeFigureOut">
              <a:rPr lang="en-NL" smtClean="0"/>
              <a:t>07/10/2024</a:t>
            </a:fld>
            <a:endParaRPr lang="en-NL"/>
          </a:p>
        </p:txBody>
      </p:sp>
      <p:sp>
        <p:nvSpPr>
          <p:cNvPr id="5" name="Footer Placeholder 4">
            <a:extLst>
              <a:ext uri="{FF2B5EF4-FFF2-40B4-BE49-F238E27FC236}">
                <a16:creationId xmlns:a16="http://schemas.microsoft.com/office/drawing/2014/main" id="{ACF62797-29B9-D6CB-8AE3-97AEBBBCF78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NL"/>
          </a:p>
        </p:txBody>
      </p:sp>
      <p:sp>
        <p:nvSpPr>
          <p:cNvPr id="6" name="Slide Number Placeholder 5">
            <a:extLst>
              <a:ext uri="{FF2B5EF4-FFF2-40B4-BE49-F238E27FC236}">
                <a16:creationId xmlns:a16="http://schemas.microsoft.com/office/drawing/2014/main" id="{8F6ECD2B-30B7-6F2D-B298-9ED702D5122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98AA76E-DAAA-4E6A-8390-0ED5E93F1AB9}" type="slidenum">
              <a:rPr lang="en-NL" smtClean="0"/>
              <a:t>‹#›</a:t>
            </a:fld>
            <a:endParaRPr lang="en-NL"/>
          </a:p>
        </p:txBody>
      </p:sp>
    </p:spTree>
    <p:extLst>
      <p:ext uri="{BB962C8B-B14F-4D97-AF65-F5344CB8AC3E}">
        <p14:creationId xmlns:p14="http://schemas.microsoft.com/office/powerpoint/2010/main" val="274160722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N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4.gif"/><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4.gif"/><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2C9C8F-ABCE-A530-7556-7DD9BA8CEA51}"/>
              </a:ext>
            </a:extLst>
          </p:cNvPr>
          <p:cNvSpPr>
            <a:spLocks noGrp="1"/>
          </p:cNvSpPr>
          <p:nvPr>
            <p:ph type="ctrTitle"/>
          </p:nvPr>
        </p:nvSpPr>
        <p:spPr>
          <a:xfrm>
            <a:off x="1524000" y="3205163"/>
            <a:ext cx="9144000" cy="2387600"/>
          </a:xfrm>
        </p:spPr>
        <p:txBody>
          <a:bodyPr>
            <a:noAutofit/>
          </a:bodyPr>
          <a:lstStyle/>
          <a:p>
            <a:r>
              <a:rPr lang="en-US" sz="2800" b="1" dirty="0"/>
              <a:t>A hotel manager wants to determine whether the average customer rating of a new room design is significantly different from the standard rating of 7.</a:t>
            </a:r>
            <a:br>
              <a:rPr lang="en-US" sz="2800" dirty="0"/>
            </a:br>
            <a:r>
              <a:rPr lang="en-US" sz="2800" b="1" dirty="0"/>
              <a:t>Which test should be used?</a:t>
            </a:r>
            <a:br>
              <a:rPr lang="en-NL" sz="2800" dirty="0"/>
            </a:br>
            <a:br>
              <a:rPr lang="en-NL" sz="2800" dirty="0"/>
            </a:br>
            <a:r>
              <a:rPr lang="en-US" sz="2800" dirty="0"/>
              <a:t>A. Chi-squared test</a:t>
            </a:r>
            <a:br>
              <a:rPr lang="en-US" sz="2800" dirty="0"/>
            </a:br>
            <a:r>
              <a:rPr lang="en-US" sz="2800" dirty="0"/>
              <a:t>B. One-sample t-test</a:t>
            </a:r>
            <a:br>
              <a:rPr lang="en-US" sz="2800" dirty="0"/>
            </a:br>
            <a:r>
              <a:rPr lang="en-US" sz="2800" dirty="0"/>
              <a:t>C. Independent t-test</a:t>
            </a:r>
            <a:br>
              <a:rPr lang="en-US" sz="2800" dirty="0"/>
            </a:br>
            <a:r>
              <a:rPr lang="en-US" sz="2800" dirty="0"/>
              <a:t>D. Correlation</a:t>
            </a:r>
            <a:br>
              <a:rPr lang="en-US" sz="2800" dirty="0"/>
            </a:br>
            <a:endParaRPr lang="en-NL" sz="2800" dirty="0"/>
          </a:p>
        </p:txBody>
      </p:sp>
    </p:spTree>
    <p:extLst>
      <p:ext uri="{BB962C8B-B14F-4D97-AF65-F5344CB8AC3E}">
        <p14:creationId xmlns:p14="http://schemas.microsoft.com/office/powerpoint/2010/main" val="17175330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2C9C8F-ABCE-A530-7556-7DD9BA8CEA51}"/>
              </a:ext>
            </a:extLst>
          </p:cNvPr>
          <p:cNvSpPr>
            <a:spLocks noGrp="1"/>
          </p:cNvSpPr>
          <p:nvPr>
            <p:ph type="ctrTitle"/>
          </p:nvPr>
        </p:nvSpPr>
        <p:spPr>
          <a:xfrm>
            <a:off x="1524000" y="3205163"/>
            <a:ext cx="9144000" cy="2387600"/>
          </a:xfrm>
        </p:spPr>
        <p:txBody>
          <a:bodyPr>
            <a:noAutofit/>
          </a:bodyPr>
          <a:lstStyle/>
          <a:p>
            <a:r>
              <a:rPr lang="en-US" sz="2800" b="1" dirty="0"/>
              <a:t>A hotel manager wants to determine whether the average customer rating of a new room design is significantly different from the standard rating of 7.</a:t>
            </a:r>
            <a:br>
              <a:rPr lang="en-US" sz="2800" dirty="0"/>
            </a:br>
            <a:r>
              <a:rPr lang="en-US" sz="2800" dirty="0"/>
              <a:t>Which test should be used?</a:t>
            </a:r>
            <a:br>
              <a:rPr lang="en-NL" sz="2800" dirty="0"/>
            </a:br>
            <a:br>
              <a:rPr lang="en-NL" sz="2800" dirty="0"/>
            </a:br>
            <a:r>
              <a:rPr lang="en-US" sz="2800" dirty="0"/>
              <a:t>A. Chi-squared test</a:t>
            </a:r>
            <a:br>
              <a:rPr lang="en-US" sz="2800" dirty="0"/>
            </a:br>
            <a:r>
              <a:rPr lang="en-US" sz="2800" dirty="0">
                <a:highlight>
                  <a:srgbClr val="FFFF00"/>
                </a:highlight>
              </a:rPr>
              <a:t>B. </a:t>
            </a:r>
            <a:r>
              <a:rPr lang="en-US" sz="2800" b="1" dirty="0">
                <a:highlight>
                  <a:srgbClr val="FFFF00"/>
                </a:highlight>
              </a:rPr>
              <a:t>One-sample t-test</a:t>
            </a:r>
            <a:br>
              <a:rPr lang="en-US" sz="2800" dirty="0"/>
            </a:br>
            <a:r>
              <a:rPr lang="en-US" sz="2800" dirty="0"/>
              <a:t>C. Independent t-test</a:t>
            </a:r>
            <a:br>
              <a:rPr lang="en-US" sz="2800" dirty="0"/>
            </a:br>
            <a:r>
              <a:rPr lang="en-US" sz="2800" dirty="0"/>
              <a:t>D. Correlation</a:t>
            </a:r>
            <a:br>
              <a:rPr lang="en-US" sz="2800" dirty="0"/>
            </a:br>
            <a:endParaRPr lang="en-NL" sz="2800" dirty="0"/>
          </a:p>
        </p:txBody>
      </p:sp>
    </p:spTree>
    <p:extLst>
      <p:ext uri="{BB962C8B-B14F-4D97-AF65-F5344CB8AC3E}">
        <p14:creationId xmlns:p14="http://schemas.microsoft.com/office/powerpoint/2010/main" val="105470470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2C9C8F-ABCE-A530-7556-7DD9BA8CEA51}"/>
              </a:ext>
            </a:extLst>
          </p:cNvPr>
          <p:cNvSpPr>
            <a:spLocks noGrp="1"/>
          </p:cNvSpPr>
          <p:nvPr>
            <p:ph type="ctrTitle"/>
          </p:nvPr>
        </p:nvSpPr>
        <p:spPr>
          <a:xfrm>
            <a:off x="1524000" y="3205163"/>
            <a:ext cx="9144000" cy="2387600"/>
          </a:xfrm>
        </p:spPr>
        <p:txBody>
          <a:bodyPr>
            <a:noAutofit/>
          </a:bodyPr>
          <a:lstStyle/>
          <a:p>
            <a:r>
              <a:rPr lang="en-US" sz="2800" b="1" dirty="0"/>
              <a:t>A researcher wants to see if there is a significant relationship between the number of years of work experience and annual salary among hotel employees.</a:t>
            </a:r>
            <a:br>
              <a:rPr lang="en-US" sz="2800" b="1" dirty="0"/>
            </a:br>
            <a:r>
              <a:rPr lang="en-US" sz="2800" b="1" dirty="0"/>
              <a:t>Which test should be used?</a:t>
            </a:r>
            <a:br>
              <a:rPr lang="en-NL" sz="2800" b="1" dirty="0"/>
            </a:br>
            <a:br>
              <a:rPr lang="en-NL" sz="2800" dirty="0"/>
            </a:br>
            <a:r>
              <a:rPr lang="en-US" sz="2800" dirty="0"/>
              <a:t>A. Paired t-test</a:t>
            </a:r>
            <a:br>
              <a:rPr lang="en-US" sz="2800" dirty="0"/>
            </a:br>
            <a:r>
              <a:rPr lang="en-US" sz="2800" dirty="0"/>
              <a:t>B. Chi-squared test</a:t>
            </a:r>
            <a:br>
              <a:rPr lang="en-US" sz="2800" dirty="0"/>
            </a:br>
            <a:r>
              <a:rPr lang="en-US" sz="2800" dirty="0"/>
              <a:t>C. Correlation</a:t>
            </a:r>
            <a:br>
              <a:rPr lang="en-US" sz="2800" dirty="0"/>
            </a:br>
            <a:r>
              <a:rPr lang="en-US" sz="2800" dirty="0"/>
              <a:t>D. One-sample t-test</a:t>
            </a:r>
          </a:p>
        </p:txBody>
      </p:sp>
    </p:spTree>
    <p:extLst>
      <p:ext uri="{BB962C8B-B14F-4D97-AF65-F5344CB8AC3E}">
        <p14:creationId xmlns:p14="http://schemas.microsoft.com/office/powerpoint/2010/main" val="143310008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2C9C8F-ABCE-A530-7556-7DD9BA8CEA51}"/>
              </a:ext>
            </a:extLst>
          </p:cNvPr>
          <p:cNvSpPr>
            <a:spLocks noGrp="1"/>
          </p:cNvSpPr>
          <p:nvPr>
            <p:ph type="ctrTitle"/>
          </p:nvPr>
        </p:nvSpPr>
        <p:spPr>
          <a:xfrm>
            <a:off x="1524000" y="3205163"/>
            <a:ext cx="9144000" cy="2387600"/>
          </a:xfrm>
        </p:spPr>
        <p:txBody>
          <a:bodyPr>
            <a:noAutofit/>
          </a:bodyPr>
          <a:lstStyle/>
          <a:p>
            <a:r>
              <a:rPr lang="en-US" sz="2800" b="1" dirty="0"/>
              <a:t>A researcher wants to see if there is a significant relationship between the number of years of work experience and annual salary among hotel employees.</a:t>
            </a:r>
            <a:br>
              <a:rPr lang="en-US" sz="2800" b="1" dirty="0"/>
            </a:br>
            <a:r>
              <a:rPr lang="en-US" sz="2800" b="1" dirty="0"/>
              <a:t>Which test should be used?</a:t>
            </a:r>
            <a:br>
              <a:rPr lang="en-NL" sz="2800" b="1" dirty="0"/>
            </a:br>
            <a:br>
              <a:rPr lang="en-NL" sz="2800" dirty="0"/>
            </a:br>
            <a:r>
              <a:rPr lang="en-US" sz="2800" dirty="0"/>
              <a:t>A. Paired t-test</a:t>
            </a:r>
            <a:br>
              <a:rPr lang="en-US" sz="2800" dirty="0"/>
            </a:br>
            <a:r>
              <a:rPr lang="en-US" sz="2800" dirty="0"/>
              <a:t>B. Chi-squared test</a:t>
            </a:r>
            <a:br>
              <a:rPr lang="en-US" sz="2800" dirty="0"/>
            </a:br>
            <a:r>
              <a:rPr lang="en-US" sz="2800" dirty="0"/>
              <a:t>C. </a:t>
            </a:r>
            <a:r>
              <a:rPr lang="en-US" sz="2800" b="1" dirty="0">
                <a:highlight>
                  <a:srgbClr val="FFFF00"/>
                </a:highlight>
              </a:rPr>
              <a:t>Correlation</a:t>
            </a:r>
            <a:br>
              <a:rPr lang="en-US" sz="2800" dirty="0"/>
            </a:br>
            <a:r>
              <a:rPr lang="en-US" sz="2800" dirty="0"/>
              <a:t>D. One-sample t-test</a:t>
            </a:r>
          </a:p>
        </p:txBody>
      </p:sp>
    </p:spTree>
    <p:extLst>
      <p:ext uri="{BB962C8B-B14F-4D97-AF65-F5344CB8AC3E}">
        <p14:creationId xmlns:p14="http://schemas.microsoft.com/office/powerpoint/2010/main" val="30026983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2C9C8F-ABCE-A530-7556-7DD9BA8CEA51}"/>
              </a:ext>
            </a:extLst>
          </p:cNvPr>
          <p:cNvSpPr>
            <a:spLocks noGrp="1"/>
          </p:cNvSpPr>
          <p:nvPr>
            <p:ph type="ctrTitle"/>
          </p:nvPr>
        </p:nvSpPr>
        <p:spPr>
          <a:xfrm>
            <a:off x="1524000" y="3205163"/>
            <a:ext cx="9144000" cy="2387600"/>
          </a:xfrm>
        </p:spPr>
        <p:txBody>
          <a:bodyPr>
            <a:noAutofit/>
          </a:bodyPr>
          <a:lstStyle/>
          <a:p>
            <a:r>
              <a:rPr lang="en-US" sz="2800" b="1" dirty="0"/>
              <a:t>A hotel manager is analyzing whether there is an association between customer satisfaction (categorized as satisfied, neutral, or dissatisfied) and the type of room they stayed in (standard, deluxe, or suite).Which test should be used?</a:t>
            </a:r>
            <a:br>
              <a:rPr lang="en-NL" sz="2800" b="1" dirty="0"/>
            </a:br>
            <a:br>
              <a:rPr lang="en-NL" sz="2800" b="1" dirty="0"/>
            </a:br>
            <a:r>
              <a:rPr lang="en-US" sz="2800" dirty="0"/>
              <a:t>A. Chi-squared test</a:t>
            </a:r>
            <a:br>
              <a:rPr lang="en-NL" sz="2800" dirty="0"/>
            </a:br>
            <a:r>
              <a:rPr lang="en-US" sz="2800" dirty="0"/>
              <a:t>B. Correlation</a:t>
            </a:r>
            <a:br>
              <a:rPr lang="en-NL" sz="2800" dirty="0"/>
            </a:br>
            <a:r>
              <a:rPr lang="en-US" sz="2800" dirty="0"/>
              <a:t>C. Independent t-test</a:t>
            </a:r>
            <a:br>
              <a:rPr lang="en-NL" sz="2800" dirty="0"/>
            </a:br>
            <a:r>
              <a:rPr lang="en-US" sz="2800" dirty="0"/>
              <a:t>D. Paired t-test</a:t>
            </a:r>
          </a:p>
        </p:txBody>
      </p:sp>
    </p:spTree>
    <p:extLst>
      <p:ext uri="{BB962C8B-B14F-4D97-AF65-F5344CB8AC3E}">
        <p14:creationId xmlns:p14="http://schemas.microsoft.com/office/powerpoint/2010/main" val="343594080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2C9C8F-ABCE-A530-7556-7DD9BA8CEA51}"/>
              </a:ext>
            </a:extLst>
          </p:cNvPr>
          <p:cNvSpPr>
            <a:spLocks noGrp="1"/>
          </p:cNvSpPr>
          <p:nvPr>
            <p:ph type="ctrTitle"/>
          </p:nvPr>
        </p:nvSpPr>
        <p:spPr>
          <a:xfrm>
            <a:off x="1524000" y="3205163"/>
            <a:ext cx="9144000" cy="2387600"/>
          </a:xfrm>
        </p:spPr>
        <p:txBody>
          <a:bodyPr>
            <a:noAutofit/>
          </a:bodyPr>
          <a:lstStyle/>
          <a:p>
            <a:r>
              <a:rPr lang="en-US" sz="2800" b="1" dirty="0"/>
              <a:t>A hotel manager is analyzing whether there is an association between customer satisfaction (categorized as satisfied, neutral, or dissatisfied) and the type of room they stayed in (standard, deluxe, or suite).Which test should be used?</a:t>
            </a:r>
            <a:br>
              <a:rPr lang="en-NL" sz="2800" b="1" dirty="0"/>
            </a:br>
            <a:br>
              <a:rPr lang="en-NL" sz="2800" b="1" dirty="0"/>
            </a:br>
            <a:r>
              <a:rPr lang="en-US" sz="2800" dirty="0"/>
              <a:t>A</a:t>
            </a:r>
            <a:r>
              <a:rPr lang="en-US" sz="2800" dirty="0">
                <a:highlight>
                  <a:srgbClr val="FFFF00"/>
                </a:highlight>
              </a:rPr>
              <a:t>. Chi-squared test</a:t>
            </a:r>
            <a:br>
              <a:rPr lang="en-NL" sz="2800" dirty="0"/>
            </a:br>
            <a:r>
              <a:rPr lang="en-US" sz="2800" dirty="0"/>
              <a:t>B. Correlation</a:t>
            </a:r>
            <a:br>
              <a:rPr lang="en-NL" sz="2800" dirty="0"/>
            </a:br>
            <a:r>
              <a:rPr lang="en-US" sz="2800" dirty="0"/>
              <a:t>C. Independent t-test</a:t>
            </a:r>
            <a:br>
              <a:rPr lang="en-NL" sz="2800" dirty="0"/>
            </a:br>
            <a:r>
              <a:rPr lang="en-US" sz="2800" dirty="0"/>
              <a:t>D. Paired t-test</a:t>
            </a:r>
          </a:p>
        </p:txBody>
      </p:sp>
    </p:spTree>
    <p:extLst>
      <p:ext uri="{BB962C8B-B14F-4D97-AF65-F5344CB8AC3E}">
        <p14:creationId xmlns:p14="http://schemas.microsoft.com/office/powerpoint/2010/main" val="183503305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2C9C8F-ABCE-A530-7556-7DD9BA8CEA51}"/>
              </a:ext>
            </a:extLst>
          </p:cNvPr>
          <p:cNvSpPr>
            <a:spLocks noGrp="1"/>
          </p:cNvSpPr>
          <p:nvPr>
            <p:ph type="ctrTitle"/>
          </p:nvPr>
        </p:nvSpPr>
        <p:spPr>
          <a:xfrm>
            <a:off x="1524000" y="3205163"/>
            <a:ext cx="9144000" cy="2387600"/>
          </a:xfrm>
        </p:spPr>
        <p:txBody>
          <a:bodyPr>
            <a:noAutofit/>
          </a:bodyPr>
          <a:lstStyle/>
          <a:p>
            <a:r>
              <a:rPr lang="en-US" sz="2800" b="1" dirty="0"/>
              <a:t>A hotel manager is analyzing whether there is an association between customer satisfaction (categorized as satisfied, neutral, or dissatisfied) and the type of room they stayed in (standard, deluxe, or suite).Which test should be used?</a:t>
            </a:r>
            <a:br>
              <a:rPr lang="en-NL" sz="2800" b="1" dirty="0"/>
            </a:br>
            <a:br>
              <a:rPr lang="en-NL" sz="2800" b="1" dirty="0"/>
            </a:br>
            <a:r>
              <a:rPr lang="en-US" sz="2800" dirty="0"/>
              <a:t>A. Chi-squared test</a:t>
            </a:r>
            <a:br>
              <a:rPr lang="en-NL" sz="2800" dirty="0"/>
            </a:br>
            <a:r>
              <a:rPr lang="en-US" sz="2800" dirty="0"/>
              <a:t>B. Correlation</a:t>
            </a:r>
            <a:br>
              <a:rPr lang="en-NL" sz="2800" dirty="0"/>
            </a:br>
            <a:r>
              <a:rPr lang="en-US" sz="2800" dirty="0"/>
              <a:t>C. Independent t-test</a:t>
            </a:r>
            <a:br>
              <a:rPr lang="en-NL" sz="2800" dirty="0"/>
            </a:br>
            <a:r>
              <a:rPr lang="en-US" sz="2800" dirty="0"/>
              <a:t>D. Paired t-test</a:t>
            </a:r>
          </a:p>
        </p:txBody>
      </p:sp>
    </p:spTree>
    <p:extLst>
      <p:ext uri="{BB962C8B-B14F-4D97-AF65-F5344CB8AC3E}">
        <p14:creationId xmlns:p14="http://schemas.microsoft.com/office/powerpoint/2010/main" val="181598853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2C9C8F-ABCE-A530-7556-7DD9BA8CEA51}"/>
              </a:ext>
            </a:extLst>
          </p:cNvPr>
          <p:cNvSpPr>
            <a:spLocks noGrp="1"/>
          </p:cNvSpPr>
          <p:nvPr>
            <p:ph type="ctrTitle"/>
          </p:nvPr>
        </p:nvSpPr>
        <p:spPr>
          <a:xfrm>
            <a:off x="1524000" y="3205163"/>
            <a:ext cx="9144000" cy="2387600"/>
          </a:xfrm>
        </p:spPr>
        <p:txBody>
          <a:bodyPr>
            <a:noAutofit/>
          </a:bodyPr>
          <a:lstStyle/>
          <a:p>
            <a:r>
              <a:rPr lang="en-US" sz="2800" b="1" dirty="0"/>
              <a:t>A hotel manager is analyzing whether there is an association between customer satisfaction (categorized as satisfied, neutral, or dissatisfied) and the type of room they stayed in (standard, deluxe, or suite).Which test should be used?</a:t>
            </a:r>
            <a:br>
              <a:rPr lang="en-NL" sz="2800" b="1" dirty="0"/>
            </a:br>
            <a:br>
              <a:rPr lang="en-NL" sz="2800" b="1" dirty="0"/>
            </a:br>
            <a:r>
              <a:rPr lang="en-US" sz="2800" dirty="0"/>
              <a:t>A</a:t>
            </a:r>
            <a:r>
              <a:rPr lang="en-US" sz="2800" dirty="0">
                <a:highlight>
                  <a:srgbClr val="FFFF00"/>
                </a:highlight>
              </a:rPr>
              <a:t>. Chi-squared test</a:t>
            </a:r>
            <a:br>
              <a:rPr lang="en-NL" sz="2800" dirty="0"/>
            </a:br>
            <a:r>
              <a:rPr lang="en-US" sz="2800" dirty="0"/>
              <a:t>B. Correlation</a:t>
            </a:r>
            <a:br>
              <a:rPr lang="en-NL" sz="2800" dirty="0"/>
            </a:br>
            <a:r>
              <a:rPr lang="en-US" sz="2800" dirty="0"/>
              <a:t>C. Independent t-test</a:t>
            </a:r>
            <a:br>
              <a:rPr lang="en-NL" sz="2800" dirty="0"/>
            </a:br>
            <a:r>
              <a:rPr lang="en-US" sz="2800" dirty="0"/>
              <a:t>D. Paired t-test</a:t>
            </a:r>
          </a:p>
        </p:txBody>
      </p:sp>
    </p:spTree>
    <p:extLst>
      <p:ext uri="{BB962C8B-B14F-4D97-AF65-F5344CB8AC3E}">
        <p14:creationId xmlns:p14="http://schemas.microsoft.com/office/powerpoint/2010/main" val="23845799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2C9C8F-ABCE-A530-7556-7DD9BA8CEA51}"/>
              </a:ext>
            </a:extLst>
          </p:cNvPr>
          <p:cNvSpPr>
            <a:spLocks noGrp="1"/>
          </p:cNvSpPr>
          <p:nvPr>
            <p:ph type="ctrTitle"/>
          </p:nvPr>
        </p:nvSpPr>
        <p:spPr>
          <a:xfrm>
            <a:off x="1524000" y="3205163"/>
            <a:ext cx="9144000" cy="2387600"/>
          </a:xfrm>
        </p:spPr>
        <p:txBody>
          <a:bodyPr>
            <a:noAutofit/>
          </a:bodyPr>
          <a:lstStyle/>
          <a:p>
            <a:r>
              <a:rPr lang="en-US" sz="2800" b="1" dirty="0"/>
              <a:t>A restaurant manager wants to know if there is a significant difference in tip amounts before and after implementing a new service policy, measured on the same customers. The data is not normally distributed.</a:t>
            </a:r>
            <a:r>
              <a:rPr lang="en-NL" sz="2800" b="1" dirty="0"/>
              <a:t> </a:t>
            </a:r>
            <a:r>
              <a:rPr lang="en-US" sz="2800" b="1" dirty="0"/>
              <a:t>Which test should be used?</a:t>
            </a:r>
            <a:br>
              <a:rPr lang="en-NL" sz="2800" b="1" dirty="0"/>
            </a:br>
            <a:br>
              <a:rPr lang="en-NL" sz="2800" b="1" dirty="0"/>
            </a:br>
            <a:r>
              <a:rPr lang="en-US" sz="2800" b="1" dirty="0"/>
              <a:t>A. Mann-Whitney U test</a:t>
            </a:r>
            <a:br>
              <a:rPr lang="en-NL" sz="2800" b="1" dirty="0"/>
            </a:br>
            <a:r>
              <a:rPr lang="en-US" sz="2800" b="1" dirty="0"/>
              <a:t>B. Paired t-test</a:t>
            </a:r>
            <a:br>
              <a:rPr lang="en-NL" sz="2800" b="1" dirty="0"/>
            </a:br>
            <a:r>
              <a:rPr lang="en-US" sz="2800" b="1" dirty="0"/>
              <a:t>C. Independent t-test</a:t>
            </a:r>
            <a:br>
              <a:rPr lang="en-NL" sz="2800" b="1" dirty="0"/>
            </a:br>
            <a:r>
              <a:rPr lang="en-US" sz="2800" b="1" dirty="0"/>
              <a:t>D. Correlation</a:t>
            </a:r>
            <a:endParaRPr lang="en-US" sz="2800" dirty="0"/>
          </a:p>
        </p:txBody>
      </p:sp>
    </p:spTree>
    <p:extLst>
      <p:ext uri="{BB962C8B-B14F-4D97-AF65-F5344CB8AC3E}">
        <p14:creationId xmlns:p14="http://schemas.microsoft.com/office/powerpoint/2010/main" val="155065899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2C9C8F-ABCE-A530-7556-7DD9BA8CEA51}"/>
              </a:ext>
            </a:extLst>
          </p:cNvPr>
          <p:cNvSpPr>
            <a:spLocks noGrp="1"/>
          </p:cNvSpPr>
          <p:nvPr>
            <p:ph type="ctrTitle"/>
          </p:nvPr>
        </p:nvSpPr>
        <p:spPr>
          <a:xfrm>
            <a:off x="1524000" y="3205163"/>
            <a:ext cx="9144000" cy="2387600"/>
          </a:xfrm>
        </p:spPr>
        <p:txBody>
          <a:bodyPr>
            <a:noAutofit/>
          </a:bodyPr>
          <a:lstStyle/>
          <a:p>
            <a:r>
              <a:rPr lang="en-US" sz="2800" b="1" dirty="0"/>
              <a:t>A restaurant manager wants to know if there is a significant difference in tip amounts before and after implementing a new service policy, measured on the same customers. The data is not normally distributed.</a:t>
            </a:r>
            <a:r>
              <a:rPr lang="en-NL" sz="2800" b="1" dirty="0"/>
              <a:t> </a:t>
            </a:r>
            <a:r>
              <a:rPr lang="en-US" sz="2800" b="1" dirty="0"/>
              <a:t>Which test should be used?</a:t>
            </a:r>
            <a:br>
              <a:rPr lang="en-NL" sz="2800" b="1" dirty="0"/>
            </a:br>
            <a:br>
              <a:rPr lang="en-NL" sz="2800" b="1" dirty="0"/>
            </a:br>
            <a:r>
              <a:rPr lang="en-US" sz="2800" b="1" dirty="0">
                <a:highlight>
                  <a:srgbClr val="FFFF00"/>
                </a:highlight>
              </a:rPr>
              <a:t>A. Mann-Whitney U test</a:t>
            </a:r>
            <a:br>
              <a:rPr lang="en-NL" sz="2800" b="1" dirty="0"/>
            </a:br>
            <a:r>
              <a:rPr lang="en-US" sz="2800" b="1" dirty="0"/>
              <a:t>B. Paired t-test</a:t>
            </a:r>
            <a:br>
              <a:rPr lang="en-NL" sz="2800" b="1" dirty="0"/>
            </a:br>
            <a:r>
              <a:rPr lang="en-US" sz="2800" b="1" dirty="0"/>
              <a:t>C. Independent t-test</a:t>
            </a:r>
            <a:br>
              <a:rPr lang="en-NL" sz="2800" b="1" dirty="0"/>
            </a:br>
            <a:r>
              <a:rPr lang="en-US" sz="2800" b="1" dirty="0"/>
              <a:t>D. Correlation</a:t>
            </a:r>
            <a:endParaRPr lang="en-US" sz="2800" dirty="0"/>
          </a:p>
        </p:txBody>
      </p:sp>
    </p:spTree>
    <p:extLst>
      <p:ext uri="{BB962C8B-B14F-4D97-AF65-F5344CB8AC3E}">
        <p14:creationId xmlns:p14="http://schemas.microsoft.com/office/powerpoint/2010/main" val="204964287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CB8EF87A-B000-FDDF-6CAA-BFF8261BA0F9}"/>
              </a:ext>
            </a:extLst>
          </p:cNvPr>
          <p:cNvPicPr>
            <a:picLocks noGrp="1" noChangeAspect="1"/>
          </p:cNvPicPr>
          <p:nvPr>
            <p:ph idx="1"/>
          </p:nvPr>
        </p:nvPicPr>
        <p:blipFill>
          <a:blip r:embed="rId2"/>
          <a:stretch>
            <a:fillRect/>
          </a:stretch>
        </p:blipFill>
        <p:spPr>
          <a:xfrm>
            <a:off x="1057176" y="128905"/>
            <a:ext cx="5770344" cy="6211020"/>
          </a:xfrm>
        </p:spPr>
      </p:pic>
      <p:sp>
        <p:nvSpPr>
          <p:cNvPr id="6" name="TextBox 5">
            <a:extLst>
              <a:ext uri="{FF2B5EF4-FFF2-40B4-BE49-F238E27FC236}">
                <a16:creationId xmlns:a16="http://schemas.microsoft.com/office/drawing/2014/main" id="{C9437C6F-EEF0-8776-F738-1C45B72488D1}"/>
              </a:ext>
            </a:extLst>
          </p:cNvPr>
          <p:cNvSpPr txBox="1"/>
          <p:nvPr/>
        </p:nvSpPr>
        <p:spPr>
          <a:xfrm>
            <a:off x="7577470" y="1024742"/>
            <a:ext cx="3820632" cy="4401205"/>
          </a:xfrm>
          <a:prstGeom prst="rect">
            <a:avLst/>
          </a:prstGeom>
          <a:noFill/>
        </p:spPr>
        <p:txBody>
          <a:bodyPr wrap="square" rtlCol="0">
            <a:spAutoFit/>
          </a:bodyPr>
          <a:lstStyle/>
          <a:p>
            <a:r>
              <a:rPr lang="en-NL" sz="2800" dirty="0"/>
              <a:t>A researcher is testing if gender influences job knowledge. What p-value should they report?</a:t>
            </a:r>
          </a:p>
          <a:p>
            <a:endParaRPr lang="en-NL" sz="2800" dirty="0"/>
          </a:p>
          <a:p>
            <a:r>
              <a:rPr lang="en-NL" sz="2800" dirty="0"/>
              <a:t>A) 0.571</a:t>
            </a:r>
          </a:p>
          <a:p>
            <a:r>
              <a:rPr lang="en-NL" sz="2800" dirty="0"/>
              <a:t>B) 0.305</a:t>
            </a:r>
          </a:p>
          <a:p>
            <a:r>
              <a:rPr lang="en-NL" sz="2800" dirty="0"/>
              <a:t>C) &lt;.001</a:t>
            </a:r>
          </a:p>
          <a:p>
            <a:r>
              <a:rPr lang="en-NL" sz="2800" dirty="0"/>
              <a:t>D) 0.469</a:t>
            </a:r>
          </a:p>
        </p:txBody>
      </p:sp>
    </p:spTree>
    <p:extLst>
      <p:ext uri="{BB962C8B-B14F-4D97-AF65-F5344CB8AC3E}">
        <p14:creationId xmlns:p14="http://schemas.microsoft.com/office/powerpoint/2010/main" val="347828357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CB8EF87A-B000-FDDF-6CAA-BFF8261BA0F9}"/>
              </a:ext>
            </a:extLst>
          </p:cNvPr>
          <p:cNvPicPr>
            <a:picLocks noGrp="1" noChangeAspect="1"/>
          </p:cNvPicPr>
          <p:nvPr>
            <p:ph idx="1"/>
          </p:nvPr>
        </p:nvPicPr>
        <p:blipFill>
          <a:blip r:embed="rId2"/>
          <a:stretch>
            <a:fillRect/>
          </a:stretch>
        </p:blipFill>
        <p:spPr>
          <a:xfrm>
            <a:off x="1057176" y="128905"/>
            <a:ext cx="5770344" cy="6211020"/>
          </a:xfrm>
        </p:spPr>
      </p:pic>
      <p:sp>
        <p:nvSpPr>
          <p:cNvPr id="6" name="TextBox 5">
            <a:extLst>
              <a:ext uri="{FF2B5EF4-FFF2-40B4-BE49-F238E27FC236}">
                <a16:creationId xmlns:a16="http://schemas.microsoft.com/office/drawing/2014/main" id="{C9437C6F-EEF0-8776-F738-1C45B72488D1}"/>
              </a:ext>
            </a:extLst>
          </p:cNvPr>
          <p:cNvSpPr txBox="1"/>
          <p:nvPr/>
        </p:nvSpPr>
        <p:spPr>
          <a:xfrm>
            <a:off x="7577470" y="1024742"/>
            <a:ext cx="3820632" cy="4401205"/>
          </a:xfrm>
          <a:prstGeom prst="rect">
            <a:avLst/>
          </a:prstGeom>
          <a:noFill/>
        </p:spPr>
        <p:txBody>
          <a:bodyPr wrap="square" rtlCol="0">
            <a:spAutoFit/>
          </a:bodyPr>
          <a:lstStyle/>
          <a:p>
            <a:r>
              <a:rPr lang="en-NL" sz="2800" dirty="0"/>
              <a:t>A researcher is testing if gender influences job knowledge. What p-value should they report?</a:t>
            </a:r>
          </a:p>
          <a:p>
            <a:endParaRPr lang="en-NL" sz="2800" dirty="0"/>
          </a:p>
          <a:p>
            <a:r>
              <a:rPr lang="en-NL" sz="2800" dirty="0"/>
              <a:t>A) 0.571</a:t>
            </a:r>
          </a:p>
          <a:p>
            <a:r>
              <a:rPr lang="en-NL" sz="2800" dirty="0">
                <a:highlight>
                  <a:srgbClr val="FFFF00"/>
                </a:highlight>
              </a:rPr>
              <a:t>B) 0.305</a:t>
            </a:r>
          </a:p>
          <a:p>
            <a:r>
              <a:rPr lang="en-NL" sz="2800" dirty="0"/>
              <a:t>C) &lt;.001</a:t>
            </a:r>
          </a:p>
          <a:p>
            <a:r>
              <a:rPr lang="en-NL" sz="2800" dirty="0"/>
              <a:t>D) 0.469</a:t>
            </a:r>
          </a:p>
        </p:txBody>
      </p:sp>
    </p:spTree>
    <p:extLst>
      <p:ext uri="{BB962C8B-B14F-4D97-AF65-F5344CB8AC3E}">
        <p14:creationId xmlns:p14="http://schemas.microsoft.com/office/powerpoint/2010/main" val="85805466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DA88ADC5-C40A-BA25-6EF9-34B86EC91C1A}"/>
              </a:ext>
            </a:extLst>
          </p:cNvPr>
          <p:cNvPicPr>
            <a:picLocks noChangeAspect="1"/>
          </p:cNvPicPr>
          <p:nvPr/>
        </p:nvPicPr>
        <p:blipFill>
          <a:blip r:embed="rId2"/>
          <a:stretch>
            <a:fillRect/>
          </a:stretch>
        </p:blipFill>
        <p:spPr>
          <a:xfrm>
            <a:off x="493307" y="566516"/>
            <a:ext cx="7143750" cy="5172075"/>
          </a:xfrm>
          <a:prstGeom prst="rect">
            <a:avLst/>
          </a:prstGeom>
        </p:spPr>
      </p:pic>
      <p:sp>
        <p:nvSpPr>
          <p:cNvPr id="6" name="Rectangle 5">
            <a:extLst>
              <a:ext uri="{FF2B5EF4-FFF2-40B4-BE49-F238E27FC236}">
                <a16:creationId xmlns:a16="http://schemas.microsoft.com/office/drawing/2014/main" id="{EEB5B645-8F30-14CA-C5C6-0BE0D1627171}"/>
              </a:ext>
            </a:extLst>
          </p:cNvPr>
          <p:cNvSpPr/>
          <p:nvPr/>
        </p:nvSpPr>
        <p:spPr>
          <a:xfrm>
            <a:off x="5507664" y="2721934"/>
            <a:ext cx="567070" cy="265814"/>
          </a:xfrm>
          <a:prstGeom prst="rect">
            <a:avLst/>
          </a:prstGeom>
          <a:noFill/>
          <a:ln w="57150">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7" name="TextBox 6">
            <a:extLst>
              <a:ext uri="{FF2B5EF4-FFF2-40B4-BE49-F238E27FC236}">
                <a16:creationId xmlns:a16="http://schemas.microsoft.com/office/drawing/2014/main" id="{6335A2ED-A6B4-67CD-5537-054ED704987A}"/>
              </a:ext>
            </a:extLst>
          </p:cNvPr>
          <p:cNvSpPr txBox="1"/>
          <p:nvPr/>
        </p:nvSpPr>
        <p:spPr>
          <a:xfrm>
            <a:off x="7637058" y="1100515"/>
            <a:ext cx="4388366" cy="4524315"/>
          </a:xfrm>
          <a:prstGeom prst="rect">
            <a:avLst/>
          </a:prstGeom>
          <a:noFill/>
        </p:spPr>
        <p:txBody>
          <a:bodyPr wrap="square" rtlCol="0">
            <a:spAutoFit/>
          </a:bodyPr>
          <a:lstStyle/>
          <a:p>
            <a:r>
              <a:rPr lang="en-NL" sz="3600" dirty="0"/>
              <a:t>What is the expected cell count for the highlighted box?</a:t>
            </a:r>
          </a:p>
          <a:p>
            <a:endParaRPr lang="en-NL" sz="3600" dirty="0"/>
          </a:p>
          <a:p>
            <a:pPr marL="342900" indent="-342900">
              <a:buAutoNum type="alphaUcParenR"/>
            </a:pPr>
            <a:r>
              <a:rPr lang="en-NL" sz="3600" dirty="0"/>
              <a:t>3</a:t>
            </a:r>
          </a:p>
          <a:p>
            <a:pPr marL="342900" indent="-342900">
              <a:buAutoNum type="alphaUcParenR"/>
            </a:pPr>
            <a:r>
              <a:rPr lang="en-NL" sz="3600" dirty="0"/>
              <a:t>5.32</a:t>
            </a:r>
          </a:p>
          <a:p>
            <a:pPr marL="342900" indent="-342900">
              <a:buAutoNum type="alphaUcParenR"/>
            </a:pPr>
            <a:r>
              <a:rPr lang="en-NL" sz="3600" dirty="0"/>
              <a:t>42.5</a:t>
            </a:r>
          </a:p>
          <a:p>
            <a:pPr marL="342900" indent="-342900">
              <a:buAutoNum type="alphaUcParenR"/>
            </a:pPr>
            <a:r>
              <a:rPr lang="en-NL" sz="3600" dirty="0"/>
              <a:t>1.98</a:t>
            </a:r>
          </a:p>
        </p:txBody>
      </p:sp>
    </p:spTree>
    <p:extLst>
      <p:ext uri="{BB962C8B-B14F-4D97-AF65-F5344CB8AC3E}">
        <p14:creationId xmlns:p14="http://schemas.microsoft.com/office/powerpoint/2010/main" val="258387561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DA88ADC5-C40A-BA25-6EF9-34B86EC91C1A}"/>
              </a:ext>
            </a:extLst>
          </p:cNvPr>
          <p:cNvPicPr>
            <a:picLocks noChangeAspect="1"/>
          </p:cNvPicPr>
          <p:nvPr/>
        </p:nvPicPr>
        <p:blipFill>
          <a:blip r:embed="rId2"/>
          <a:stretch>
            <a:fillRect/>
          </a:stretch>
        </p:blipFill>
        <p:spPr>
          <a:xfrm>
            <a:off x="493307" y="566516"/>
            <a:ext cx="7143750" cy="5172075"/>
          </a:xfrm>
          <a:prstGeom prst="rect">
            <a:avLst/>
          </a:prstGeom>
        </p:spPr>
      </p:pic>
      <p:sp>
        <p:nvSpPr>
          <p:cNvPr id="6" name="Rectangle 5">
            <a:extLst>
              <a:ext uri="{FF2B5EF4-FFF2-40B4-BE49-F238E27FC236}">
                <a16:creationId xmlns:a16="http://schemas.microsoft.com/office/drawing/2014/main" id="{EEB5B645-8F30-14CA-C5C6-0BE0D1627171}"/>
              </a:ext>
            </a:extLst>
          </p:cNvPr>
          <p:cNvSpPr/>
          <p:nvPr/>
        </p:nvSpPr>
        <p:spPr>
          <a:xfrm>
            <a:off x="5507664" y="2721934"/>
            <a:ext cx="567070" cy="265814"/>
          </a:xfrm>
          <a:prstGeom prst="rect">
            <a:avLst/>
          </a:prstGeom>
          <a:noFill/>
          <a:ln w="57150">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7" name="TextBox 6">
            <a:extLst>
              <a:ext uri="{FF2B5EF4-FFF2-40B4-BE49-F238E27FC236}">
                <a16:creationId xmlns:a16="http://schemas.microsoft.com/office/drawing/2014/main" id="{6335A2ED-A6B4-67CD-5537-054ED704987A}"/>
              </a:ext>
            </a:extLst>
          </p:cNvPr>
          <p:cNvSpPr txBox="1"/>
          <p:nvPr/>
        </p:nvSpPr>
        <p:spPr>
          <a:xfrm>
            <a:off x="7637058" y="1100515"/>
            <a:ext cx="4388366" cy="4524315"/>
          </a:xfrm>
          <a:prstGeom prst="rect">
            <a:avLst/>
          </a:prstGeom>
          <a:noFill/>
        </p:spPr>
        <p:txBody>
          <a:bodyPr wrap="square" rtlCol="0">
            <a:spAutoFit/>
          </a:bodyPr>
          <a:lstStyle/>
          <a:p>
            <a:r>
              <a:rPr lang="en-NL" sz="3600" dirty="0"/>
              <a:t>What is the expected cell count for the highlighted box?</a:t>
            </a:r>
          </a:p>
          <a:p>
            <a:endParaRPr lang="en-NL" sz="3600" dirty="0"/>
          </a:p>
          <a:p>
            <a:pPr marL="342900" indent="-342900">
              <a:buAutoNum type="alphaUcParenR"/>
            </a:pPr>
            <a:r>
              <a:rPr lang="en-NL" sz="3600" dirty="0"/>
              <a:t>3</a:t>
            </a:r>
          </a:p>
          <a:p>
            <a:pPr marL="342900" indent="-342900">
              <a:buAutoNum type="alphaUcParenR"/>
            </a:pPr>
            <a:r>
              <a:rPr lang="en-NL" sz="3600" dirty="0"/>
              <a:t>5.32</a:t>
            </a:r>
          </a:p>
          <a:p>
            <a:pPr marL="342900" indent="-342900">
              <a:buAutoNum type="alphaUcParenR"/>
            </a:pPr>
            <a:r>
              <a:rPr lang="en-NL" sz="3600" dirty="0"/>
              <a:t>42.5</a:t>
            </a:r>
          </a:p>
          <a:p>
            <a:pPr marL="342900" indent="-342900">
              <a:buAutoNum type="alphaUcParenR"/>
            </a:pPr>
            <a:r>
              <a:rPr lang="en-NL" sz="3600" dirty="0">
                <a:highlight>
                  <a:srgbClr val="FFFF00"/>
                </a:highlight>
              </a:rPr>
              <a:t>1.98</a:t>
            </a:r>
          </a:p>
        </p:txBody>
      </p:sp>
    </p:spTree>
    <p:extLst>
      <p:ext uri="{BB962C8B-B14F-4D97-AF65-F5344CB8AC3E}">
        <p14:creationId xmlns:p14="http://schemas.microsoft.com/office/powerpoint/2010/main" val="136314245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descr="Independent Samples T-test output query (SPSS update) : r/spss">
            <a:extLst>
              <a:ext uri="{FF2B5EF4-FFF2-40B4-BE49-F238E27FC236}">
                <a16:creationId xmlns:a16="http://schemas.microsoft.com/office/drawing/2014/main" id="{DE73A938-59C4-8B4D-A8B9-7CBAABE33525}"/>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35330" b="26262"/>
          <a:stretch/>
        </p:blipFill>
        <p:spPr bwMode="auto">
          <a:xfrm>
            <a:off x="295939" y="531628"/>
            <a:ext cx="11366205" cy="1988289"/>
          </a:xfrm>
          <a:prstGeom prst="rect">
            <a:avLst/>
          </a:prstGeom>
          <a:noFill/>
          <a:extLst>
            <a:ext uri="{909E8E84-426E-40DD-AFC4-6F175D3DCCD1}">
              <a14:hiddenFill xmlns:a14="http://schemas.microsoft.com/office/drawing/2010/main">
                <a:solidFill>
                  <a:srgbClr val="FFFFFF"/>
                </a:solidFill>
              </a14:hiddenFill>
            </a:ext>
          </a:extLst>
        </p:spPr>
      </p:pic>
      <p:sp>
        <p:nvSpPr>
          <p:cNvPr id="4" name="Rectangle 3">
            <a:extLst>
              <a:ext uri="{FF2B5EF4-FFF2-40B4-BE49-F238E27FC236}">
                <a16:creationId xmlns:a16="http://schemas.microsoft.com/office/drawing/2014/main" id="{16BD3FA4-5625-DE6A-5C8E-06DF4831FCBB}"/>
              </a:ext>
            </a:extLst>
          </p:cNvPr>
          <p:cNvSpPr/>
          <p:nvPr/>
        </p:nvSpPr>
        <p:spPr>
          <a:xfrm>
            <a:off x="6273209" y="446567"/>
            <a:ext cx="946298" cy="712382"/>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5" name="TextBox 4">
            <a:extLst>
              <a:ext uri="{FF2B5EF4-FFF2-40B4-BE49-F238E27FC236}">
                <a16:creationId xmlns:a16="http://schemas.microsoft.com/office/drawing/2014/main" id="{3E16E964-8982-66D0-853D-F750F81F789C}"/>
              </a:ext>
            </a:extLst>
          </p:cNvPr>
          <p:cNvSpPr txBox="1"/>
          <p:nvPr/>
        </p:nvSpPr>
        <p:spPr>
          <a:xfrm>
            <a:off x="627320" y="2908004"/>
            <a:ext cx="10090299" cy="2862322"/>
          </a:xfrm>
          <a:prstGeom prst="rect">
            <a:avLst/>
          </a:prstGeom>
          <a:noFill/>
        </p:spPr>
        <p:txBody>
          <a:bodyPr wrap="square" rtlCol="0">
            <a:spAutoFit/>
          </a:bodyPr>
          <a:lstStyle/>
          <a:p>
            <a:r>
              <a:rPr lang="en-NL" sz="2000" dirty="0"/>
              <a:t>Based on the above SPSS output of the T-test, what can we conclude about the homogeneity of our data?</a:t>
            </a:r>
          </a:p>
          <a:p>
            <a:endParaRPr lang="en-NL" sz="2000" dirty="0"/>
          </a:p>
          <a:p>
            <a:pPr marL="342900" indent="-342900">
              <a:buAutoNum type="alphaLcParenR"/>
            </a:pPr>
            <a:r>
              <a:rPr lang="en-NL" sz="2000" dirty="0"/>
              <a:t>The p-value is significant therefore our data meets the requirement of being homogeneous</a:t>
            </a:r>
          </a:p>
          <a:p>
            <a:pPr marL="342900" indent="-342900">
              <a:buAutoNum type="alphaLcParenR"/>
            </a:pPr>
            <a:r>
              <a:rPr lang="en-NL" sz="2000" dirty="0"/>
              <a:t>The p-value is NOT significant therefore our data meets the requirement of being homogeneous</a:t>
            </a:r>
          </a:p>
          <a:p>
            <a:pPr marL="342900" indent="-342900">
              <a:buAutoNum type="alphaLcParenR"/>
            </a:pPr>
            <a:r>
              <a:rPr lang="en-NL" sz="2000" dirty="0"/>
              <a:t>The p-value is significant therefore our data does NOT meet the necessary requirements</a:t>
            </a:r>
          </a:p>
          <a:p>
            <a:pPr marL="342900" indent="-342900">
              <a:buAutoNum type="alphaLcParenR"/>
            </a:pPr>
            <a:r>
              <a:rPr lang="en-NL" sz="2000" dirty="0" err="1"/>
              <a:t>Levene’s</a:t>
            </a:r>
            <a:r>
              <a:rPr lang="en-NL" sz="2000" dirty="0"/>
              <a:t> test is not found in the above table, therefore we cannot conclude anything about the homogeneity of our data</a:t>
            </a:r>
          </a:p>
        </p:txBody>
      </p:sp>
    </p:spTree>
    <p:extLst>
      <p:ext uri="{BB962C8B-B14F-4D97-AF65-F5344CB8AC3E}">
        <p14:creationId xmlns:p14="http://schemas.microsoft.com/office/powerpoint/2010/main" val="281789504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descr="Independent Samples T-test output query (SPSS update) : r/spss">
            <a:extLst>
              <a:ext uri="{FF2B5EF4-FFF2-40B4-BE49-F238E27FC236}">
                <a16:creationId xmlns:a16="http://schemas.microsoft.com/office/drawing/2014/main" id="{DE73A938-59C4-8B4D-A8B9-7CBAABE33525}"/>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35330" b="26262"/>
          <a:stretch/>
        </p:blipFill>
        <p:spPr bwMode="auto">
          <a:xfrm>
            <a:off x="295939" y="531628"/>
            <a:ext cx="11366205" cy="1988289"/>
          </a:xfrm>
          <a:prstGeom prst="rect">
            <a:avLst/>
          </a:prstGeom>
          <a:noFill/>
          <a:extLst>
            <a:ext uri="{909E8E84-426E-40DD-AFC4-6F175D3DCCD1}">
              <a14:hiddenFill xmlns:a14="http://schemas.microsoft.com/office/drawing/2010/main">
                <a:solidFill>
                  <a:srgbClr val="FFFFFF"/>
                </a:solidFill>
              </a14:hiddenFill>
            </a:ext>
          </a:extLst>
        </p:spPr>
      </p:pic>
      <p:sp>
        <p:nvSpPr>
          <p:cNvPr id="4" name="Rectangle 3">
            <a:extLst>
              <a:ext uri="{FF2B5EF4-FFF2-40B4-BE49-F238E27FC236}">
                <a16:creationId xmlns:a16="http://schemas.microsoft.com/office/drawing/2014/main" id="{16BD3FA4-5625-DE6A-5C8E-06DF4831FCBB}"/>
              </a:ext>
            </a:extLst>
          </p:cNvPr>
          <p:cNvSpPr/>
          <p:nvPr/>
        </p:nvSpPr>
        <p:spPr>
          <a:xfrm>
            <a:off x="6273209" y="446567"/>
            <a:ext cx="946298" cy="712382"/>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5" name="TextBox 4">
            <a:extLst>
              <a:ext uri="{FF2B5EF4-FFF2-40B4-BE49-F238E27FC236}">
                <a16:creationId xmlns:a16="http://schemas.microsoft.com/office/drawing/2014/main" id="{3E16E964-8982-66D0-853D-F750F81F789C}"/>
              </a:ext>
            </a:extLst>
          </p:cNvPr>
          <p:cNvSpPr txBox="1"/>
          <p:nvPr/>
        </p:nvSpPr>
        <p:spPr>
          <a:xfrm>
            <a:off x="627320" y="2908004"/>
            <a:ext cx="10090299" cy="2862322"/>
          </a:xfrm>
          <a:prstGeom prst="rect">
            <a:avLst/>
          </a:prstGeom>
          <a:noFill/>
        </p:spPr>
        <p:txBody>
          <a:bodyPr wrap="square" rtlCol="0">
            <a:spAutoFit/>
          </a:bodyPr>
          <a:lstStyle/>
          <a:p>
            <a:r>
              <a:rPr lang="en-NL" sz="2000" dirty="0"/>
              <a:t>Based on the above SPSS output of the T-test, what can we conclude about the homogeneity of our data?</a:t>
            </a:r>
          </a:p>
          <a:p>
            <a:endParaRPr lang="en-NL" sz="2000" dirty="0"/>
          </a:p>
          <a:p>
            <a:pPr marL="342900" indent="-342900">
              <a:buAutoNum type="alphaLcParenR"/>
            </a:pPr>
            <a:r>
              <a:rPr lang="en-NL" sz="2000" dirty="0"/>
              <a:t>The p-value is significant therefore our data meets the requirement of being homogeneous</a:t>
            </a:r>
          </a:p>
          <a:p>
            <a:pPr marL="342900" indent="-342900">
              <a:buAutoNum type="alphaLcParenR"/>
            </a:pPr>
            <a:r>
              <a:rPr lang="en-NL" sz="2000" dirty="0"/>
              <a:t>The p-value is NOT significant therefore our data meets the requirement of being homogeneous</a:t>
            </a:r>
          </a:p>
          <a:p>
            <a:pPr marL="342900" indent="-342900">
              <a:buAutoNum type="alphaLcParenR"/>
            </a:pPr>
            <a:r>
              <a:rPr lang="en-NL" sz="2000" dirty="0">
                <a:highlight>
                  <a:srgbClr val="FFFF00"/>
                </a:highlight>
              </a:rPr>
              <a:t>The p-value is significant therefore our data does NOT meet the necessary requirements</a:t>
            </a:r>
          </a:p>
          <a:p>
            <a:pPr marL="342900" indent="-342900">
              <a:buAutoNum type="alphaLcParenR"/>
            </a:pPr>
            <a:r>
              <a:rPr lang="en-NL" sz="2000" dirty="0" err="1"/>
              <a:t>Levene’s</a:t>
            </a:r>
            <a:r>
              <a:rPr lang="en-NL" sz="2000" dirty="0"/>
              <a:t> test is not found in the above table, therefore we cannot conclude anything about the homogeneity of our data</a:t>
            </a:r>
          </a:p>
        </p:txBody>
      </p:sp>
    </p:spTree>
    <p:extLst>
      <p:ext uri="{BB962C8B-B14F-4D97-AF65-F5344CB8AC3E}">
        <p14:creationId xmlns:p14="http://schemas.microsoft.com/office/powerpoint/2010/main" val="27576839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2" descr="Correlation | SPSS Annotated Output">
            <a:extLst>
              <a:ext uri="{FF2B5EF4-FFF2-40B4-BE49-F238E27FC236}">
                <a16:creationId xmlns:a16="http://schemas.microsoft.com/office/drawing/2014/main" id="{B5E2853E-C753-1D7B-1C3F-9AEB7949E30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1658" y="451829"/>
            <a:ext cx="5954342" cy="5954342"/>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AF944913-CAE3-3E96-9A45-FB880849CC67}"/>
              </a:ext>
            </a:extLst>
          </p:cNvPr>
          <p:cNvSpPr txBox="1"/>
          <p:nvPr/>
        </p:nvSpPr>
        <p:spPr>
          <a:xfrm>
            <a:off x="6751674" y="839972"/>
            <a:ext cx="4890977" cy="3785652"/>
          </a:xfrm>
          <a:prstGeom prst="rect">
            <a:avLst/>
          </a:prstGeom>
          <a:noFill/>
        </p:spPr>
        <p:txBody>
          <a:bodyPr wrap="square" rtlCol="0">
            <a:spAutoFit/>
          </a:bodyPr>
          <a:lstStyle/>
          <a:p>
            <a:r>
              <a:rPr lang="en-NL" sz="2400" dirty="0"/>
              <a:t>What can we conclude about the pictured data?</a:t>
            </a:r>
          </a:p>
          <a:p>
            <a:endParaRPr lang="en-NL" sz="2400" dirty="0"/>
          </a:p>
          <a:p>
            <a:pPr marL="342900" indent="-342900">
              <a:buAutoNum type="alphaLcParenR"/>
            </a:pPr>
            <a:r>
              <a:rPr lang="en-NL" sz="2400" dirty="0"/>
              <a:t>There is no apparent correlation</a:t>
            </a:r>
          </a:p>
          <a:p>
            <a:pPr marL="342900" indent="-342900">
              <a:buAutoNum type="alphaLcParenR"/>
            </a:pPr>
            <a:r>
              <a:rPr lang="en-NL" sz="2400" dirty="0"/>
              <a:t>This data does not meet the requirements necessary to run a correlation</a:t>
            </a:r>
          </a:p>
          <a:p>
            <a:pPr marL="342900" indent="-342900">
              <a:buAutoNum type="alphaLcParenR"/>
            </a:pPr>
            <a:r>
              <a:rPr lang="en-NL" sz="2400" dirty="0"/>
              <a:t>There is a negative correlation</a:t>
            </a:r>
          </a:p>
          <a:p>
            <a:pPr marL="342900" indent="-342900">
              <a:buAutoNum type="alphaLcParenR"/>
            </a:pPr>
            <a:r>
              <a:rPr lang="en-NL" sz="2400" dirty="0"/>
              <a:t>There is a positive correlation</a:t>
            </a:r>
          </a:p>
          <a:p>
            <a:endParaRPr lang="en-NL" sz="2400" dirty="0"/>
          </a:p>
        </p:txBody>
      </p:sp>
    </p:spTree>
    <p:extLst>
      <p:ext uri="{BB962C8B-B14F-4D97-AF65-F5344CB8AC3E}">
        <p14:creationId xmlns:p14="http://schemas.microsoft.com/office/powerpoint/2010/main" val="16433241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2" descr="Correlation | SPSS Annotated Output">
            <a:extLst>
              <a:ext uri="{FF2B5EF4-FFF2-40B4-BE49-F238E27FC236}">
                <a16:creationId xmlns:a16="http://schemas.microsoft.com/office/drawing/2014/main" id="{B5E2853E-C753-1D7B-1C3F-9AEB7949E30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1658" y="451829"/>
            <a:ext cx="5954342" cy="5954342"/>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AF944913-CAE3-3E96-9A45-FB880849CC67}"/>
              </a:ext>
            </a:extLst>
          </p:cNvPr>
          <p:cNvSpPr txBox="1"/>
          <p:nvPr/>
        </p:nvSpPr>
        <p:spPr>
          <a:xfrm>
            <a:off x="6751674" y="839972"/>
            <a:ext cx="4890977" cy="3785652"/>
          </a:xfrm>
          <a:prstGeom prst="rect">
            <a:avLst/>
          </a:prstGeom>
          <a:noFill/>
        </p:spPr>
        <p:txBody>
          <a:bodyPr wrap="square" rtlCol="0">
            <a:spAutoFit/>
          </a:bodyPr>
          <a:lstStyle/>
          <a:p>
            <a:r>
              <a:rPr lang="en-NL" sz="2400" dirty="0"/>
              <a:t>What can we conclude about the pictured data?</a:t>
            </a:r>
          </a:p>
          <a:p>
            <a:endParaRPr lang="en-NL" sz="2400" dirty="0"/>
          </a:p>
          <a:p>
            <a:pPr marL="342900" indent="-342900">
              <a:buAutoNum type="alphaLcParenR"/>
            </a:pPr>
            <a:r>
              <a:rPr lang="en-NL" sz="2400" dirty="0"/>
              <a:t>There is no apparent correlation</a:t>
            </a:r>
          </a:p>
          <a:p>
            <a:pPr marL="342900" indent="-342900">
              <a:buAutoNum type="alphaLcParenR"/>
            </a:pPr>
            <a:r>
              <a:rPr lang="en-NL" sz="2400" dirty="0"/>
              <a:t>This data does not meet the requirements necessary to run a correlation</a:t>
            </a:r>
          </a:p>
          <a:p>
            <a:pPr marL="342900" indent="-342900">
              <a:buAutoNum type="alphaLcParenR"/>
            </a:pPr>
            <a:r>
              <a:rPr lang="en-NL" sz="2400" dirty="0"/>
              <a:t>There is a negative correlation</a:t>
            </a:r>
          </a:p>
          <a:p>
            <a:pPr marL="342900" indent="-342900">
              <a:buAutoNum type="alphaLcParenR"/>
            </a:pPr>
            <a:r>
              <a:rPr lang="en-NL" sz="2400" dirty="0">
                <a:highlight>
                  <a:srgbClr val="FFFF00"/>
                </a:highlight>
              </a:rPr>
              <a:t>There is a positive correlation</a:t>
            </a:r>
          </a:p>
          <a:p>
            <a:endParaRPr lang="en-NL" sz="2400" dirty="0"/>
          </a:p>
        </p:txBody>
      </p:sp>
    </p:spTree>
    <p:extLst>
      <p:ext uri="{BB962C8B-B14F-4D97-AF65-F5344CB8AC3E}">
        <p14:creationId xmlns:p14="http://schemas.microsoft.com/office/powerpoint/2010/main" val="13874871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95DF8AF4-1A63-9D2D-9D0A-2A85859D6FBE}"/>
              </a:ext>
            </a:extLst>
          </p:cNvPr>
          <p:cNvPicPr>
            <a:picLocks noChangeAspect="1"/>
          </p:cNvPicPr>
          <p:nvPr/>
        </p:nvPicPr>
        <p:blipFill rotWithShape="1">
          <a:blip r:embed="rId2"/>
          <a:srcRect t="25017" b="14824"/>
          <a:stretch/>
        </p:blipFill>
        <p:spPr>
          <a:xfrm>
            <a:off x="1896471" y="75907"/>
            <a:ext cx="8736087" cy="3353093"/>
          </a:xfrm>
          <a:prstGeom prst="rect">
            <a:avLst/>
          </a:prstGeom>
        </p:spPr>
      </p:pic>
      <p:sp>
        <p:nvSpPr>
          <p:cNvPr id="6" name="Rectangle 5">
            <a:extLst>
              <a:ext uri="{FF2B5EF4-FFF2-40B4-BE49-F238E27FC236}">
                <a16:creationId xmlns:a16="http://schemas.microsoft.com/office/drawing/2014/main" id="{6FAAA961-DE0D-AEB2-00CC-10EF39ADB437}"/>
              </a:ext>
            </a:extLst>
          </p:cNvPr>
          <p:cNvSpPr/>
          <p:nvPr/>
        </p:nvSpPr>
        <p:spPr>
          <a:xfrm>
            <a:off x="1594144" y="-158637"/>
            <a:ext cx="604653" cy="923330"/>
          </a:xfrm>
          <a:prstGeom prst="rect">
            <a:avLst/>
          </a:prstGeom>
          <a:noFill/>
        </p:spPr>
        <p:txBody>
          <a:bodyPr wrap="none" lIns="91440" tIns="45720" rIns="91440" bIns="45720">
            <a:spAutoFit/>
          </a:bodyPr>
          <a:lstStyle/>
          <a:p>
            <a:pPr algn="ctr"/>
            <a:r>
              <a:rPr lang="en-NL" sz="5400" b="1" dirty="0">
                <a:ln w="0"/>
                <a:effectLst>
                  <a:outerShdw blurRad="38100" dist="19050" dir="2700000" algn="tl" rotWithShape="0">
                    <a:schemeClr val="dk1">
                      <a:alpha val="40000"/>
                    </a:schemeClr>
                  </a:outerShdw>
                </a:effectLst>
              </a:rPr>
              <a:t>A</a:t>
            </a:r>
            <a:endParaRPr lang="en-US" sz="5400" b="1" cap="none" spc="0" dirty="0">
              <a:ln w="0"/>
              <a:solidFill>
                <a:schemeClr val="tx1"/>
              </a:solidFill>
              <a:effectLst>
                <a:outerShdw blurRad="38100" dist="19050" dir="2700000" algn="tl" rotWithShape="0">
                  <a:schemeClr val="dk1">
                    <a:alpha val="40000"/>
                  </a:schemeClr>
                </a:outerShdw>
              </a:effectLst>
            </a:endParaRPr>
          </a:p>
        </p:txBody>
      </p:sp>
      <p:sp>
        <p:nvSpPr>
          <p:cNvPr id="7" name="Rectangle 6">
            <a:extLst>
              <a:ext uri="{FF2B5EF4-FFF2-40B4-BE49-F238E27FC236}">
                <a16:creationId xmlns:a16="http://schemas.microsoft.com/office/drawing/2014/main" id="{39835CA0-2456-B644-E6C2-7080BF66FEC1}"/>
              </a:ext>
            </a:extLst>
          </p:cNvPr>
          <p:cNvSpPr/>
          <p:nvPr/>
        </p:nvSpPr>
        <p:spPr>
          <a:xfrm>
            <a:off x="5978217" y="-158637"/>
            <a:ext cx="572593" cy="923330"/>
          </a:xfrm>
          <a:prstGeom prst="rect">
            <a:avLst/>
          </a:prstGeom>
          <a:noFill/>
        </p:spPr>
        <p:txBody>
          <a:bodyPr wrap="none" lIns="91440" tIns="45720" rIns="91440" bIns="45720">
            <a:spAutoFit/>
          </a:bodyPr>
          <a:lstStyle/>
          <a:p>
            <a:pPr algn="ctr"/>
            <a:r>
              <a:rPr lang="en-NL" sz="5400" b="1" cap="none" spc="0" dirty="0">
                <a:ln w="0"/>
                <a:solidFill>
                  <a:schemeClr val="tx1"/>
                </a:solidFill>
                <a:effectLst>
                  <a:outerShdw blurRad="38100" dist="19050" dir="2700000" algn="tl" rotWithShape="0">
                    <a:schemeClr val="dk1">
                      <a:alpha val="40000"/>
                    </a:schemeClr>
                  </a:outerShdw>
                </a:effectLst>
              </a:rPr>
              <a:t>B</a:t>
            </a:r>
            <a:endParaRPr lang="en-US" sz="5400" b="1" cap="none" spc="0" dirty="0">
              <a:ln w="0"/>
              <a:solidFill>
                <a:schemeClr val="tx1"/>
              </a:solidFill>
              <a:effectLst>
                <a:outerShdw blurRad="38100" dist="19050" dir="2700000" algn="tl" rotWithShape="0">
                  <a:schemeClr val="dk1">
                    <a:alpha val="40000"/>
                  </a:schemeClr>
                </a:outerShdw>
              </a:effectLst>
            </a:endParaRPr>
          </a:p>
        </p:txBody>
      </p:sp>
      <p:sp>
        <p:nvSpPr>
          <p:cNvPr id="8" name="TextBox 7">
            <a:extLst>
              <a:ext uri="{FF2B5EF4-FFF2-40B4-BE49-F238E27FC236}">
                <a16:creationId xmlns:a16="http://schemas.microsoft.com/office/drawing/2014/main" id="{7AFA2866-17D8-4F3A-457A-062B04A1AA6F}"/>
              </a:ext>
            </a:extLst>
          </p:cNvPr>
          <p:cNvSpPr txBox="1"/>
          <p:nvPr/>
        </p:nvSpPr>
        <p:spPr>
          <a:xfrm>
            <a:off x="1786270" y="3902149"/>
            <a:ext cx="8298041" cy="1938992"/>
          </a:xfrm>
          <a:prstGeom prst="rect">
            <a:avLst/>
          </a:prstGeom>
          <a:noFill/>
        </p:spPr>
        <p:txBody>
          <a:bodyPr wrap="none" rtlCol="0">
            <a:spAutoFit/>
          </a:bodyPr>
          <a:lstStyle/>
          <a:p>
            <a:r>
              <a:rPr lang="en-NL" sz="2000" dirty="0"/>
              <a:t>Based on the above two graphs, which one is better for a correlation analysis?</a:t>
            </a:r>
          </a:p>
          <a:p>
            <a:endParaRPr lang="en-NL" sz="2000" dirty="0"/>
          </a:p>
          <a:p>
            <a:pPr marL="342900" indent="-342900">
              <a:buAutoNum type="alphaUcParenR"/>
            </a:pPr>
            <a:r>
              <a:rPr lang="en-NL" sz="2000" dirty="0"/>
              <a:t>Graph A because it is positive</a:t>
            </a:r>
          </a:p>
          <a:p>
            <a:pPr marL="342900" indent="-342900">
              <a:buAutoNum type="alphaUcParenR"/>
            </a:pPr>
            <a:r>
              <a:rPr lang="en-NL" sz="2000" dirty="0"/>
              <a:t>Graph B because it is negative</a:t>
            </a:r>
          </a:p>
          <a:p>
            <a:pPr marL="342900" indent="-342900">
              <a:buAutoNum type="alphaUcParenR"/>
            </a:pPr>
            <a:r>
              <a:rPr lang="en-NL" sz="2000" dirty="0"/>
              <a:t>Neither meets the requirements for a correlation</a:t>
            </a:r>
          </a:p>
          <a:p>
            <a:pPr marL="342900" indent="-342900">
              <a:buAutoNum type="alphaUcParenR"/>
            </a:pPr>
            <a:r>
              <a:rPr lang="en-NL" sz="2000" dirty="0"/>
              <a:t>A correlation could be run on both these graphs. </a:t>
            </a:r>
          </a:p>
        </p:txBody>
      </p:sp>
    </p:spTree>
    <p:extLst>
      <p:ext uri="{BB962C8B-B14F-4D97-AF65-F5344CB8AC3E}">
        <p14:creationId xmlns:p14="http://schemas.microsoft.com/office/powerpoint/2010/main" val="179408870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95DF8AF4-1A63-9D2D-9D0A-2A85859D6FBE}"/>
              </a:ext>
            </a:extLst>
          </p:cNvPr>
          <p:cNvPicPr>
            <a:picLocks noChangeAspect="1"/>
          </p:cNvPicPr>
          <p:nvPr/>
        </p:nvPicPr>
        <p:blipFill rotWithShape="1">
          <a:blip r:embed="rId2"/>
          <a:srcRect t="25017" b="14824"/>
          <a:stretch/>
        </p:blipFill>
        <p:spPr>
          <a:xfrm>
            <a:off x="1896471" y="75907"/>
            <a:ext cx="8736087" cy="3353093"/>
          </a:xfrm>
          <a:prstGeom prst="rect">
            <a:avLst/>
          </a:prstGeom>
        </p:spPr>
      </p:pic>
      <p:sp>
        <p:nvSpPr>
          <p:cNvPr id="6" name="Rectangle 5">
            <a:extLst>
              <a:ext uri="{FF2B5EF4-FFF2-40B4-BE49-F238E27FC236}">
                <a16:creationId xmlns:a16="http://schemas.microsoft.com/office/drawing/2014/main" id="{6FAAA961-DE0D-AEB2-00CC-10EF39ADB437}"/>
              </a:ext>
            </a:extLst>
          </p:cNvPr>
          <p:cNvSpPr/>
          <p:nvPr/>
        </p:nvSpPr>
        <p:spPr>
          <a:xfrm>
            <a:off x="1594144" y="-158637"/>
            <a:ext cx="604653" cy="923330"/>
          </a:xfrm>
          <a:prstGeom prst="rect">
            <a:avLst/>
          </a:prstGeom>
          <a:noFill/>
        </p:spPr>
        <p:txBody>
          <a:bodyPr wrap="none" lIns="91440" tIns="45720" rIns="91440" bIns="45720">
            <a:spAutoFit/>
          </a:bodyPr>
          <a:lstStyle/>
          <a:p>
            <a:pPr algn="ctr"/>
            <a:r>
              <a:rPr lang="en-NL" sz="5400" b="1" dirty="0">
                <a:ln w="0"/>
                <a:effectLst>
                  <a:outerShdw blurRad="38100" dist="19050" dir="2700000" algn="tl" rotWithShape="0">
                    <a:schemeClr val="dk1">
                      <a:alpha val="40000"/>
                    </a:schemeClr>
                  </a:outerShdw>
                </a:effectLst>
              </a:rPr>
              <a:t>A</a:t>
            </a:r>
            <a:endParaRPr lang="en-US" sz="5400" b="1" cap="none" spc="0" dirty="0">
              <a:ln w="0"/>
              <a:solidFill>
                <a:schemeClr val="tx1"/>
              </a:solidFill>
              <a:effectLst>
                <a:outerShdw blurRad="38100" dist="19050" dir="2700000" algn="tl" rotWithShape="0">
                  <a:schemeClr val="dk1">
                    <a:alpha val="40000"/>
                  </a:schemeClr>
                </a:outerShdw>
              </a:effectLst>
            </a:endParaRPr>
          </a:p>
        </p:txBody>
      </p:sp>
      <p:sp>
        <p:nvSpPr>
          <p:cNvPr id="7" name="Rectangle 6">
            <a:extLst>
              <a:ext uri="{FF2B5EF4-FFF2-40B4-BE49-F238E27FC236}">
                <a16:creationId xmlns:a16="http://schemas.microsoft.com/office/drawing/2014/main" id="{39835CA0-2456-B644-E6C2-7080BF66FEC1}"/>
              </a:ext>
            </a:extLst>
          </p:cNvPr>
          <p:cNvSpPr/>
          <p:nvPr/>
        </p:nvSpPr>
        <p:spPr>
          <a:xfrm>
            <a:off x="5978217" y="-158637"/>
            <a:ext cx="572593" cy="923330"/>
          </a:xfrm>
          <a:prstGeom prst="rect">
            <a:avLst/>
          </a:prstGeom>
          <a:noFill/>
        </p:spPr>
        <p:txBody>
          <a:bodyPr wrap="none" lIns="91440" tIns="45720" rIns="91440" bIns="45720">
            <a:spAutoFit/>
          </a:bodyPr>
          <a:lstStyle/>
          <a:p>
            <a:pPr algn="ctr"/>
            <a:r>
              <a:rPr lang="en-NL" sz="5400" b="1" cap="none" spc="0" dirty="0">
                <a:ln w="0"/>
                <a:solidFill>
                  <a:schemeClr val="tx1"/>
                </a:solidFill>
                <a:effectLst>
                  <a:outerShdw blurRad="38100" dist="19050" dir="2700000" algn="tl" rotWithShape="0">
                    <a:schemeClr val="dk1">
                      <a:alpha val="40000"/>
                    </a:schemeClr>
                  </a:outerShdw>
                </a:effectLst>
              </a:rPr>
              <a:t>B</a:t>
            </a:r>
            <a:endParaRPr lang="en-US" sz="5400" b="1" cap="none" spc="0" dirty="0">
              <a:ln w="0"/>
              <a:solidFill>
                <a:schemeClr val="tx1"/>
              </a:solidFill>
              <a:effectLst>
                <a:outerShdw blurRad="38100" dist="19050" dir="2700000" algn="tl" rotWithShape="0">
                  <a:schemeClr val="dk1">
                    <a:alpha val="40000"/>
                  </a:schemeClr>
                </a:outerShdw>
              </a:effectLst>
            </a:endParaRPr>
          </a:p>
        </p:txBody>
      </p:sp>
      <p:sp>
        <p:nvSpPr>
          <p:cNvPr id="8" name="TextBox 7">
            <a:extLst>
              <a:ext uri="{FF2B5EF4-FFF2-40B4-BE49-F238E27FC236}">
                <a16:creationId xmlns:a16="http://schemas.microsoft.com/office/drawing/2014/main" id="{7AFA2866-17D8-4F3A-457A-062B04A1AA6F}"/>
              </a:ext>
            </a:extLst>
          </p:cNvPr>
          <p:cNvSpPr txBox="1"/>
          <p:nvPr/>
        </p:nvSpPr>
        <p:spPr>
          <a:xfrm>
            <a:off x="1786270" y="3902149"/>
            <a:ext cx="8298041" cy="1938992"/>
          </a:xfrm>
          <a:prstGeom prst="rect">
            <a:avLst/>
          </a:prstGeom>
          <a:noFill/>
        </p:spPr>
        <p:txBody>
          <a:bodyPr wrap="none" rtlCol="0">
            <a:spAutoFit/>
          </a:bodyPr>
          <a:lstStyle/>
          <a:p>
            <a:r>
              <a:rPr lang="en-NL" sz="2000" dirty="0"/>
              <a:t>Based on the above two graphs, which one is better for a correlation analysis?</a:t>
            </a:r>
          </a:p>
          <a:p>
            <a:endParaRPr lang="en-NL" sz="2000" dirty="0"/>
          </a:p>
          <a:p>
            <a:pPr marL="342900" indent="-342900">
              <a:buAutoNum type="alphaUcParenR"/>
            </a:pPr>
            <a:r>
              <a:rPr lang="en-NL" sz="2000" dirty="0"/>
              <a:t>Graph A because it is positive</a:t>
            </a:r>
          </a:p>
          <a:p>
            <a:pPr marL="342900" indent="-342900">
              <a:buAutoNum type="alphaUcParenR"/>
            </a:pPr>
            <a:r>
              <a:rPr lang="en-NL" sz="2000" dirty="0"/>
              <a:t>Graph B because it is negative</a:t>
            </a:r>
          </a:p>
          <a:p>
            <a:pPr marL="342900" indent="-342900">
              <a:buAutoNum type="alphaUcParenR"/>
            </a:pPr>
            <a:r>
              <a:rPr lang="en-NL" sz="2000" dirty="0"/>
              <a:t>Neither meets the requirements for a correlation</a:t>
            </a:r>
          </a:p>
          <a:p>
            <a:pPr marL="342900" indent="-342900">
              <a:buAutoNum type="alphaUcParenR"/>
            </a:pPr>
            <a:r>
              <a:rPr lang="en-NL" sz="2000" dirty="0">
                <a:highlight>
                  <a:srgbClr val="FFFF00"/>
                </a:highlight>
              </a:rPr>
              <a:t>A correlation could be run on both these graphs. </a:t>
            </a:r>
          </a:p>
        </p:txBody>
      </p:sp>
    </p:spTree>
    <p:extLst>
      <p:ext uri="{BB962C8B-B14F-4D97-AF65-F5344CB8AC3E}">
        <p14:creationId xmlns:p14="http://schemas.microsoft.com/office/powerpoint/2010/main" val="404883799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EA5047-038B-3839-554B-821951599F75}"/>
              </a:ext>
            </a:extLst>
          </p:cNvPr>
          <p:cNvSpPr>
            <a:spLocks noGrp="1"/>
          </p:cNvSpPr>
          <p:nvPr>
            <p:ph type="title"/>
          </p:nvPr>
        </p:nvSpPr>
        <p:spPr/>
        <p:txBody>
          <a:bodyPr/>
          <a:lstStyle/>
          <a:p>
            <a:r>
              <a:rPr lang="en-NL" dirty="0"/>
              <a:t>To run a Chi 2 test, what sort of data do we need?</a:t>
            </a:r>
          </a:p>
        </p:txBody>
      </p:sp>
      <p:sp>
        <p:nvSpPr>
          <p:cNvPr id="3" name="Content Placeholder 2">
            <a:extLst>
              <a:ext uri="{FF2B5EF4-FFF2-40B4-BE49-F238E27FC236}">
                <a16:creationId xmlns:a16="http://schemas.microsoft.com/office/drawing/2014/main" id="{69D683D1-4765-B95F-C8B0-393028A82E06}"/>
              </a:ext>
            </a:extLst>
          </p:cNvPr>
          <p:cNvSpPr>
            <a:spLocks noGrp="1"/>
          </p:cNvSpPr>
          <p:nvPr>
            <p:ph idx="1"/>
          </p:nvPr>
        </p:nvSpPr>
        <p:spPr/>
        <p:txBody>
          <a:bodyPr/>
          <a:lstStyle/>
          <a:p>
            <a:r>
              <a:rPr lang="en-NL" dirty="0"/>
              <a:t>A) 2 categorical variables</a:t>
            </a:r>
          </a:p>
          <a:p>
            <a:r>
              <a:rPr lang="en-NL" dirty="0"/>
              <a:t>B) 1 ordinal and 1 nominal variable</a:t>
            </a:r>
          </a:p>
          <a:p>
            <a:r>
              <a:rPr lang="en-NL" dirty="0"/>
              <a:t>C) Either 2 nominal variables, or 2 ordinal variables</a:t>
            </a:r>
          </a:p>
          <a:p>
            <a:r>
              <a:rPr lang="en-NL" dirty="0"/>
              <a:t>D) All of the above are fine. </a:t>
            </a:r>
          </a:p>
        </p:txBody>
      </p:sp>
    </p:spTree>
    <p:extLst>
      <p:ext uri="{BB962C8B-B14F-4D97-AF65-F5344CB8AC3E}">
        <p14:creationId xmlns:p14="http://schemas.microsoft.com/office/powerpoint/2010/main" val="400787343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EA5047-038B-3839-554B-821951599F75}"/>
              </a:ext>
            </a:extLst>
          </p:cNvPr>
          <p:cNvSpPr>
            <a:spLocks noGrp="1"/>
          </p:cNvSpPr>
          <p:nvPr>
            <p:ph type="title"/>
          </p:nvPr>
        </p:nvSpPr>
        <p:spPr/>
        <p:txBody>
          <a:bodyPr/>
          <a:lstStyle/>
          <a:p>
            <a:r>
              <a:rPr lang="en-NL" dirty="0"/>
              <a:t>To run a Chi 2 test, what sort of data do we need?</a:t>
            </a:r>
          </a:p>
        </p:txBody>
      </p:sp>
      <p:sp>
        <p:nvSpPr>
          <p:cNvPr id="3" name="Content Placeholder 2">
            <a:extLst>
              <a:ext uri="{FF2B5EF4-FFF2-40B4-BE49-F238E27FC236}">
                <a16:creationId xmlns:a16="http://schemas.microsoft.com/office/drawing/2014/main" id="{69D683D1-4765-B95F-C8B0-393028A82E06}"/>
              </a:ext>
            </a:extLst>
          </p:cNvPr>
          <p:cNvSpPr>
            <a:spLocks noGrp="1"/>
          </p:cNvSpPr>
          <p:nvPr>
            <p:ph idx="1"/>
          </p:nvPr>
        </p:nvSpPr>
        <p:spPr/>
        <p:txBody>
          <a:bodyPr/>
          <a:lstStyle/>
          <a:p>
            <a:r>
              <a:rPr lang="en-NL" dirty="0"/>
              <a:t>A) 2 categorical variables</a:t>
            </a:r>
          </a:p>
          <a:p>
            <a:r>
              <a:rPr lang="en-NL" dirty="0"/>
              <a:t>B) 1 ordinal and 1 nominal variable</a:t>
            </a:r>
          </a:p>
          <a:p>
            <a:r>
              <a:rPr lang="en-NL" dirty="0"/>
              <a:t>C) Either 2 nominal variables, or 2 ordinal variables</a:t>
            </a:r>
          </a:p>
          <a:p>
            <a:r>
              <a:rPr lang="en-NL" dirty="0">
                <a:highlight>
                  <a:srgbClr val="FFFF00"/>
                </a:highlight>
              </a:rPr>
              <a:t>D) All of the above are fine. </a:t>
            </a:r>
          </a:p>
        </p:txBody>
      </p:sp>
    </p:spTree>
    <p:extLst>
      <p:ext uri="{BB962C8B-B14F-4D97-AF65-F5344CB8AC3E}">
        <p14:creationId xmlns:p14="http://schemas.microsoft.com/office/powerpoint/2010/main" val="367837852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013FFE-B5F5-51CE-7488-0863572D261B}"/>
              </a:ext>
            </a:extLst>
          </p:cNvPr>
          <p:cNvSpPr>
            <a:spLocks noGrp="1"/>
          </p:cNvSpPr>
          <p:nvPr>
            <p:ph type="title"/>
          </p:nvPr>
        </p:nvSpPr>
        <p:spPr>
          <a:xfrm>
            <a:off x="1047750" y="2766218"/>
            <a:ext cx="10515600" cy="1325563"/>
          </a:xfrm>
        </p:spPr>
        <p:txBody>
          <a:bodyPr>
            <a:normAutofit fontScale="90000"/>
          </a:bodyPr>
          <a:lstStyle/>
          <a:p>
            <a:r>
              <a:rPr lang="en-US" b="1" dirty="0"/>
              <a:t>A study claims that an experimental treatment improves memory. The researcher ensures the study is free from biases, controls extraneous variables, and that the treatment, not other factors, causes the observed effects. What type of validity is being ensured here?</a:t>
            </a:r>
            <a:br>
              <a:rPr lang="en-US" dirty="0"/>
            </a:br>
            <a:r>
              <a:rPr lang="en-US" dirty="0"/>
              <a:t>a) Internal Validity</a:t>
            </a:r>
            <a:br>
              <a:rPr lang="en-US" dirty="0"/>
            </a:br>
            <a:r>
              <a:rPr lang="en-US" dirty="0"/>
              <a:t>b) External Validity</a:t>
            </a:r>
            <a:br>
              <a:rPr lang="en-US" dirty="0"/>
            </a:br>
            <a:r>
              <a:rPr lang="en-US" dirty="0"/>
              <a:t>c) Construct Validity</a:t>
            </a:r>
            <a:br>
              <a:rPr lang="en-US" dirty="0"/>
            </a:br>
            <a:r>
              <a:rPr lang="en-US" dirty="0"/>
              <a:t>d) Content Validity</a:t>
            </a:r>
            <a:br>
              <a:rPr lang="en-US" dirty="0"/>
            </a:br>
            <a:endParaRPr lang="en-NL" dirty="0"/>
          </a:p>
        </p:txBody>
      </p:sp>
    </p:spTree>
    <p:extLst>
      <p:ext uri="{BB962C8B-B14F-4D97-AF65-F5344CB8AC3E}">
        <p14:creationId xmlns:p14="http://schemas.microsoft.com/office/powerpoint/2010/main" val="386863116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013FFE-B5F5-51CE-7488-0863572D261B}"/>
              </a:ext>
            </a:extLst>
          </p:cNvPr>
          <p:cNvSpPr>
            <a:spLocks noGrp="1"/>
          </p:cNvSpPr>
          <p:nvPr>
            <p:ph type="title"/>
          </p:nvPr>
        </p:nvSpPr>
        <p:spPr>
          <a:xfrm>
            <a:off x="1047750" y="2766218"/>
            <a:ext cx="10515600" cy="1325563"/>
          </a:xfrm>
        </p:spPr>
        <p:txBody>
          <a:bodyPr>
            <a:normAutofit fontScale="90000"/>
          </a:bodyPr>
          <a:lstStyle/>
          <a:p>
            <a:r>
              <a:rPr lang="en-US" b="1" dirty="0"/>
              <a:t>A study claims that an experimental treatment improves memory. The researcher ensures the study is free from biases, controls extraneous variables, and that the treatment, not other factors, causes the observed effects. What type of validity is being ensured here?</a:t>
            </a:r>
            <a:br>
              <a:rPr lang="en-US" dirty="0"/>
            </a:br>
            <a:r>
              <a:rPr lang="en-US" dirty="0">
                <a:highlight>
                  <a:srgbClr val="FFFF00"/>
                </a:highlight>
              </a:rPr>
              <a:t>a) Internal Validity</a:t>
            </a:r>
            <a:br>
              <a:rPr lang="en-US" dirty="0"/>
            </a:br>
            <a:r>
              <a:rPr lang="en-US" dirty="0"/>
              <a:t>b) External Validity</a:t>
            </a:r>
            <a:br>
              <a:rPr lang="en-US" dirty="0"/>
            </a:br>
            <a:r>
              <a:rPr lang="en-US" dirty="0"/>
              <a:t>c) Construct Validity</a:t>
            </a:r>
            <a:br>
              <a:rPr lang="en-US" dirty="0"/>
            </a:br>
            <a:r>
              <a:rPr lang="en-US" dirty="0"/>
              <a:t>d) Content Validity</a:t>
            </a:r>
            <a:br>
              <a:rPr lang="en-US" dirty="0"/>
            </a:br>
            <a:endParaRPr lang="en-NL" dirty="0"/>
          </a:p>
        </p:txBody>
      </p:sp>
    </p:spTree>
    <p:extLst>
      <p:ext uri="{BB962C8B-B14F-4D97-AF65-F5344CB8AC3E}">
        <p14:creationId xmlns:p14="http://schemas.microsoft.com/office/powerpoint/2010/main" val="310625530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950199-B3ED-9879-8CAE-C62204099719}"/>
              </a:ext>
            </a:extLst>
          </p:cNvPr>
          <p:cNvSpPr>
            <a:spLocks noGrp="1"/>
          </p:cNvSpPr>
          <p:nvPr>
            <p:ph type="title"/>
          </p:nvPr>
        </p:nvSpPr>
        <p:spPr>
          <a:xfrm>
            <a:off x="733425" y="2766218"/>
            <a:ext cx="10515600" cy="1325563"/>
          </a:xfrm>
        </p:spPr>
        <p:txBody>
          <a:bodyPr>
            <a:normAutofit fontScale="90000"/>
          </a:bodyPr>
          <a:lstStyle/>
          <a:p>
            <a:r>
              <a:rPr lang="en-US" b="1" dirty="0"/>
              <a:t>A new leadership assessment tool looks professional and seems intuitively to measure leadership qualities. However, no rigorous testing was conducted to confirm its accuracy. What type of validity does this refer to?</a:t>
            </a:r>
            <a:br>
              <a:rPr lang="en-NL" b="1" dirty="0"/>
            </a:br>
            <a:br>
              <a:rPr lang="en-US" dirty="0"/>
            </a:br>
            <a:r>
              <a:rPr lang="en-US" dirty="0"/>
              <a:t>a) Criterion Validity</a:t>
            </a:r>
            <a:br>
              <a:rPr lang="en-US" dirty="0"/>
            </a:br>
            <a:r>
              <a:rPr lang="en-US" dirty="0"/>
              <a:t>b) Content Validity</a:t>
            </a:r>
            <a:br>
              <a:rPr lang="en-US" dirty="0"/>
            </a:br>
            <a:r>
              <a:rPr lang="en-US" dirty="0"/>
              <a:t>c) Face Validity</a:t>
            </a:r>
            <a:br>
              <a:rPr lang="en-US" dirty="0"/>
            </a:br>
            <a:r>
              <a:rPr lang="en-US" dirty="0"/>
              <a:t>d) Construct Validity</a:t>
            </a:r>
            <a:br>
              <a:rPr lang="en-US" dirty="0"/>
            </a:br>
            <a:endParaRPr lang="en-NL" dirty="0"/>
          </a:p>
        </p:txBody>
      </p:sp>
    </p:spTree>
    <p:extLst>
      <p:ext uri="{BB962C8B-B14F-4D97-AF65-F5344CB8AC3E}">
        <p14:creationId xmlns:p14="http://schemas.microsoft.com/office/powerpoint/2010/main" val="97825902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950199-B3ED-9879-8CAE-C62204099719}"/>
              </a:ext>
            </a:extLst>
          </p:cNvPr>
          <p:cNvSpPr>
            <a:spLocks noGrp="1"/>
          </p:cNvSpPr>
          <p:nvPr>
            <p:ph type="title"/>
          </p:nvPr>
        </p:nvSpPr>
        <p:spPr>
          <a:xfrm>
            <a:off x="733425" y="2766218"/>
            <a:ext cx="10515600" cy="1325563"/>
          </a:xfrm>
        </p:spPr>
        <p:txBody>
          <a:bodyPr>
            <a:normAutofit fontScale="90000"/>
          </a:bodyPr>
          <a:lstStyle/>
          <a:p>
            <a:r>
              <a:rPr lang="en-US" b="1" dirty="0"/>
              <a:t>A new leadership assessment tool looks professional and seems intuitively to measure leadership qualities. However, no rigorous testing was conducted to confirm its accuracy. What type of validity does this refer to?</a:t>
            </a:r>
            <a:br>
              <a:rPr lang="en-NL" b="1" dirty="0"/>
            </a:br>
            <a:br>
              <a:rPr lang="en-US" dirty="0"/>
            </a:br>
            <a:r>
              <a:rPr lang="en-US" dirty="0"/>
              <a:t>a) Criterion Validity</a:t>
            </a:r>
            <a:br>
              <a:rPr lang="en-US" dirty="0"/>
            </a:br>
            <a:r>
              <a:rPr lang="en-US" dirty="0"/>
              <a:t>b) Content Validity</a:t>
            </a:r>
            <a:br>
              <a:rPr lang="en-US" dirty="0"/>
            </a:br>
            <a:r>
              <a:rPr lang="en-US" dirty="0"/>
              <a:t>c</a:t>
            </a:r>
            <a:r>
              <a:rPr lang="en-US" dirty="0">
                <a:highlight>
                  <a:srgbClr val="FFFF00"/>
                </a:highlight>
              </a:rPr>
              <a:t>) Face Validity</a:t>
            </a:r>
            <a:br>
              <a:rPr lang="en-US" dirty="0"/>
            </a:br>
            <a:r>
              <a:rPr lang="en-US" dirty="0"/>
              <a:t>d) Construct Validity</a:t>
            </a:r>
            <a:br>
              <a:rPr lang="en-US" dirty="0"/>
            </a:br>
            <a:endParaRPr lang="en-NL" dirty="0"/>
          </a:p>
        </p:txBody>
      </p:sp>
    </p:spTree>
    <p:extLst>
      <p:ext uri="{BB962C8B-B14F-4D97-AF65-F5344CB8AC3E}">
        <p14:creationId xmlns:p14="http://schemas.microsoft.com/office/powerpoint/2010/main" val="33063382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C5B19E-6C56-220C-A94A-9715888185AA}"/>
              </a:ext>
            </a:extLst>
          </p:cNvPr>
          <p:cNvSpPr>
            <a:spLocks noGrp="1"/>
          </p:cNvSpPr>
          <p:nvPr>
            <p:ph type="title"/>
          </p:nvPr>
        </p:nvSpPr>
        <p:spPr>
          <a:xfrm>
            <a:off x="838200" y="2489200"/>
            <a:ext cx="10515600" cy="1325563"/>
          </a:xfrm>
        </p:spPr>
        <p:txBody>
          <a:bodyPr>
            <a:normAutofit fontScale="90000"/>
          </a:bodyPr>
          <a:lstStyle/>
          <a:p>
            <a:r>
              <a:rPr lang="en-US" b="1" dirty="0"/>
              <a:t>A new math placement test is shown to predict students' future performance in college-level math courses by correlating test scores with final grades. What type of validity does this situation demonstrate?</a:t>
            </a:r>
            <a:br>
              <a:rPr lang="en-NL" b="1" dirty="0"/>
            </a:br>
            <a:br>
              <a:rPr lang="en-US" dirty="0"/>
            </a:br>
            <a:r>
              <a:rPr lang="en-US" dirty="0"/>
              <a:t>a) Criterion Validity</a:t>
            </a:r>
            <a:br>
              <a:rPr lang="en-US" dirty="0"/>
            </a:br>
            <a:r>
              <a:rPr lang="en-US" dirty="0"/>
              <a:t>b) Content Validity</a:t>
            </a:r>
            <a:br>
              <a:rPr lang="en-US" dirty="0"/>
            </a:br>
            <a:r>
              <a:rPr lang="en-US" dirty="0"/>
              <a:t>c) Construct Validity</a:t>
            </a:r>
            <a:br>
              <a:rPr lang="en-US" dirty="0"/>
            </a:br>
            <a:r>
              <a:rPr lang="en-US" dirty="0"/>
              <a:t>d) Face Validity</a:t>
            </a:r>
            <a:br>
              <a:rPr lang="en-US" dirty="0"/>
            </a:br>
            <a:endParaRPr lang="en-NL" dirty="0"/>
          </a:p>
        </p:txBody>
      </p:sp>
    </p:spTree>
    <p:extLst>
      <p:ext uri="{BB962C8B-B14F-4D97-AF65-F5344CB8AC3E}">
        <p14:creationId xmlns:p14="http://schemas.microsoft.com/office/powerpoint/2010/main" val="43554132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C5B19E-6C56-220C-A94A-9715888185AA}"/>
              </a:ext>
            </a:extLst>
          </p:cNvPr>
          <p:cNvSpPr>
            <a:spLocks noGrp="1"/>
          </p:cNvSpPr>
          <p:nvPr>
            <p:ph type="title"/>
          </p:nvPr>
        </p:nvSpPr>
        <p:spPr>
          <a:xfrm>
            <a:off x="838200" y="2489200"/>
            <a:ext cx="10515600" cy="1325563"/>
          </a:xfrm>
        </p:spPr>
        <p:txBody>
          <a:bodyPr>
            <a:normAutofit fontScale="90000"/>
          </a:bodyPr>
          <a:lstStyle/>
          <a:p>
            <a:r>
              <a:rPr lang="en-US" b="1" dirty="0"/>
              <a:t>A new math placement test is shown to predict students' future performance in college-level math courses by correlating test scores with final grades. What type of validity does this situation demonstrate?</a:t>
            </a:r>
            <a:br>
              <a:rPr lang="en-NL" b="1" dirty="0"/>
            </a:br>
            <a:br>
              <a:rPr lang="en-US" dirty="0"/>
            </a:br>
            <a:r>
              <a:rPr lang="en-US" b="1" dirty="0">
                <a:highlight>
                  <a:srgbClr val="FFFF00"/>
                </a:highlight>
              </a:rPr>
              <a:t>a) Criterion Validity</a:t>
            </a:r>
            <a:br>
              <a:rPr lang="en-US" dirty="0"/>
            </a:br>
            <a:r>
              <a:rPr lang="en-US" dirty="0"/>
              <a:t>b) Content Validity</a:t>
            </a:r>
            <a:br>
              <a:rPr lang="en-US" dirty="0"/>
            </a:br>
            <a:r>
              <a:rPr lang="en-US" dirty="0"/>
              <a:t>c) Construct Validity</a:t>
            </a:r>
            <a:br>
              <a:rPr lang="en-US" dirty="0"/>
            </a:br>
            <a:r>
              <a:rPr lang="en-US" dirty="0"/>
              <a:t>d) Face Validity</a:t>
            </a:r>
            <a:br>
              <a:rPr lang="en-US" dirty="0"/>
            </a:br>
            <a:endParaRPr lang="en-NL" dirty="0"/>
          </a:p>
        </p:txBody>
      </p:sp>
    </p:spTree>
    <p:extLst>
      <p:ext uri="{BB962C8B-B14F-4D97-AF65-F5344CB8AC3E}">
        <p14:creationId xmlns:p14="http://schemas.microsoft.com/office/powerpoint/2010/main" val="133451892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7B6C79-5525-28F5-24C2-26933067A6E1}"/>
              </a:ext>
            </a:extLst>
          </p:cNvPr>
          <p:cNvSpPr>
            <a:spLocks noGrp="1"/>
          </p:cNvSpPr>
          <p:nvPr>
            <p:ph type="title"/>
          </p:nvPr>
        </p:nvSpPr>
        <p:spPr>
          <a:xfrm>
            <a:off x="838200" y="2766218"/>
            <a:ext cx="10515600" cy="1325563"/>
          </a:xfrm>
        </p:spPr>
        <p:txBody>
          <a:bodyPr>
            <a:normAutofit fontScale="90000"/>
          </a:bodyPr>
          <a:lstStyle/>
          <a:p>
            <a:r>
              <a:rPr lang="en-US" b="1" dirty="0"/>
              <a:t>A psychological test for anxiety is designed, and its items are checked to ensure they actually measure anxiety and not something else, such as stress or sadness. What type of validity is this?</a:t>
            </a:r>
            <a:br>
              <a:rPr lang="en-NL" b="1" dirty="0"/>
            </a:br>
            <a:br>
              <a:rPr lang="en-US" dirty="0"/>
            </a:br>
            <a:r>
              <a:rPr lang="en-US" dirty="0"/>
              <a:t>a) Construct Validity</a:t>
            </a:r>
            <a:br>
              <a:rPr lang="en-US" dirty="0"/>
            </a:br>
            <a:r>
              <a:rPr lang="en-US" dirty="0"/>
              <a:t>b) Criterion Validity</a:t>
            </a:r>
            <a:br>
              <a:rPr lang="en-US" dirty="0"/>
            </a:br>
            <a:r>
              <a:rPr lang="en-US" dirty="0"/>
              <a:t>c) Content Validity</a:t>
            </a:r>
            <a:br>
              <a:rPr lang="en-US" dirty="0"/>
            </a:br>
            <a:r>
              <a:rPr lang="en-US" dirty="0"/>
              <a:t>d) Face Validity</a:t>
            </a:r>
            <a:br>
              <a:rPr lang="en-US" dirty="0"/>
            </a:br>
            <a:endParaRPr lang="en-NL" dirty="0"/>
          </a:p>
        </p:txBody>
      </p:sp>
    </p:spTree>
    <p:extLst>
      <p:ext uri="{BB962C8B-B14F-4D97-AF65-F5344CB8AC3E}">
        <p14:creationId xmlns:p14="http://schemas.microsoft.com/office/powerpoint/2010/main" val="147571872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7B6C79-5525-28F5-24C2-26933067A6E1}"/>
              </a:ext>
            </a:extLst>
          </p:cNvPr>
          <p:cNvSpPr>
            <a:spLocks noGrp="1"/>
          </p:cNvSpPr>
          <p:nvPr>
            <p:ph type="title"/>
          </p:nvPr>
        </p:nvSpPr>
        <p:spPr>
          <a:xfrm>
            <a:off x="838200" y="2766218"/>
            <a:ext cx="10515600" cy="1325563"/>
          </a:xfrm>
        </p:spPr>
        <p:txBody>
          <a:bodyPr>
            <a:normAutofit fontScale="90000"/>
          </a:bodyPr>
          <a:lstStyle/>
          <a:p>
            <a:r>
              <a:rPr lang="en-US" b="1" dirty="0"/>
              <a:t>A psychological test for anxiety is designed, and its items are checked to ensure they actually measure anxiety and not something else, such as stress or sadness. What type of validity is this?</a:t>
            </a:r>
            <a:br>
              <a:rPr lang="en-NL" b="1" dirty="0"/>
            </a:br>
            <a:br>
              <a:rPr lang="en-US" dirty="0"/>
            </a:br>
            <a:r>
              <a:rPr lang="en-US" dirty="0">
                <a:highlight>
                  <a:srgbClr val="FFFF00"/>
                </a:highlight>
              </a:rPr>
              <a:t>a) Construct Validity</a:t>
            </a:r>
            <a:br>
              <a:rPr lang="en-US" dirty="0"/>
            </a:br>
            <a:r>
              <a:rPr lang="en-US" dirty="0"/>
              <a:t>b) Criterion Validity</a:t>
            </a:r>
            <a:br>
              <a:rPr lang="en-US" dirty="0"/>
            </a:br>
            <a:r>
              <a:rPr lang="en-US" dirty="0"/>
              <a:t>c) Content Validity</a:t>
            </a:r>
            <a:br>
              <a:rPr lang="en-US" dirty="0"/>
            </a:br>
            <a:r>
              <a:rPr lang="en-US" dirty="0"/>
              <a:t>d) Face Validity</a:t>
            </a:r>
            <a:br>
              <a:rPr lang="en-US" dirty="0"/>
            </a:br>
            <a:endParaRPr lang="en-NL" dirty="0"/>
          </a:p>
        </p:txBody>
      </p:sp>
    </p:spTree>
    <p:extLst>
      <p:ext uri="{BB962C8B-B14F-4D97-AF65-F5344CB8AC3E}">
        <p14:creationId xmlns:p14="http://schemas.microsoft.com/office/powerpoint/2010/main" val="40526442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C52CB1-E82E-5EDC-CD78-39150F0A0B2B}"/>
              </a:ext>
            </a:extLst>
          </p:cNvPr>
          <p:cNvSpPr>
            <a:spLocks noGrp="1"/>
          </p:cNvSpPr>
          <p:nvPr>
            <p:ph type="title"/>
          </p:nvPr>
        </p:nvSpPr>
        <p:spPr>
          <a:xfrm>
            <a:off x="904875" y="2660650"/>
            <a:ext cx="10515600" cy="1325563"/>
          </a:xfrm>
        </p:spPr>
        <p:txBody>
          <a:bodyPr>
            <a:normAutofit fontScale="90000"/>
          </a:bodyPr>
          <a:lstStyle/>
          <a:p>
            <a:r>
              <a:rPr lang="en-US" b="1" dirty="0"/>
              <a:t>A researcher divides the population of hotel employees into groups based on their job roles (housekeeping, front desk, management) and then randomly selects a proportional number of employees from each group. What sampling method is being used?</a:t>
            </a:r>
            <a:br>
              <a:rPr lang="en-NL" b="1" dirty="0"/>
            </a:br>
            <a:br>
              <a:rPr lang="en-US" dirty="0"/>
            </a:br>
            <a:r>
              <a:rPr lang="en-US" dirty="0"/>
              <a:t>a) Quota Sampling</a:t>
            </a:r>
            <a:br>
              <a:rPr lang="en-US" dirty="0"/>
            </a:br>
            <a:r>
              <a:rPr lang="en-US" dirty="0"/>
              <a:t>b) Stratified Sampling</a:t>
            </a:r>
            <a:br>
              <a:rPr lang="en-US" dirty="0"/>
            </a:br>
            <a:r>
              <a:rPr lang="en-US" dirty="0"/>
              <a:t>c) Simple Random Sampling</a:t>
            </a:r>
            <a:br>
              <a:rPr lang="en-US" dirty="0"/>
            </a:br>
            <a:r>
              <a:rPr lang="en-US" dirty="0"/>
              <a:t>d) Snowball Sampling</a:t>
            </a:r>
            <a:br>
              <a:rPr lang="en-US" dirty="0"/>
            </a:br>
            <a:endParaRPr lang="en-NL" dirty="0"/>
          </a:p>
        </p:txBody>
      </p:sp>
    </p:spTree>
    <p:extLst>
      <p:ext uri="{BB962C8B-B14F-4D97-AF65-F5344CB8AC3E}">
        <p14:creationId xmlns:p14="http://schemas.microsoft.com/office/powerpoint/2010/main" val="84271721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C52CB1-E82E-5EDC-CD78-39150F0A0B2B}"/>
              </a:ext>
            </a:extLst>
          </p:cNvPr>
          <p:cNvSpPr>
            <a:spLocks noGrp="1"/>
          </p:cNvSpPr>
          <p:nvPr>
            <p:ph type="title"/>
          </p:nvPr>
        </p:nvSpPr>
        <p:spPr>
          <a:xfrm>
            <a:off x="904875" y="2660650"/>
            <a:ext cx="10515600" cy="1325563"/>
          </a:xfrm>
        </p:spPr>
        <p:txBody>
          <a:bodyPr>
            <a:normAutofit fontScale="90000"/>
          </a:bodyPr>
          <a:lstStyle/>
          <a:p>
            <a:r>
              <a:rPr lang="en-US" b="1" dirty="0"/>
              <a:t>A researcher divides the population of hotel employees into groups based on their job roles (housekeeping, front desk, management) and then randomly selects a proportional number of employees from each group. What sampling method is being used?</a:t>
            </a:r>
            <a:br>
              <a:rPr lang="en-NL" b="1" dirty="0"/>
            </a:br>
            <a:br>
              <a:rPr lang="en-US" dirty="0"/>
            </a:br>
            <a:r>
              <a:rPr lang="en-US" dirty="0"/>
              <a:t>a) Quota Sampling</a:t>
            </a:r>
            <a:br>
              <a:rPr lang="en-US" dirty="0"/>
            </a:br>
            <a:r>
              <a:rPr lang="en-US" dirty="0">
                <a:highlight>
                  <a:srgbClr val="FFFF00"/>
                </a:highlight>
              </a:rPr>
              <a:t>b) Stratified Sampling</a:t>
            </a:r>
            <a:br>
              <a:rPr lang="en-US" dirty="0"/>
            </a:br>
            <a:r>
              <a:rPr lang="en-US" dirty="0"/>
              <a:t>c) Simple Random Sampling</a:t>
            </a:r>
            <a:br>
              <a:rPr lang="en-US" dirty="0"/>
            </a:br>
            <a:r>
              <a:rPr lang="en-US" dirty="0"/>
              <a:t>d) Snowball Sampling</a:t>
            </a:r>
            <a:br>
              <a:rPr lang="en-US" dirty="0"/>
            </a:br>
            <a:endParaRPr lang="en-NL" dirty="0"/>
          </a:p>
        </p:txBody>
      </p:sp>
    </p:spTree>
    <p:extLst>
      <p:ext uri="{BB962C8B-B14F-4D97-AF65-F5344CB8AC3E}">
        <p14:creationId xmlns:p14="http://schemas.microsoft.com/office/powerpoint/2010/main" val="269413293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2A5C77-892A-15D5-6CA4-7A30F0BCED8E}"/>
              </a:ext>
            </a:extLst>
          </p:cNvPr>
          <p:cNvSpPr>
            <a:spLocks noGrp="1"/>
          </p:cNvSpPr>
          <p:nvPr>
            <p:ph type="title"/>
          </p:nvPr>
        </p:nvSpPr>
        <p:spPr>
          <a:xfrm>
            <a:off x="838200" y="2327275"/>
            <a:ext cx="10515600" cy="1325563"/>
          </a:xfrm>
        </p:spPr>
        <p:txBody>
          <a:bodyPr>
            <a:normAutofit fontScale="90000"/>
          </a:bodyPr>
          <a:lstStyle/>
          <a:p>
            <a:r>
              <a:rPr lang="en-US" b="1" dirty="0"/>
              <a:t>A study on tourists' preferences posts an online survey and encourages anyone interested in the topic to participate. What sampling method does this represent?</a:t>
            </a:r>
            <a:br>
              <a:rPr lang="en-NL" b="1" dirty="0"/>
            </a:br>
            <a:br>
              <a:rPr lang="en-US" dirty="0"/>
            </a:br>
            <a:r>
              <a:rPr lang="en-US" dirty="0"/>
              <a:t>a) Systematic Sampling</a:t>
            </a:r>
            <a:br>
              <a:rPr lang="en-US" dirty="0"/>
            </a:br>
            <a:r>
              <a:rPr lang="en-US" dirty="0"/>
              <a:t>b) Quota Sampling</a:t>
            </a:r>
            <a:br>
              <a:rPr lang="en-US" dirty="0"/>
            </a:br>
            <a:r>
              <a:rPr lang="en-US" dirty="0"/>
              <a:t>c) Self-Selection Sampling</a:t>
            </a:r>
            <a:br>
              <a:rPr lang="en-US" dirty="0"/>
            </a:br>
            <a:r>
              <a:rPr lang="en-US" dirty="0"/>
              <a:t>d) </a:t>
            </a:r>
            <a:r>
              <a:rPr lang="en-NL" dirty="0"/>
              <a:t>Simple Random</a:t>
            </a:r>
            <a:r>
              <a:rPr lang="en-US" dirty="0"/>
              <a:t> Sampling</a:t>
            </a:r>
            <a:br>
              <a:rPr lang="en-US" dirty="0"/>
            </a:br>
            <a:endParaRPr lang="en-NL" dirty="0"/>
          </a:p>
        </p:txBody>
      </p:sp>
    </p:spTree>
    <p:extLst>
      <p:ext uri="{BB962C8B-B14F-4D97-AF65-F5344CB8AC3E}">
        <p14:creationId xmlns:p14="http://schemas.microsoft.com/office/powerpoint/2010/main" val="331174186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2A5C77-892A-15D5-6CA4-7A30F0BCED8E}"/>
              </a:ext>
            </a:extLst>
          </p:cNvPr>
          <p:cNvSpPr>
            <a:spLocks noGrp="1"/>
          </p:cNvSpPr>
          <p:nvPr>
            <p:ph type="title"/>
          </p:nvPr>
        </p:nvSpPr>
        <p:spPr>
          <a:xfrm>
            <a:off x="838200" y="2327275"/>
            <a:ext cx="10515600" cy="1325563"/>
          </a:xfrm>
        </p:spPr>
        <p:txBody>
          <a:bodyPr>
            <a:normAutofit fontScale="90000"/>
          </a:bodyPr>
          <a:lstStyle/>
          <a:p>
            <a:r>
              <a:rPr lang="en-US" b="1" dirty="0"/>
              <a:t>A study on tourists' preferences posts an online survey and encourages anyone interested in the topic to participate. What sampling method does this represent?</a:t>
            </a:r>
            <a:br>
              <a:rPr lang="en-NL" b="1" dirty="0"/>
            </a:br>
            <a:br>
              <a:rPr lang="en-US" dirty="0"/>
            </a:br>
            <a:r>
              <a:rPr lang="en-US" dirty="0"/>
              <a:t>a) Systematic Sampling</a:t>
            </a:r>
            <a:br>
              <a:rPr lang="en-US" dirty="0"/>
            </a:br>
            <a:r>
              <a:rPr lang="en-US" dirty="0"/>
              <a:t>b) Quota Sampling</a:t>
            </a:r>
            <a:br>
              <a:rPr lang="en-US" dirty="0"/>
            </a:br>
            <a:r>
              <a:rPr lang="en-US" dirty="0"/>
              <a:t>c) </a:t>
            </a:r>
            <a:r>
              <a:rPr lang="en-US" dirty="0">
                <a:highlight>
                  <a:srgbClr val="FFFF00"/>
                </a:highlight>
              </a:rPr>
              <a:t>Self-Selection Sampling</a:t>
            </a:r>
            <a:br>
              <a:rPr lang="en-US" dirty="0"/>
            </a:br>
            <a:r>
              <a:rPr lang="en-US" dirty="0"/>
              <a:t>d) </a:t>
            </a:r>
            <a:r>
              <a:rPr lang="en-NL" dirty="0"/>
              <a:t>Simple Random</a:t>
            </a:r>
            <a:r>
              <a:rPr lang="en-US" dirty="0"/>
              <a:t> Sampling</a:t>
            </a:r>
            <a:br>
              <a:rPr lang="en-US" dirty="0"/>
            </a:br>
            <a:endParaRPr lang="en-NL" dirty="0"/>
          </a:p>
        </p:txBody>
      </p:sp>
    </p:spTree>
    <p:extLst>
      <p:ext uri="{BB962C8B-B14F-4D97-AF65-F5344CB8AC3E}">
        <p14:creationId xmlns:p14="http://schemas.microsoft.com/office/powerpoint/2010/main" val="124401420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0EF6BE-988D-A45D-A52D-FE7204D4752D}"/>
              </a:ext>
            </a:extLst>
          </p:cNvPr>
          <p:cNvSpPr>
            <a:spLocks noGrp="1"/>
          </p:cNvSpPr>
          <p:nvPr>
            <p:ph type="ctrTitle"/>
          </p:nvPr>
        </p:nvSpPr>
        <p:spPr/>
        <p:txBody>
          <a:bodyPr>
            <a:noAutofit/>
          </a:bodyPr>
          <a:lstStyle/>
          <a:p>
            <a:r>
              <a:rPr lang="en-US" sz="3200" dirty="0"/>
              <a:t>A hotel manager surveys customers and asks if they are satisfied (Yes/No) and if they would recommend the hotel to others (Yes/No). Which test should be used to determine if there is an association between the two responses?</a:t>
            </a:r>
            <a:endParaRPr lang="en-NL" sz="3200" dirty="0"/>
          </a:p>
        </p:txBody>
      </p:sp>
      <p:sp>
        <p:nvSpPr>
          <p:cNvPr id="4" name="Rectangle 1">
            <a:extLst>
              <a:ext uri="{FF2B5EF4-FFF2-40B4-BE49-F238E27FC236}">
                <a16:creationId xmlns:a16="http://schemas.microsoft.com/office/drawing/2014/main" id="{4496816D-163B-FDC4-F164-0F49ED9224CC}"/>
              </a:ext>
            </a:extLst>
          </p:cNvPr>
          <p:cNvSpPr>
            <a:spLocks noGrp="1" noChangeArrowheads="1"/>
          </p:cNvSpPr>
          <p:nvPr>
            <p:ph type="subTitle" idx="1"/>
          </p:nvPr>
        </p:nvSpPr>
        <p:spPr bwMode="auto">
          <a:xfrm>
            <a:off x="1524000" y="3306536"/>
            <a:ext cx="3207929" cy="224676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NL" altLang="en-NL" sz="2800" b="0" i="0" u="none" strike="noStrike" cap="none" normalizeH="0" baseline="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NL" altLang="en-NL" sz="2800" b="0" i="0" u="none" strike="noStrike" cap="none" normalizeH="0" baseline="0">
                <a:ln>
                  <a:noFill/>
                </a:ln>
                <a:solidFill>
                  <a:schemeClr val="tx1"/>
                </a:solidFill>
                <a:effectLst/>
                <a:latin typeface="Arial" panose="020B0604020202020204" pitchFamily="34" charset="0"/>
              </a:rPr>
              <a:t>A) Chi-square test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NL" altLang="en-NL" sz="2800" b="0" i="0" u="none" strike="noStrike" cap="none" normalizeH="0" baseline="0">
                <a:ln>
                  <a:noFill/>
                </a:ln>
                <a:solidFill>
                  <a:schemeClr val="tx1"/>
                </a:solidFill>
                <a:effectLst/>
                <a:latin typeface="Arial" panose="020B0604020202020204" pitchFamily="34" charset="0"/>
              </a:rPr>
              <a:t>B) Correlation</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NL" altLang="en-NL" sz="2800" b="0" i="0" u="none" strike="noStrike" cap="none" normalizeH="0" baseline="0">
                <a:ln>
                  <a:noFill/>
                </a:ln>
                <a:solidFill>
                  <a:schemeClr val="tx1"/>
                </a:solidFill>
                <a:effectLst/>
                <a:latin typeface="Arial" panose="020B0604020202020204" pitchFamily="34" charset="0"/>
              </a:rPr>
              <a:t>C) T-test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NL" altLang="en-NL" sz="2800" b="0" i="0" u="none" strike="noStrike" cap="none" normalizeH="0" baseline="0">
                <a:ln>
                  <a:noFill/>
                </a:ln>
                <a:solidFill>
                  <a:schemeClr val="tx1"/>
                </a:solidFill>
                <a:effectLst/>
                <a:latin typeface="Arial" panose="020B0604020202020204" pitchFamily="34" charset="0"/>
              </a:rPr>
              <a:t>D) ANOVA </a:t>
            </a:r>
          </a:p>
        </p:txBody>
      </p:sp>
    </p:spTree>
    <p:extLst>
      <p:ext uri="{BB962C8B-B14F-4D97-AF65-F5344CB8AC3E}">
        <p14:creationId xmlns:p14="http://schemas.microsoft.com/office/powerpoint/2010/main" val="2642061578"/>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0EF6BE-988D-A45D-A52D-FE7204D4752D}"/>
              </a:ext>
            </a:extLst>
          </p:cNvPr>
          <p:cNvSpPr>
            <a:spLocks noGrp="1"/>
          </p:cNvSpPr>
          <p:nvPr>
            <p:ph type="ctrTitle"/>
          </p:nvPr>
        </p:nvSpPr>
        <p:spPr/>
        <p:txBody>
          <a:bodyPr>
            <a:noAutofit/>
          </a:bodyPr>
          <a:lstStyle/>
          <a:p>
            <a:r>
              <a:rPr lang="en-US" sz="3200" dirty="0"/>
              <a:t>A hotel manager surveys customers and asks if they are satisfied (Yes/No) and if they would recommend the hotel to others (Yes/No). Which test should be used to determine if there is an association between the two responses?</a:t>
            </a:r>
            <a:endParaRPr lang="en-NL" sz="3200" dirty="0"/>
          </a:p>
        </p:txBody>
      </p:sp>
      <p:sp>
        <p:nvSpPr>
          <p:cNvPr id="4" name="Rectangle 1">
            <a:extLst>
              <a:ext uri="{FF2B5EF4-FFF2-40B4-BE49-F238E27FC236}">
                <a16:creationId xmlns:a16="http://schemas.microsoft.com/office/drawing/2014/main" id="{4496816D-163B-FDC4-F164-0F49ED9224CC}"/>
              </a:ext>
            </a:extLst>
          </p:cNvPr>
          <p:cNvSpPr>
            <a:spLocks noGrp="1" noChangeArrowheads="1"/>
          </p:cNvSpPr>
          <p:nvPr>
            <p:ph type="subTitle" idx="1"/>
          </p:nvPr>
        </p:nvSpPr>
        <p:spPr bwMode="auto">
          <a:xfrm>
            <a:off x="1524000" y="3306536"/>
            <a:ext cx="3408305" cy="224676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NL" altLang="en-NL" sz="2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NL" altLang="en-NL" sz="2800" b="1" i="0" u="none" strike="noStrike" cap="none" normalizeH="0" baseline="0" dirty="0">
                <a:ln>
                  <a:noFill/>
                </a:ln>
                <a:solidFill>
                  <a:schemeClr val="tx1"/>
                </a:solidFill>
                <a:effectLst/>
                <a:highlight>
                  <a:srgbClr val="FFFF00"/>
                </a:highlight>
                <a:latin typeface="Arial" panose="020B0604020202020204" pitchFamily="34" charset="0"/>
              </a:rPr>
              <a:t>A) Chi-square test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NL" altLang="en-NL" sz="2800" b="0" i="0" u="none" strike="noStrike" cap="none" normalizeH="0" baseline="0" dirty="0">
                <a:ln>
                  <a:noFill/>
                </a:ln>
                <a:solidFill>
                  <a:schemeClr val="tx1"/>
                </a:solidFill>
                <a:effectLst/>
                <a:latin typeface="Arial" panose="020B0604020202020204" pitchFamily="34" charset="0"/>
              </a:rPr>
              <a:t>B) Correlation</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NL" altLang="en-NL" sz="2800" b="0" i="0" u="none" strike="noStrike" cap="none" normalizeH="0" baseline="0" dirty="0">
                <a:ln>
                  <a:noFill/>
                </a:ln>
                <a:solidFill>
                  <a:schemeClr val="tx1"/>
                </a:solidFill>
                <a:effectLst/>
                <a:latin typeface="Arial" panose="020B0604020202020204" pitchFamily="34" charset="0"/>
              </a:rPr>
              <a:t>C) T-test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NL" altLang="en-NL" sz="2800" b="0" i="0" u="none" strike="noStrike" cap="none" normalizeH="0" baseline="0" dirty="0">
                <a:ln>
                  <a:noFill/>
                </a:ln>
                <a:solidFill>
                  <a:schemeClr val="tx1"/>
                </a:solidFill>
                <a:effectLst/>
                <a:latin typeface="Arial" panose="020B0604020202020204" pitchFamily="34" charset="0"/>
              </a:rPr>
              <a:t>D) ANOVA </a:t>
            </a:r>
          </a:p>
        </p:txBody>
      </p:sp>
    </p:spTree>
    <p:extLst>
      <p:ext uri="{BB962C8B-B14F-4D97-AF65-F5344CB8AC3E}">
        <p14:creationId xmlns:p14="http://schemas.microsoft.com/office/powerpoint/2010/main" val="967658061"/>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414BB6-DE4F-ED38-EDBB-476E4E61FCD5}"/>
              </a:ext>
            </a:extLst>
          </p:cNvPr>
          <p:cNvSpPr>
            <a:spLocks noGrp="1"/>
          </p:cNvSpPr>
          <p:nvPr>
            <p:ph type="title"/>
          </p:nvPr>
        </p:nvSpPr>
        <p:spPr>
          <a:xfrm>
            <a:off x="838200" y="1162843"/>
            <a:ext cx="10515600" cy="1325563"/>
          </a:xfrm>
        </p:spPr>
        <p:txBody>
          <a:bodyPr>
            <a:normAutofit fontScale="90000"/>
          </a:bodyPr>
          <a:lstStyle/>
          <a:p>
            <a:r>
              <a:rPr lang="en-US" dirty="0"/>
              <a:t>A researcher is interested in comparing the average daily sales from three different restaurant branches to see if they are significantly different. Which statistical test should be used?</a:t>
            </a:r>
            <a:endParaRPr lang="en-NL" dirty="0"/>
          </a:p>
        </p:txBody>
      </p:sp>
      <p:sp>
        <p:nvSpPr>
          <p:cNvPr id="4" name="Rectangle 1">
            <a:extLst>
              <a:ext uri="{FF2B5EF4-FFF2-40B4-BE49-F238E27FC236}">
                <a16:creationId xmlns:a16="http://schemas.microsoft.com/office/drawing/2014/main" id="{D3DD2AAB-8877-0C12-43E9-8A96F41AE1F1}"/>
              </a:ext>
            </a:extLst>
          </p:cNvPr>
          <p:cNvSpPr>
            <a:spLocks noGrp="1" noChangeArrowheads="1"/>
          </p:cNvSpPr>
          <p:nvPr>
            <p:ph idx="1"/>
          </p:nvPr>
        </p:nvSpPr>
        <p:spPr bwMode="auto">
          <a:xfrm>
            <a:off x="838200" y="2724024"/>
            <a:ext cx="3631122" cy="2554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NL" altLang="en-NL" sz="32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NL" altLang="en-NL" sz="3200" b="0" i="0" u="none" strike="noStrike" cap="none" normalizeH="0" baseline="0" dirty="0">
                <a:ln>
                  <a:noFill/>
                </a:ln>
                <a:solidFill>
                  <a:schemeClr val="tx1"/>
                </a:solidFill>
                <a:effectLst/>
                <a:latin typeface="Arial" panose="020B0604020202020204" pitchFamily="34" charset="0"/>
              </a:rPr>
              <a:t>A) Chi-square test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NL" altLang="en-NL" sz="3200" b="0" i="0" u="none" strike="noStrike" cap="none" normalizeH="0" baseline="0" dirty="0">
                <a:ln>
                  <a:noFill/>
                </a:ln>
                <a:solidFill>
                  <a:schemeClr val="tx1"/>
                </a:solidFill>
                <a:effectLst/>
                <a:latin typeface="Arial" panose="020B0604020202020204" pitchFamily="34" charset="0"/>
              </a:rPr>
              <a:t>B) Correlation</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NL" altLang="en-NL" sz="3200" b="0" i="0" u="none" strike="noStrike" cap="none" normalizeH="0" baseline="0" dirty="0">
                <a:ln>
                  <a:noFill/>
                </a:ln>
                <a:solidFill>
                  <a:schemeClr val="tx1"/>
                </a:solidFill>
                <a:effectLst/>
                <a:latin typeface="Arial" panose="020B0604020202020204" pitchFamily="34" charset="0"/>
              </a:rPr>
              <a:t>C) T-test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NL" altLang="en-NL" sz="3200" b="0" i="0" u="none" strike="noStrike" cap="none" normalizeH="0" baseline="0" dirty="0">
                <a:ln>
                  <a:noFill/>
                </a:ln>
                <a:solidFill>
                  <a:schemeClr val="tx1"/>
                </a:solidFill>
                <a:effectLst/>
                <a:latin typeface="Arial" panose="020B0604020202020204" pitchFamily="34" charset="0"/>
              </a:rPr>
              <a:t>D) ANOVA </a:t>
            </a:r>
          </a:p>
        </p:txBody>
      </p:sp>
    </p:spTree>
    <p:extLst>
      <p:ext uri="{BB962C8B-B14F-4D97-AF65-F5344CB8AC3E}">
        <p14:creationId xmlns:p14="http://schemas.microsoft.com/office/powerpoint/2010/main" val="824657851"/>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414BB6-DE4F-ED38-EDBB-476E4E61FCD5}"/>
              </a:ext>
            </a:extLst>
          </p:cNvPr>
          <p:cNvSpPr>
            <a:spLocks noGrp="1"/>
          </p:cNvSpPr>
          <p:nvPr>
            <p:ph type="title"/>
          </p:nvPr>
        </p:nvSpPr>
        <p:spPr>
          <a:xfrm>
            <a:off x="838200" y="1162843"/>
            <a:ext cx="10515600" cy="1325563"/>
          </a:xfrm>
        </p:spPr>
        <p:txBody>
          <a:bodyPr>
            <a:normAutofit fontScale="90000"/>
          </a:bodyPr>
          <a:lstStyle/>
          <a:p>
            <a:r>
              <a:rPr lang="en-US" dirty="0"/>
              <a:t>A researcher is interested in comparing the average daily sales from three different restaurant branches to see if they are significantly different. Which statistical test should be used?</a:t>
            </a:r>
            <a:endParaRPr lang="en-NL" dirty="0"/>
          </a:p>
        </p:txBody>
      </p:sp>
      <p:sp>
        <p:nvSpPr>
          <p:cNvPr id="4" name="Rectangle 1">
            <a:extLst>
              <a:ext uri="{FF2B5EF4-FFF2-40B4-BE49-F238E27FC236}">
                <a16:creationId xmlns:a16="http://schemas.microsoft.com/office/drawing/2014/main" id="{D3DD2AAB-8877-0C12-43E9-8A96F41AE1F1}"/>
              </a:ext>
            </a:extLst>
          </p:cNvPr>
          <p:cNvSpPr>
            <a:spLocks noGrp="1" noChangeArrowheads="1"/>
          </p:cNvSpPr>
          <p:nvPr>
            <p:ph idx="1"/>
          </p:nvPr>
        </p:nvSpPr>
        <p:spPr bwMode="auto">
          <a:xfrm>
            <a:off x="838200" y="2724024"/>
            <a:ext cx="3631122" cy="2554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NL" altLang="en-NL" sz="32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NL" altLang="en-NL" sz="3200" b="0" i="0" u="none" strike="noStrike" cap="none" normalizeH="0" baseline="0" dirty="0">
                <a:ln>
                  <a:noFill/>
                </a:ln>
                <a:solidFill>
                  <a:schemeClr val="tx1"/>
                </a:solidFill>
                <a:effectLst/>
                <a:latin typeface="Arial" panose="020B0604020202020204" pitchFamily="34" charset="0"/>
              </a:rPr>
              <a:t>A) Chi-square test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NL" altLang="en-NL" sz="3200" b="0" i="0" u="none" strike="noStrike" cap="none" normalizeH="0" baseline="0" dirty="0">
                <a:ln>
                  <a:noFill/>
                </a:ln>
                <a:solidFill>
                  <a:schemeClr val="tx1"/>
                </a:solidFill>
                <a:effectLst/>
                <a:latin typeface="Arial" panose="020B0604020202020204" pitchFamily="34" charset="0"/>
              </a:rPr>
              <a:t>B) Correlation</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NL" altLang="en-NL" sz="3200" b="0" i="0" u="none" strike="noStrike" cap="none" normalizeH="0" baseline="0" dirty="0">
                <a:ln>
                  <a:noFill/>
                </a:ln>
                <a:solidFill>
                  <a:schemeClr val="tx1"/>
                </a:solidFill>
                <a:effectLst/>
                <a:latin typeface="Arial" panose="020B0604020202020204" pitchFamily="34" charset="0"/>
              </a:rPr>
              <a:t>C) T-test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NL" altLang="en-NL" sz="3200" b="1" i="0" u="none" strike="noStrike" cap="none" normalizeH="0" baseline="0" dirty="0">
                <a:ln>
                  <a:noFill/>
                </a:ln>
                <a:solidFill>
                  <a:schemeClr val="tx1"/>
                </a:solidFill>
                <a:effectLst/>
                <a:highlight>
                  <a:srgbClr val="FFFF00"/>
                </a:highlight>
                <a:latin typeface="Arial" panose="020B0604020202020204" pitchFamily="34" charset="0"/>
              </a:rPr>
              <a:t>D) ANOVA </a:t>
            </a:r>
          </a:p>
        </p:txBody>
      </p:sp>
    </p:spTree>
    <p:extLst>
      <p:ext uri="{BB962C8B-B14F-4D97-AF65-F5344CB8AC3E}">
        <p14:creationId xmlns:p14="http://schemas.microsoft.com/office/powerpoint/2010/main" val="3388261890"/>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0E7A56-F329-166C-8E5D-E12A87AA5956}"/>
              </a:ext>
            </a:extLst>
          </p:cNvPr>
          <p:cNvSpPr>
            <a:spLocks noGrp="1"/>
          </p:cNvSpPr>
          <p:nvPr>
            <p:ph type="title"/>
          </p:nvPr>
        </p:nvSpPr>
        <p:spPr>
          <a:xfrm>
            <a:off x="909320" y="2498725"/>
            <a:ext cx="10515600" cy="1325563"/>
          </a:xfrm>
        </p:spPr>
        <p:txBody>
          <a:bodyPr>
            <a:normAutofit fontScale="90000"/>
          </a:bodyPr>
          <a:lstStyle/>
          <a:p>
            <a:r>
              <a:rPr lang="en-US" b="1" dirty="0"/>
              <a:t>A professor wants to know if there is a difference in exam scores between two classes of students, one class being taught with traditional methods and the other with new techniques. Which statistical test should be used?</a:t>
            </a:r>
            <a:br>
              <a:rPr lang="en-US" b="1" dirty="0"/>
            </a:br>
            <a:r>
              <a:rPr lang="en-US" dirty="0"/>
              <a:t>A) Chi-square test</a:t>
            </a:r>
            <a:br>
              <a:rPr lang="en-US" dirty="0"/>
            </a:br>
            <a:r>
              <a:rPr lang="en-US" dirty="0"/>
              <a:t>B) Correlation</a:t>
            </a:r>
            <a:br>
              <a:rPr lang="en-US" dirty="0"/>
            </a:br>
            <a:r>
              <a:rPr lang="en-US" dirty="0"/>
              <a:t>C) T-test</a:t>
            </a:r>
            <a:br>
              <a:rPr lang="en-US" dirty="0"/>
            </a:br>
            <a:r>
              <a:rPr lang="en-US" dirty="0"/>
              <a:t>D) ANOVA</a:t>
            </a:r>
            <a:br>
              <a:rPr lang="en-US" dirty="0"/>
            </a:br>
            <a:endParaRPr lang="en-NL" dirty="0"/>
          </a:p>
        </p:txBody>
      </p:sp>
    </p:spTree>
    <p:extLst>
      <p:ext uri="{BB962C8B-B14F-4D97-AF65-F5344CB8AC3E}">
        <p14:creationId xmlns:p14="http://schemas.microsoft.com/office/powerpoint/2010/main" val="3166339758"/>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0E7A56-F329-166C-8E5D-E12A87AA5956}"/>
              </a:ext>
            </a:extLst>
          </p:cNvPr>
          <p:cNvSpPr>
            <a:spLocks noGrp="1"/>
          </p:cNvSpPr>
          <p:nvPr>
            <p:ph type="title"/>
          </p:nvPr>
        </p:nvSpPr>
        <p:spPr>
          <a:xfrm>
            <a:off x="909320" y="2498725"/>
            <a:ext cx="10515600" cy="1325563"/>
          </a:xfrm>
        </p:spPr>
        <p:txBody>
          <a:bodyPr>
            <a:normAutofit fontScale="90000"/>
          </a:bodyPr>
          <a:lstStyle/>
          <a:p>
            <a:r>
              <a:rPr lang="en-US" b="1" dirty="0"/>
              <a:t>A professor wants to know if there is a difference in exam scores between two classes of students, one class being taught with traditional methods and the other with new techniques. Which statistical test should be used?</a:t>
            </a:r>
            <a:br>
              <a:rPr lang="en-US" b="1" dirty="0"/>
            </a:br>
            <a:r>
              <a:rPr lang="en-US" dirty="0"/>
              <a:t>A) Chi-square test</a:t>
            </a:r>
            <a:br>
              <a:rPr lang="en-US" dirty="0"/>
            </a:br>
            <a:r>
              <a:rPr lang="en-US" dirty="0"/>
              <a:t>B) Correlation</a:t>
            </a:r>
            <a:br>
              <a:rPr lang="en-US" dirty="0"/>
            </a:br>
            <a:r>
              <a:rPr lang="en-US" dirty="0">
                <a:highlight>
                  <a:srgbClr val="FFFF00"/>
                </a:highlight>
              </a:rPr>
              <a:t>C</a:t>
            </a:r>
            <a:r>
              <a:rPr lang="en-US" b="1" dirty="0">
                <a:highlight>
                  <a:srgbClr val="FFFF00"/>
                </a:highlight>
              </a:rPr>
              <a:t>) T-test</a:t>
            </a:r>
            <a:br>
              <a:rPr lang="en-US" dirty="0"/>
            </a:br>
            <a:r>
              <a:rPr lang="en-US" dirty="0"/>
              <a:t>D) ANOVA</a:t>
            </a:r>
            <a:br>
              <a:rPr lang="en-US" dirty="0"/>
            </a:br>
            <a:endParaRPr lang="en-NL" dirty="0"/>
          </a:p>
        </p:txBody>
      </p:sp>
    </p:spTree>
    <p:extLst>
      <p:ext uri="{BB962C8B-B14F-4D97-AF65-F5344CB8AC3E}">
        <p14:creationId xmlns:p14="http://schemas.microsoft.com/office/powerpoint/2010/main" val="2104146176"/>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1EC60B-79AF-208B-0608-A497D4F13E84}"/>
              </a:ext>
            </a:extLst>
          </p:cNvPr>
          <p:cNvSpPr>
            <a:spLocks noGrp="1"/>
          </p:cNvSpPr>
          <p:nvPr>
            <p:ph type="title"/>
          </p:nvPr>
        </p:nvSpPr>
        <p:spPr>
          <a:xfrm>
            <a:off x="1071880" y="2766218"/>
            <a:ext cx="10515600" cy="1325563"/>
          </a:xfrm>
        </p:spPr>
        <p:txBody>
          <a:bodyPr>
            <a:normAutofit fontScale="90000"/>
          </a:bodyPr>
          <a:lstStyle/>
          <a:p>
            <a:r>
              <a:rPr lang="en-US" b="1" dirty="0"/>
              <a:t>A researcher wants to test whether the type of hotel (luxury, mid-range, budget) has an effect on average room prices. Which statistical test should be used?</a:t>
            </a:r>
            <a:br>
              <a:rPr lang="en-NL" b="1" dirty="0"/>
            </a:br>
            <a:br>
              <a:rPr lang="en-US" b="1" dirty="0"/>
            </a:br>
            <a:r>
              <a:rPr lang="en-US" dirty="0"/>
              <a:t>A) Chi-square test</a:t>
            </a:r>
            <a:br>
              <a:rPr lang="en-US" dirty="0"/>
            </a:br>
            <a:r>
              <a:rPr lang="en-US" dirty="0"/>
              <a:t>B) Correlation</a:t>
            </a:r>
            <a:br>
              <a:rPr lang="en-US" dirty="0"/>
            </a:br>
            <a:r>
              <a:rPr lang="en-US" dirty="0"/>
              <a:t>C) T-test</a:t>
            </a:r>
            <a:br>
              <a:rPr lang="en-US" dirty="0"/>
            </a:br>
            <a:r>
              <a:rPr lang="en-US" dirty="0"/>
              <a:t>D) ANOVA</a:t>
            </a:r>
            <a:br>
              <a:rPr lang="en-US" dirty="0"/>
            </a:br>
            <a:br>
              <a:rPr lang="en-US" dirty="0"/>
            </a:br>
            <a:endParaRPr lang="en-NL" dirty="0"/>
          </a:p>
        </p:txBody>
      </p:sp>
    </p:spTree>
    <p:extLst>
      <p:ext uri="{BB962C8B-B14F-4D97-AF65-F5344CB8AC3E}">
        <p14:creationId xmlns:p14="http://schemas.microsoft.com/office/powerpoint/2010/main" val="3554511033"/>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1EC60B-79AF-208B-0608-A497D4F13E84}"/>
              </a:ext>
            </a:extLst>
          </p:cNvPr>
          <p:cNvSpPr>
            <a:spLocks noGrp="1"/>
          </p:cNvSpPr>
          <p:nvPr>
            <p:ph type="title"/>
          </p:nvPr>
        </p:nvSpPr>
        <p:spPr>
          <a:xfrm>
            <a:off x="1071880" y="2766218"/>
            <a:ext cx="10515600" cy="1325563"/>
          </a:xfrm>
        </p:spPr>
        <p:txBody>
          <a:bodyPr>
            <a:normAutofit fontScale="90000"/>
          </a:bodyPr>
          <a:lstStyle/>
          <a:p>
            <a:r>
              <a:rPr lang="en-US" b="1" dirty="0"/>
              <a:t>A researcher wants to test whether the type of hotel (luxury, mid-range, budget) has an effect on average room prices. Which statistical test should be used?</a:t>
            </a:r>
            <a:br>
              <a:rPr lang="en-NL" b="1" dirty="0"/>
            </a:br>
            <a:br>
              <a:rPr lang="en-US" b="1" dirty="0"/>
            </a:br>
            <a:r>
              <a:rPr lang="en-US" dirty="0"/>
              <a:t>A) Chi-square test</a:t>
            </a:r>
            <a:br>
              <a:rPr lang="en-US" dirty="0"/>
            </a:br>
            <a:r>
              <a:rPr lang="en-US" dirty="0"/>
              <a:t>B) Correlation</a:t>
            </a:r>
            <a:br>
              <a:rPr lang="en-US" dirty="0"/>
            </a:br>
            <a:r>
              <a:rPr lang="en-US" dirty="0"/>
              <a:t>C) T-test</a:t>
            </a:r>
            <a:br>
              <a:rPr lang="en-US" dirty="0"/>
            </a:br>
            <a:r>
              <a:rPr lang="en-US" b="1" dirty="0">
                <a:highlight>
                  <a:srgbClr val="FFFF00"/>
                </a:highlight>
              </a:rPr>
              <a:t>D) ANOVA</a:t>
            </a:r>
            <a:br>
              <a:rPr lang="en-US" dirty="0"/>
            </a:br>
            <a:br>
              <a:rPr lang="en-US" dirty="0"/>
            </a:br>
            <a:endParaRPr lang="en-NL" dirty="0"/>
          </a:p>
        </p:txBody>
      </p:sp>
    </p:spTree>
    <p:extLst>
      <p:ext uri="{BB962C8B-B14F-4D97-AF65-F5344CB8AC3E}">
        <p14:creationId xmlns:p14="http://schemas.microsoft.com/office/powerpoint/2010/main" val="2166650579"/>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F59717-9958-02BD-E3F8-CC1ACA568013}"/>
              </a:ext>
            </a:extLst>
          </p:cNvPr>
          <p:cNvSpPr>
            <a:spLocks noGrp="1"/>
          </p:cNvSpPr>
          <p:nvPr>
            <p:ph type="title"/>
          </p:nvPr>
        </p:nvSpPr>
        <p:spPr>
          <a:xfrm>
            <a:off x="838200" y="2600325"/>
            <a:ext cx="10515600" cy="1325563"/>
          </a:xfrm>
        </p:spPr>
        <p:txBody>
          <a:bodyPr>
            <a:normAutofit fontScale="90000"/>
          </a:bodyPr>
          <a:lstStyle/>
          <a:p>
            <a:r>
              <a:rPr lang="en-US" b="1" dirty="0"/>
              <a:t>What is the main purpose of using ANOVA?</a:t>
            </a:r>
            <a:br>
              <a:rPr lang="en-NL" b="1" dirty="0"/>
            </a:br>
            <a:br>
              <a:rPr lang="en-US" b="1" dirty="0"/>
            </a:br>
            <a:r>
              <a:rPr lang="en-US" dirty="0"/>
              <a:t>A) To compare means between two groups</a:t>
            </a:r>
            <a:br>
              <a:rPr lang="en-US" dirty="0"/>
            </a:br>
            <a:r>
              <a:rPr lang="en-US" dirty="0"/>
              <a:t>B) To test for correlations between two variables</a:t>
            </a:r>
            <a:br>
              <a:rPr lang="en-US" dirty="0"/>
            </a:br>
            <a:r>
              <a:rPr lang="en-US" dirty="0"/>
              <a:t>C) To compare means across three or more groups</a:t>
            </a:r>
            <a:br>
              <a:rPr lang="en-US" dirty="0"/>
            </a:br>
            <a:r>
              <a:rPr lang="en-US" dirty="0"/>
              <a:t>D) To determine the association between categorical variables</a:t>
            </a:r>
            <a:br>
              <a:rPr lang="en-US" dirty="0"/>
            </a:br>
            <a:endParaRPr lang="en-NL" dirty="0"/>
          </a:p>
        </p:txBody>
      </p:sp>
    </p:spTree>
    <p:extLst>
      <p:ext uri="{BB962C8B-B14F-4D97-AF65-F5344CB8AC3E}">
        <p14:creationId xmlns:p14="http://schemas.microsoft.com/office/powerpoint/2010/main" val="75713069"/>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F59717-9958-02BD-E3F8-CC1ACA568013}"/>
              </a:ext>
            </a:extLst>
          </p:cNvPr>
          <p:cNvSpPr>
            <a:spLocks noGrp="1"/>
          </p:cNvSpPr>
          <p:nvPr>
            <p:ph type="title"/>
          </p:nvPr>
        </p:nvSpPr>
        <p:spPr>
          <a:xfrm>
            <a:off x="838200" y="2600325"/>
            <a:ext cx="10515600" cy="1325563"/>
          </a:xfrm>
        </p:spPr>
        <p:txBody>
          <a:bodyPr>
            <a:normAutofit fontScale="90000"/>
          </a:bodyPr>
          <a:lstStyle/>
          <a:p>
            <a:r>
              <a:rPr lang="en-US" b="1" dirty="0"/>
              <a:t>What is the main purpose of using ANOVA?</a:t>
            </a:r>
            <a:br>
              <a:rPr lang="en-NL" b="1" dirty="0"/>
            </a:br>
            <a:br>
              <a:rPr lang="en-US" b="1" dirty="0"/>
            </a:br>
            <a:r>
              <a:rPr lang="en-US" dirty="0"/>
              <a:t>A) To compare means between two groups</a:t>
            </a:r>
            <a:br>
              <a:rPr lang="en-US" dirty="0"/>
            </a:br>
            <a:r>
              <a:rPr lang="en-US" dirty="0"/>
              <a:t>B) To test for correlations between two variables</a:t>
            </a:r>
            <a:br>
              <a:rPr lang="en-US" dirty="0"/>
            </a:br>
            <a:r>
              <a:rPr lang="en-US" dirty="0"/>
              <a:t>C</a:t>
            </a:r>
            <a:r>
              <a:rPr lang="en-US" dirty="0">
                <a:highlight>
                  <a:srgbClr val="FFFF00"/>
                </a:highlight>
              </a:rPr>
              <a:t>) </a:t>
            </a:r>
            <a:r>
              <a:rPr lang="en-US" b="1" dirty="0">
                <a:highlight>
                  <a:srgbClr val="FFFF00"/>
                </a:highlight>
              </a:rPr>
              <a:t>To compare means across three or more groups</a:t>
            </a:r>
            <a:br>
              <a:rPr lang="en-US" b="1" dirty="0">
                <a:highlight>
                  <a:srgbClr val="FFFF00"/>
                </a:highlight>
              </a:rPr>
            </a:br>
            <a:r>
              <a:rPr lang="en-US" dirty="0"/>
              <a:t>D) To determine the association between categorical variables</a:t>
            </a:r>
            <a:br>
              <a:rPr lang="en-US" dirty="0"/>
            </a:br>
            <a:endParaRPr lang="en-NL" dirty="0"/>
          </a:p>
        </p:txBody>
      </p:sp>
    </p:spTree>
    <p:extLst>
      <p:ext uri="{BB962C8B-B14F-4D97-AF65-F5344CB8AC3E}">
        <p14:creationId xmlns:p14="http://schemas.microsoft.com/office/powerpoint/2010/main" val="3920406087"/>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C17897-D987-0CE3-A9DE-2C4D12CE518F}"/>
              </a:ext>
            </a:extLst>
          </p:cNvPr>
          <p:cNvSpPr>
            <a:spLocks noGrp="1"/>
          </p:cNvSpPr>
          <p:nvPr>
            <p:ph type="title"/>
          </p:nvPr>
        </p:nvSpPr>
        <p:spPr>
          <a:xfrm>
            <a:off x="838200" y="2844165"/>
            <a:ext cx="10515600" cy="1325563"/>
          </a:xfrm>
        </p:spPr>
        <p:txBody>
          <a:bodyPr>
            <a:normAutofit fontScale="90000"/>
          </a:bodyPr>
          <a:lstStyle/>
          <a:p>
            <a:r>
              <a:rPr lang="en-US" b="1" dirty="0"/>
              <a:t>Which of the following is a key assumption of ANOVA?</a:t>
            </a:r>
            <a:br>
              <a:rPr lang="en-NL" b="1" dirty="0"/>
            </a:br>
            <a:br>
              <a:rPr lang="en-US" b="1" dirty="0"/>
            </a:br>
            <a:r>
              <a:rPr lang="en-US" dirty="0"/>
              <a:t>A) The dependent variable is categorical</a:t>
            </a:r>
            <a:br>
              <a:rPr lang="en-US" dirty="0"/>
            </a:br>
            <a:r>
              <a:rPr lang="en-US" dirty="0"/>
              <a:t>B) The data </a:t>
            </a:r>
            <a:r>
              <a:rPr lang="en-NL" dirty="0"/>
              <a:t>have homogeneity of variance</a:t>
            </a:r>
            <a:br>
              <a:rPr lang="en-US" dirty="0"/>
            </a:br>
            <a:r>
              <a:rPr lang="en-US" dirty="0"/>
              <a:t>C) The groups have different variances</a:t>
            </a:r>
            <a:br>
              <a:rPr lang="en-US" dirty="0"/>
            </a:br>
            <a:r>
              <a:rPr lang="en-US" dirty="0"/>
              <a:t>D) The independent variable is continuous</a:t>
            </a:r>
            <a:br>
              <a:rPr lang="en-US" dirty="0"/>
            </a:br>
            <a:endParaRPr lang="en-NL" dirty="0"/>
          </a:p>
        </p:txBody>
      </p:sp>
    </p:spTree>
    <p:extLst>
      <p:ext uri="{BB962C8B-B14F-4D97-AF65-F5344CB8AC3E}">
        <p14:creationId xmlns:p14="http://schemas.microsoft.com/office/powerpoint/2010/main" val="3320677090"/>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C17897-D987-0CE3-A9DE-2C4D12CE518F}"/>
              </a:ext>
            </a:extLst>
          </p:cNvPr>
          <p:cNvSpPr>
            <a:spLocks noGrp="1"/>
          </p:cNvSpPr>
          <p:nvPr>
            <p:ph type="title"/>
          </p:nvPr>
        </p:nvSpPr>
        <p:spPr>
          <a:xfrm>
            <a:off x="838200" y="2844165"/>
            <a:ext cx="10515600" cy="1325563"/>
          </a:xfrm>
        </p:spPr>
        <p:txBody>
          <a:bodyPr>
            <a:normAutofit fontScale="90000"/>
          </a:bodyPr>
          <a:lstStyle/>
          <a:p>
            <a:r>
              <a:rPr lang="en-US" b="1" dirty="0"/>
              <a:t>Which of the following is a key assumption of ANOVA?</a:t>
            </a:r>
            <a:br>
              <a:rPr lang="en-NL" b="1" dirty="0"/>
            </a:br>
            <a:br>
              <a:rPr lang="en-US" b="1" dirty="0"/>
            </a:br>
            <a:r>
              <a:rPr lang="en-US" dirty="0"/>
              <a:t>A) The dependent variable is categorical</a:t>
            </a:r>
            <a:br>
              <a:rPr lang="en-US" dirty="0"/>
            </a:br>
            <a:r>
              <a:rPr lang="en-US" b="1" dirty="0">
                <a:highlight>
                  <a:srgbClr val="FFFF00"/>
                </a:highlight>
              </a:rPr>
              <a:t>B) The data </a:t>
            </a:r>
            <a:r>
              <a:rPr lang="en-NL" b="1" dirty="0">
                <a:highlight>
                  <a:srgbClr val="FFFF00"/>
                </a:highlight>
              </a:rPr>
              <a:t>have homogeneity of variance</a:t>
            </a:r>
            <a:br>
              <a:rPr lang="en-US" b="1" dirty="0"/>
            </a:br>
            <a:r>
              <a:rPr lang="en-US" dirty="0"/>
              <a:t>C) The groups have different variances</a:t>
            </a:r>
            <a:br>
              <a:rPr lang="en-US" dirty="0"/>
            </a:br>
            <a:r>
              <a:rPr lang="en-US" dirty="0"/>
              <a:t>D) The independent variable is continuous</a:t>
            </a:r>
            <a:br>
              <a:rPr lang="en-US" dirty="0"/>
            </a:br>
            <a:endParaRPr lang="en-NL" dirty="0"/>
          </a:p>
        </p:txBody>
      </p:sp>
    </p:spTree>
    <p:extLst>
      <p:ext uri="{BB962C8B-B14F-4D97-AF65-F5344CB8AC3E}">
        <p14:creationId xmlns:p14="http://schemas.microsoft.com/office/powerpoint/2010/main" val="3762835287"/>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C17897-D987-0CE3-A9DE-2C4D12CE518F}"/>
              </a:ext>
            </a:extLst>
          </p:cNvPr>
          <p:cNvSpPr>
            <a:spLocks noGrp="1" noRot="1" noMove="1" noResize="1" noEditPoints="1" noAdjustHandles="1" noChangeArrowheads="1" noChangeShapeType="1"/>
          </p:cNvSpPr>
          <p:nvPr>
            <p:ph type="title"/>
          </p:nvPr>
        </p:nvSpPr>
        <p:spPr>
          <a:xfrm>
            <a:off x="838200" y="2844165"/>
            <a:ext cx="10515600" cy="1325563"/>
          </a:xfrm>
        </p:spPr>
        <p:txBody>
          <a:bodyPr>
            <a:normAutofit fontScale="90000"/>
          </a:bodyPr>
          <a:lstStyle/>
          <a:p>
            <a:r>
              <a:rPr lang="en-NL" b="1" dirty="0"/>
              <a:t>What is the appropriate test to do if </a:t>
            </a:r>
            <a:r>
              <a:rPr lang="en-NL" b="1" dirty="0" err="1"/>
              <a:t>Levene’s</a:t>
            </a:r>
            <a:r>
              <a:rPr lang="en-NL" b="1" dirty="0"/>
              <a:t> test is significant and you have 3 groups?</a:t>
            </a:r>
            <a:br>
              <a:rPr lang="en-NL" b="1" dirty="0"/>
            </a:br>
            <a:br>
              <a:rPr lang="en-US" b="1" dirty="0"/>
            </a:br>
            <a:r>
              <a:rPr lang="en-US" dirty="0"/>
              <a:t>A) </a:t>
            </a:r>
            <a:r>
              <a:rPr lang="en-NL" dirty="0"/>
              <a:t>Mann-Whitney U</a:t>
            </a:r>
            <a:br>
              <a:rPr lang="en-US" dirty="0"/>
            </a:br>
            <a:r>
              <a:rPr lang="en-US" dirty="0"/>
              <a:t>B) A</a:t>
            </a:r>
            <a:r>
              <a:rPr lang="en-NL" dirty="0"/>
              <a:t>NOVA F</a:t>
            </a:r>
            <a:br>
              <a:rPr lang="en-US" b="1" dirty="0"/>
            </a:br>
            <a:r>
              <a:rPr lang="en-US" dirty="0"/>
              <a:t>C) </a:t>
            </a:r>
            <a:r>
              <a:rPr lang="en-NL" dirty="0"/>
              <a:t>Welch</a:t>
            </a:r>
            <a:br>
              <a:rPr lang="en-US" dirty="0"/>
            </a:br>
            <a:r>
              <a:rPr lang="en-US" dirty="0"/>
              <a:t>D) </a:t>
            </a:r>
            <a:r>
              <a:rPr lang="en-NL" dirty="0"/>
              <a:t>Post-Hoc</a:t>
            </a:r>
            <a:br>
              <a:rPr lang="en-US" dirty="0"/>
            </a:br>
            <a:endParaRPr lang="en-NL" dirty="0"/>
          </a:p>
        </p:txBody>
      </p:sp>
    </p:spTree>
    <p:extLst>
      <p:ext uri="{BB962C8B-B14F-4D97-AF65-F5344CB8AC3E}">
        <p14:creationId xmlns:p14="http://schemas.microsoft.com/office/powerpoint/2010/main" val="3068828334"/>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C17897-D987-0CE3-A9DE-2C4D12CE518F}"/>
              </a:ext>
            </a:extLst>
          </p:cNvPr>
          <p:cNvSpPr>
            <a:spLocks noGrp="1" noRot="1" noMove="1" noResize="1" noEditPoints="1" noAdjustHandles="1" noChangeArrowheads="1" noChangeShapeType="1"/>
          </p:cNvSpPr>
          <p:nvPr>
            <p:ph type="title"/>
          </p:nvPr>
        </p:nvSpPr>
        <p:spPr>
          <a:xfrm>
            <a:off x="838200" y="2844165"/>
            <a:ext cx="10515600" cy="1325563"/>
          </a:xfrm>
        </p:spPr>
        <p:txBody>
          <a:bodyPr>
            <a:normAutofit fontScale="90000"/>
          </a:bodyPr>
          <a:lstStyle/>
          <a:p>
            <a:r>
              <a:rPr lang="en-NL" b="1" dirty="0"/>
              <a:t>What is the appropriate test to do if </a:t>
            </a:r>
            <a:r>
              <a:rPr lang="en-NL" b="1" dirty="0" err="1"/>
              <a:t>Levene’s</a:t>
            </a:r>
            <a:r>
              <a:rPr lang="en-NL" b="1" dirty="0"/>
              <a:t> test is significant and you have 3 groups?</a:t>
            </a:r>
            <a:br>
              <a:rPr lang="en-NL" b="1" dirty="0"/>
            </a:br>
            <a:br>
              <a:rPr lang="en-US" b="1" dirty="0"/>
            </a:br>
            <a:r>
              <a:rPr lang="en-US" dirty="0"/>
              <a:t>A) </a:t>
            </a:r>
            <a:r>
              <a:rPr lang="en-NL" dirty="0"/>
              <a:t>Mann-Whitney U</a:t>
            </a:r>
            <a:br>
              <a:rPr lang="en-US" dirty="0"/>
            </a:br>
            <a:r>
              <a:rPr lang="en-US" dirty="0"/>
              <a:t>B) A</a:t>
            </a:r>
            <a:r>
              <a:rPr lang="en-NL" dirty="0"/>
              <a:t>NOVA F</a:t>
            </a:r>
            <a:br>
              <a:rPr lang="en-US" b="1" dirty="0"/>
            </a:br>
            <a:r>
              <a:rPr lang="en-US" b="1" dirty="0">
                <a:highlight>
                  <a:srgbClr val="FFFF00"/>
                </a:highlight>
              </a:rPr>
              <a:t>C) </a:t>
            </a:r>
            <a:r>
              <a:rPr lang="en-NL" b="1" dirty="0">
                <a:highlight>
                  <a:srgbClr val="FFFF00"/>
                </a:highlight>
              </a:rPr>
              <a:t>Welch</a:t>
            </a:r>
            <a:br>
              <a:rPr lang="en-US" dirty="0"/>
            </a:br>
            <a:r>
              <a:rPr lang="en-US" dirty="0"/>
              <a:t>D) </a:t>
            </a:r>
            <a:r>
              <a:rPr lang="en-NL" dirty="0"/>
              <a:t>Post-Hoc</a:t>
            </a:r>
            <a:br>
              <a:rPr lang="en-US" dirty="0"/>
            </a:br>
            <a:endParaRPr lang="en-NL" dirty="0"/>
          </a:p>
        </p:txBody>
      </p:sp>
    </p:spTree>
    <p:extLst>
      <p:ext uri="{BB962C8B-B14F-4D97-AF65-F5344CB8AC3E}">
        <p14:creationId xmlns:p14="http://schemas.microsoft.com/office/powerpoint/2010/main" val="3169293559"/>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F59717-9958-02BD-E3F8-CC1ACA568013}"/>
              </a:ext>
            </a:extLst>
          </p:cNvPr>
          <p:cNvSpPr>
            <a:spLocks noGrp="1"/>
          </p:cNvSpPr>
          <p:nvPr>
            <p:ph type="title"/>
          </p:nvPr>
        </p:nvSpPr>
        <p:spPr>
          <a:xfrm>
            <a:off x="838200" y="2600325"/>
            <a:ext cx="10515600" cy="1325563"/>
          </a:xfrm>
        </p:spPr>
        <p:txBody>
          <a:bodyPr>
            <a:normAutofit fontScale="90000"/>
          </a:bodyPr>
          <a:lstStyle/>
          <a:p>
            <a:r>
              <a:rPr lang="en-NL" dirty="0" err="1"/>
              <a:t>Levene’s</a:t>
            </a:r>
            <a:r>
              <a:rPr lang="en-NL" dirty="0"/>
              <a:t> test give a p-value of 0.04</a:t>
            </a:r>
            <a:r>
              <a:rPr lang="en-US" dirty="0"/>
              <a:t>?</a:t>
            </a:r>
            <a:r>
              <a:rPr lang="en-NL" dirty="0"/>
              <a:t> What are the appropriate follow up steps</a:t>
            </a:r>
            <a:br>
              <a:rPr lang="en-NL" dirty="0"/>
            </a:br>
            <a:br>
              <a:rPr lang="en-US" dirty="0"/>
            </a:br>
            <a:r>
              <a:rPr lang="en-US" dirty="0"/>
              <a:t>A) </a:t>
            </a:r>
            <a:r>
              <a:rPr lang="en-NL" dirty="0"/>
              <a:t>ANOVA F-test with a Games-Howell</a:t>
            </a:r>
            <a:br>
              <a:rPr lang="en-NL" dirty="0"/>
            </a:br>
            <a:r>
              <a:rPr lang="en-US" dirty="0"/>
              <a:t>B) </a:t>
            </a:r>
            <a:r>
              <a:rPr lang="en-NL" dirty="0"/>
              <a:t>ANOVA F-test with a </a:t>
            </a:r>
            <a:r>
              <a:rPr lang="en-NL" dirty="0" err="1"/>
              <a:t>Bonferonni</a:t>
            </a:r>
            <a:br>
              <a:rPr lang="en-US" dirty="0"/>
            </a:br>
            <a:r>
              <a:rPr lang="en-US" dirty="0"/>
              <a:t>C) </a:t>
            </a:r>
            <a:r>
              <a:rPr lang="en-NL" dirty="0"/>
              <a:t>ANOVA Welch test with a Games Howell</a:t>
            </a:r>
            <a:br>
              <a:rPr lang="en-NL" dirty="0"/>
            </a:br>
            <a:r>
              <a:rPr lang="en-US" dirty="0"/>
              <a:t>D) </a:t>
            </a:r>
            <a:r>
              <a:rPr lang="en-NL" dirty="0"/>
              <a:t>ANOVA Welch test with a Bonferroni</a:t>
            </a:r>
            <a:br>
              <a:rPr lang="en-US" dirty="0"/>
            </a:br>
            <a:endParaRPr lang="en-NL" dirty="0"/>
          </a:p>
        </p:txBody>
      </p:sp>
    </p:spTree>
    <p:extLst>
      <p:ext uri="{BB962C8B-B14F-4D97-AF65-F5344CB8AC3E}">
        <p14:creationId xmlns:p14="http://schemas.microsoft.com/office/powerpoint/2010/main" val="4089447139"/>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F59717-9958-02BD-E3F8-CC1ACA568013}"/>
              </a:ext>
            </a:extLst>
          </p:cNvPr>
          <p:cNvSpPr>
            <a:spLocks noGrp="1"/>
          </p:cNvSpPr>
          <p:nvPr>
            <p:ph type="title"/>
          </p:nvPr>
        </p:nvSpPr>
        <p:spPr>
          <a:xfrm>
            <a:off x="838200" y="2600325"/>
            <a:ext cx="10515600" cy="1325563"/>
          </a:xfrm>
        </p:spPr>
        <p:txBody>
          <a:bodyPr>
            <a:normAutofit fontScale="90000"/>
          </a:bodyPr>
          <a:lstStyle/>
          <a:p>
            <a:r>
              <a:rPr lang="en-NL" dirty="0" err="1"/>
              <a:t>Levene’s</a:t>
            </a:r>
            <a:r>
              <a:rPr lang="en-NL" dirty="0"/>
              <a:t> test give a p-value of 0.04</a:t>
            </a:r>
            <a:r>
              <a:rPr lang="en-US" dirty="0"/>
              <a:t>?</a:t>
            </a:r>
            <a:r>
              <a:rPr lang="en-NL" dirty="0"/>
              <a:t> What are the appropriate follow up steps</a:t>
            </a:r>
            <a:br>
              <a:rPr lang="en-NL" dirty="0"/>
            </a:br>
            <a:br>
              <a:rPr lang="en-US" dirty="0"/>
            </a:br>
            <a:r>
              <a:rPr lang="en-US" dirty="0"/>
              <a:t>A) </a:t>
            </a:r>
            <a:r>
              <a:rPr lang="en-NL" dirty="0"/>
              <a:t>ANOVA F-test with a Games-Howell</a:t>
            </a:r>
            <a:br>
              <a:rPr lang="en-NL" dirty="0"/>
            </a:br>
            <a:r>
              <a:rPr lang="en-US" dirty="0"/>
              <a:t>B) </a:t>
            </a:r>
            <a:r>
              <a:rPr lang="en-NL" dirty="0"/>
              <a:t>ANOVA F-test with a </a:t>
            </a:r>
            <a:r>
              <a:rPr lang="en-NL" dirty="0" err="1"/>
              <a:t>Bonferonni</a:t>
            </a:r>
            <a:br>
              <a:rPr lang="en-US" dirty="0"/>
            </a:br>
            <a:r>
              <a:rPr lang="en-US" b="1" dirty="0"/>
              <a:t>C) </a:t>
            </a:r>
            <a:r>
              <a:rPr lang="en-NL" b="1" dirty="0">
                <a:highlight>
                  <a:srgbClr val="FFFF00"/>
                </a:highlight>
              </a:rPr>
              <a:t>ANOVA Welch test with a Games Howell</a:t>
            </a:r>
            <a:br>
              <a:rPr lang="en-NL" dirty="0">
                <a:highlight>
                  <a:srgbClr val="FFFF00"/>
                </a:highlight>
              </a:rPr>
            </a:br>
            <a:r>
              <a:rPr lang="en-US" dirty="0"/>
              <a:t>D) </a:t>
            </a:r>
            <a:r>
              <a:rPr lang="en-NL" dirty="0"/>
              <a:t>ANOVA Welch test with a Bonferroni</a:t>
            </a:r>
            <a:br>
              <a:rPr lang="en-US" dirty="0"/>
            </a:br>
            <a:endParaRPr lang="en-NL" dirty="0"/>
          </a:p>
        </p:txBody>
      </p:sp>
    </p:spTree>
    <p:extLst>
      <p:ext uri="{BB962C8B-B14F-4D97-AF65-F5344CB8AC3E}">
        <p14:creationId xmlns:p14="http://schemas.microsoft.com/office/powerpoint/2010/main" val="3649668724"/>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8" name="Picture 2" descr="One-way ANOVA with repeated measures in SPSS Statistics - Understanding and  reporting the output.">
            <a:extLst>
              <a:ext uri="{FF2B5EF4-FFF2-40B4-BE49-F238E27FC236}">
                <a16:creationId xmlns:a16="http://schemas.microsoft.com/office/drawing/2014/main" id="{5352FE88-91D0-0E06-E3A1-0438230A890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31" y="0"/>
            <a:ext cx="8350290" cy="5445760"/>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50514375-E2CE-2149-8E15-DFCF9E7E4F45}"/>
              </a:ext>
            </a:extLst>
          </p:cNvPr>
          <p:cNvSpPr txBox="1"/>
          <p:nvPr/>
        </p:nvSpPr>
        <p:spPr>
          <a:xfrm>
            <a:off x="8747760" y="944880"/>
            <a:ext cx="3332481" cy="3539430"/>
          </a:xfrm>
          <a:prstGeom prst="rect">
            <a:avLst/>
          </a:prstGeom>
          <a:noFill/>
        </p:spPr>
        <p:txBody>
          <a:bodyPr wrap="square" rtlCol="0">
            <a:spAutoFit/>
          </a:bodyPr>
          <a:lstStyle/>
          <a:p>
            <a:r>
              <a:rPr lang="en-NL" sz="3200" dirty="0"/>
              <a:t>Which pair is the MOST </a:t>
            </a:r>
            <a:r>
              <a:rPr lang="en-NL" sz="3200" dirty="0" err="1"/>
              <a:t>signi</a:t>
            </a:r>
            <a:r>
              <a:rPr lang="en-GB" sz="3200" dirty="0"/>
              <a:t>f</a:t>
            </a:r>
            <a:r>
              <a:rPr lang="en-NL" sz="3200" dirty="0" err="1"/>
              <a:t>icant</a:t>
            </a:r>
            <a:r>
              <a:rPr lang="en-NL" sz="3200" dirty="0"/>
              <a:t>?</a:t>
            </a:r>
          </a:p>
          <a:p>
            <a:endParaRPr lang="en-NL" sz="3200" dirty="0"/>
          </a:p>
          <a:p>
            <a:pPr marL="342900" indent="-342900">
              <a:buAutoNum type="alphaUcParenR"/>
            </a:pPr>
            <a:r>
              <a:rPr lang="en-NL" sz="3200" dirty="0"/>
              <a:t>1-2</a:t>
            </a:r>
          </a:p>
          <a:p>
            <a:pPr marL="342900" indent="-342900">
              <a:buAutoNum type="alphaUcParenR"/>
            </a:pPr>
            <a:r>
              <a:rPr lang="en-NL" sz="3200" dirty="0"/>
              <a:t>1-3</a:t>
            </a:r>
          </a:p>
          <a:p>
            <a:pPr marL="342900" indent="-342900">
              <a:buAutoNum type="alphaUcParenR"/>
            </a:pPr>
            <a:r>
              <a:rPr lang="en-NL" sz="3200" dirty="0"/>
              <a:t>2-3</a:t>
            </a:r>
          </a:p>
          <a:p>
            <a:pPr marL="342900" indent="-342900">
              <a:buAutoNum type="alphaUcParenR"/>
            </a:pPr>
            <a:r>
              <a:rPr lang="en-NL" sz="3200" dirty="0"/>
              <a:t>3-1</a:t>
            </a:r>
          </a:p>
        </p:txBody>
      </p:sp>
    </p:spTree>
    <p:extLst>
      <p:ext uri="{BB962C8B-B14F-4D97-AF65-F5344CB8AC3E}">
        <p14:creationId xmlns:p14="http://schemas.microsoft.com/office/powerpoint/2010/main" val="828765948"/>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8" name="Picture 2" descr="One-way ANOVA with repeated measures in SPSS Statistics - Understanding and  reporting the output.">
            <a:extLst>
              <a:ext uri="{FF2B5EF4-FFF2-40B4-BE49-F238E27FC236}">
                <a16:creationId xmlns:a16="http://schemas.microsoft.com/office/drawing/2014/main" id="{5352FE88-91D0-0E06-E3A1-0438230A890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31" y="0"/>
            <a:ext cx="8350290" cy="5445760"/>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50514375-E2CE-2149-8E15-DFCF9E7E4F45}"/>
              </a:ext>
            </a:extLst>
          </p:cNvPr>
          <p:cNvSpPr txBox="1"/>
          <p:nvPr/>
        </p:nvSpPr>
        <p:spPr>
          <a:xfrm>
            <a:off x="8747760" y="944880"/>
            <a:ext cx="3332481" cy="3539430"/>
          </a:xfrm>
          <a:prstGeom prst="rect">
            <a:avLst/>
          </a:prstGeom>
          <a:noFill/>
        </p:spPr>
        <p:txBody>
          <a:bodyPr wrap="square" rtlCol="0">
            <a:spAutoFit/>
          </a:bodyPr>
          <a:lstStyle/>
          <a:p>
            <a:r>
              <a:rPr lang="en-NL" sz="3200" dirty="0"/>
              <a:t>Which pair is the MOST </a:t>
            </a:r>
            <a:r>
              <a:rPr lang="en-NL" sz="3200" dirty="0" err="1"/>
              <a:t>signi</a:t>
            </a:r>
            <a:r>
              <a:rPr lang="en-GB" sz="3200" dirty="0"/>
              <a:t>f</a:t>
            </a:r>
            <a:r>
              <a:rPr lang="en-NL" sz="3200" dirty="0" err="1"/>
              <a:t>icant</a:t>
            </a:r>
            <a:r>
              <a:rPr lang="en-NL" sz="3200" dirty="0"/>
              <a:t>?</a:t>
            </a:r>
          </a:p>
          <a:p>
            <a:endParaRPr lang="en-NL" sz="3200" dirty="0"/>
          </a:p>
          <a:p>
            <a:pPr marL="342900" indent="-342900">
              <a:buAutoNum type="alphaUcParenR"/>
            </a:pPr>
            <a:r>
              <a:rPr lang="en-NL" sz="3200" dirty="0">
                <a:highlight>
                  <a:srgbClr val="FFFF00"/>
                </a:highlight>
              </a:rPr>
              <a:t>1-2</a:t>
            </a:r>
          </a:p>
          <a:p>
            <a:pPr marL="342900" indent="-342900">
              <a:buAutoNum type="alphaUcParenR"/>
            </a:pPr>
            <a:r>
              <a:rPr lang="en-NL" sz="3200" dirty="0"/>
              <a:t>1-3</a:t>
            </a:r>
          </a:p>
          <a:p>
            <a:pPr marL="342900" indent="-342900">
              <a:buAutoNum type="alphaUcParenR"/>
            </a:pPr>
            <a:r>
              <a:rPr lang="en-NL" sz="3200" dirty="0"/>
              <a:t>2-3</a:t>
            </a:r>
          </a:p>
          <a:p>
            <a:pPr marL="342900" indent="-342900">
              <a:buAutoNum type="alphaUcParenR"/>
            </a:pPr>
            <a:r>
              <a:rPr lang="en-NL" sz="3200" dirty="0"/>
              <a:t>3-1</a:t>
            </a:r>
          </a:p>
        </p:txBody>
      </p:sp>
    </p:spTree>
    <p:extLst>
      <p:ext uri="{BB962C8B-B14F-4D97-AF65-F5344CB8AC3E}">
        <p14:creationId xmlns:p14="http://schemas.microsoft.com/office/powerpoint/2010/main" val="3604094887"/>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146" name="Picture 2" descr="One-way ANOVA in SPSS Statistics - Understanding and reporting the output.">
            <a:extLst>
              <a:ext uri="{FF2B5EF4-FFF2-40B4-BE49-F238E27FC236}">
                <a16:creationId xmlns:a16="http://schemas.microsoft.com/office/drawing/2014/main" id="{03E3EE09-2727-62ED-A2FC-595D23509D0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59790" y="0"/>
            <a:ext cx="10666750" cy="4653280"/>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458EFD31-6598-AA94-0A18-A95AEF1205F0}"/>
              </a:ext>
            </a:extLst>
          </p:cNvPr>
          <p:cNvSpPr txBox="1"/>
          <p:nvPr/>
        </p:nvSpPr>
        <p:spPr>
          <a:xfrm>
            <a:off x="-111760" y="5008880"/>
            <a:ext cx="11638300" cy="954107"/>
          </a:xfrm>
          <a:prstGeom prst="rect">
            <a:avLst/>
          </a:prstGeom>
          <a:noFill/>
        </p:spPr>
        <p:txBody>
          <a:bodyPr wrap="square" rtlCol="0">
            <a:spAutoFit/>
          </a:bodyPr>
          <a:lstStyle/>
          <a:p>
            <a:pPr algn="ctr"/>
            <a:r>
              <a:rPr lang="en-NL" sz="2800" b="1" dirty="0"/>
              <a:t>What can we conclude about the groups above? Where is there a significant difference?</a:t>
            </a:r>
          </a:p>
        </p:txBody>
      </p:sp>
    </p:spTree>
    <p:extLst>
      <p:ext uri="{BB962C8B-B14F-4D97-AF65-F5344CB8AC3E}">
        <p14:creationId xmlns:p14="http://schemas.microsoft.com/office/powerpoint/2010/main" val="2624562893"/>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9CA1DC-DE98-B6C0-4197-97EE21259753}"/>
              </a:ext>
            </a:extLst>
          </p:cNvPr>
          <p:cNvSpPr>
            <a:spLocks noGrp="1"/>
          </p:cNvSpPr>
          <p:nvPr>
            <p:ph type="title"/>
          </p:nvPr>
        </p:nvSpPr>
        <p:spPr>
          <a:xfrm>
            <a:off x="838200" y="2103437"/>
            <a:ext cx="10515600" cy="1325563"/>
          </a:xfrm>
        </p:spPr>
        <p:txBody>
          <a:bodyPr>
            <a:normAutofit fontScale="90000"/>
          </a:bodyPr>
          <a:lstStyle/>
          <a:p>
            <a:r>
              <a:rPr lang="en-US" b="1" dirty="0"/>
              <a:t>What is the null hypothesis in a one-way ANOVA?</a:t>
            </a:r>
            <a:br>
              <a:rPr lang="en-NL" b="1" dirty="0"/>
            </a:br>
            <a:br>
              <a:rPr lang="en-US" b="1" dirty="0"/>
            </a:br>
            <a:r>
              <a:rPr lang="en-US" dirty="0"/>
              <a:t>A) All group means are equal</a:t>
            </a:r>
            <a:br>
              <a:rPr lang="en-US" dirty="0"/>
            </a:br>
            <a:r>
              <a:rPr lang="en-US" dirty="0"/>
              <a:t>B) At least one group mean is different</a:t>
            </a:r>
            <a:br>
              <a:rPr lang="en-US" dirty="0"/>
            </a:br>
            <a:r>
              <a:rPr lang="en-US" dirty="0"/>
              <a:t>C) The variances between groups are the same</a:t>
            </a:r>
            <a:br>
              <a:rPr lang="en-US" dirty="0"/>
            </a:br>
            <a:r>
              <a:rPr lang="en-US" dirty="0"/>
              <a:t>D) The data are not normally distributed</a:t>
            </a:r>
            <a:br>
              <a:rPr lang="en-US" dirty="0"/>
            </a:br>
            <a:endParaRPr lang="en-NL" dirty="0"/>
          </a:p>
        </p:txBody>
      </p:sp>
    </p:spTree>
    <p:extLst>
      <p:ext uri="{BB962C8B-B14F-4D97-AF65-F5344CB8AC3E}">
        <p14:creationId xmlns:p14="http://schemas.microsoft.com/office/powerpoint/2010/main" val="298043700"/>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9CA1DC-DE98-B6C0-4197-97EE21259753}"/>
              </a:ext>
            </a:extLst>
          </p:cNvPr>
          <p:cNvSpPr>
            <a:spLocks noGrp="1"/>
          </p:cNvSpPr>
          <p:nvPr>
            <p:ph type="title"/>
          </p:nvPr>
        </p:nvSpPr>
        <p:spPr>
          <a:xfrm>
            <a:off x="838200" y="2103437"/>
            <a:ext cx="10515600" cy="1325563"/>
          </a:xfrm>
        </p:spPr>
        <p:txBody>
          <a:bodyPr>
            <a:normAutofit fontScale="90000"/>
          </a:bodyPr>
          <a:lstStyle/>
          <a:p>
            <a:r>
              <a:rPr lang="en-US" b="1" dirty="0"/>
              <a:t>What is the null hypothesis in a one-way ANOVA?</a:t>
            </a:r>
            <a:br>
              <a:rPr lang="en-NL" b="1" dirty="0"/>
            </a:br>
            <a:br>
              <a:rPr lang="en-US" b="1" dirty="0"/>
            </a:br>
            <a:r>
              <a:rPr lang="en-US" b="1" dirty="0">
                <a:highlight>
                  <a:srgbClr val="FFFF00"/>
                </a:highlight>
              </a:rPr>
              <a:t>A) All group means are equal</a:t>
            </a:r>
            <a:br>
              <a:rPr lang="en-US" dirty="0"/>
            </a:br>
            <a:r>
              <a:rPr lang="en-US" dirty="0"/>
              <a:t>B) At least one group mean is different</a:t>
            </a:r>
            <a:br>
              <a:rPr lang="en-US" dirty="0"/>
            </a:br>
            <a:r>
              <a:rPr lang="en-US" dirty="0"/>
              <a:t>C) The variances between groups are the same</a:t>
            </a:r>
            <a:br>
              <a:rPr lang="en-US" dirty="0"/>
            </a:br>
            <a:r>
              <a:rPr lang="en-US" dirty="0"/>
              <a:t>D) The data are not normally distributed</a:t>
            </a:r>
            <a:br>
              <a:rPr lang="en-US" dirty="0"/>
            </a:br>
            <a:endParaRPr lang="en-NL" dirty="0"/>
          </a:p>
        </p:txBody>
      </p:sp>
    </p:spTree>
    <p:extLst>
      <p:ext uri="{BB962C8B-B14F-4D97-AF65-F5344CB8AC3E}">
        <p14:creationId xmlns:p14="http://schemas.microsoft.com/office/powerpoint/2010/main" val="2204558617"/>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273FE9-4B52-5FF1-3D37-CCCA3DF9067F}"/>
              </a:ext>
            </a:extLst>
          </p:cNvPr>
          <p:cNvSpPr>
            <a:spLocks noGrp="1"/>
          </p:cNvSpPr>
          <p:nvPr>
            <p:ph type="title"/>
          </p:nvPr>
        </p:nvSpPr>
        <p:spPr>
          <a:xfrm>
            <a:off x="838200" y="2766218"/>
            <a:ext cx="10515600" cy="1325563"/>
          </a:xfrm>
        </p:spPr>
        <p:txBody>
          <a:bodyPr>
            <a:normAutofit fontScale="90000"/>
          </a:bodyPr>
          <a:lstStyle/>
          <a:p>
            <a:r>
              <a:rPr lang="en-US" b="1" dirty="0"/>
              <a:t>A manager is studying whether the proportions of male and female guests using the hotel's gym facilities are equal. Which statistical test should be used?</a:t>
            </a:r>
            <a:br>
              <a:rPr lang="en-NL" b="1" dirty="0"/>
            </a:br>
            <a:br>
              <a:rPr lang="en-US" b="1" dirty="0"/>
            </a:br>
            <a:r>
              <a:rPr lang="en-US" dirty="0"/>
              <a:t>A) Chi-square test</a:t>
            </a:r>
            <a:br>
              <a:rPr lang="en-US" dirty="0"/>
            </a:br>
            <a:r>
              <a:rPr lang="en-US" dirty="0"/>
              <a:t>B) Correlation</a:t>
            </a:r>
            <a:br>
              <a:rPr lang="en-US" dirty="0"/>
            </a:br>
            <a:r>
              <a:rPr lang="en-US" dirty="0"/>
              <a:t>C) T-test</a:t>
            </a:r>
            <a:br>
              <a:rPr lang="en-US" dirty="0"/>
            </a:br>
            <a:r>
              <a:rPr lang="en-US" dirty="0"/>
              <a:t>D) ANOVA</a:t>
            </a:r>
            <a:br>
              <a:rPr lang="en-US" dirty="0"/>
            </a:br>
            <a:endParaRPr lang="en-NL" dirty="0"/>
          </a:p>
        </p:txBody>
      </p:sp>
    </p:spTree>
    <p:extLst>
      <p:ext uri="{BB962C8B-B14F-4D97-AF65-F5344CB8AC3E}">
        <p14:creationId xmlns:p14="http://schemas.microsoft.com/office/powerpoint/2010/main" val="272341105"/>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273FE9-4B52-5FF1-3D37-CCCA3DF9067F}"/>
              </a:ext>
            </a:extLst>
          </p:cNvPr>
          <p:cNvSpPr>
            <a:spLocks noGrp="1"/>
          </p:cNvSpPr>
          <p:nvPr>
            <p:ph type="title"/>
          </p:nvPr>
        </p:nvSpPr>
        <p:spPr>
          <a:xfrm>
            <a:off x="838200" y="2766218"/>
            <a:ext cx="10515600" cy="1325563"/>
          </a:xfrm>
        </p:spPr>
        <p:txBody>
          <a:bodyPr>
            <a:normAutofit fontScale="90000"/>
          </a:bodyPr>
          <a:lstStyle/>
          <a:p>
            <a:r>
              <a:rPr lang="en-US" b="1" dirty="0"/>
              <a:t>A manager is studying whether the proportions of male and female guests using the hotel's gym facilities are equal. Which statistical test should be used?</a:t>
            </a:r>
            <a:br>
              <a:rPr lang="en-NL" b="1" dirty="0"/>
            </a:br>
            <a:br>
              <a:rPr lang="en-US" b="1" dirty="0"/>
            </a:br>
            <a:r>
              <a:rPr lang="en-US" b="1" dirty="0">
                <a:highlight>
                  <a:srgbClr val="FFFF00"/>
                </a:highlight>
              </a:rPr>
              <a:t>A) Chi-square test</a:t>
            </a:r>
            <a:br>
              <a:rPr lang="en-US" dirty="0"/>
            </a:br>
            <a:r>
              <a:rPr lang="en-US" dirty="0"/>
              <a:t>B) Correlation</a:t>
            </a:r>
            <a:br>
              <a:rPr lang="en-US" dirty="0"/>
            </a:br>
            <a:r>
              <a:rPr lang="en-US" dirty="0"/>
              <a:t>C) T-test</a:t>
            </a:r>
            <a:br>
              <a:rPr lang="en-US" dirty="0"/>
            </a:br>
            <a:r>
              <a:rPr lang="en-US" dirty="0"/>
              <a:t>D) ANOVA</a:t>
            </a:r>
            <a:br>
              <a:rPr lang="en-US" dirty="0"/>
            </a:br>
            <a:endParaRPr lang="en-NL" dirty="0"/>
          </a:p>
        </p:txBody>
      </p:sp>
    </p:spTree>
    <p:extLst>
      <p:ext uri="{BB962C8B-B14F-4D97-AF65-F5344CB8AC3E}">
        <p14:creationId xmlns:p14="http://schemas.microsoft.com/office/powerpoint/2010/main" val="3599115190"/>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AE65F5-B22C-3217-9605-738EE58356FE}"/>
              </a:ext>
            </a:extLst>
          </p:cNvPr>
          <p:cNvSpPr>
            <a:spLocks noGrp="1"/>
          </p:cNvSpPr>
          <p:nvPr>
            <p:ph type="title"/>
          </p:nvPr>
        </p:nvSpPr>
        <p:spPr>
          <a:xfrm>
            <a:off x="716280" y="2549525"/>
            <a:ext cx="10515600" cy="1325563"/>
          </a:xfrm>
        </p:spPr>
        <p:txBody>
          <a:bodyPr>
            <a:normAutofit fontScale="90000"/>
          </a:bodyPr>
          <a:lstStyle/>
          <a:p>
            <a:r>
              <a:rPr lang="en-US" b="1" dirty="0"/>
              <a:t>What is the main difference between a regular one-way ANOVA and Welch’s ANOVA?</a:t>
            </a:r>
            <a:br>
              <a:rPr lang="en-NL" b="1" dirty="0"/>
            </a:br>
            <a:br>
              <a:rPr lang="en-US" b="1" dirty="0"/>
            </a:br>
            <a:r>
              <a:rPr lang="en-US" dirty="0"/>
              <a:t>A) Welch’s ANOVA assumes equal variances</a:t>
            </a:r>
            <a:br>
              <a:rPr lang="en-US" dirty="0"/>
            </a:br>
            <a:r>
              <a:rPr lang="en-US" dirty="0"/>
              <a:t>B) Welch’s ANOVA is used when the variances between groups are unequal</a:t>
            </a:r>
            <a:br>
              <a:rPr lang="en-US" dirty="0"/>
            </a:br>
            <a:r>
              <a:rPr lang="en-US" dirty="0"/>
              <a:t>C) One-way ANOVA can only compare two groups</a:t>
            </a:r>
            <a:br>
              <a:rPr lang="en-US" dirty="0"/>
            </a:br>
            <a:r>
              <a:rPr lang="en-US" dirty="0"/>
              <a:t>D) Welch’s ANOVA is used for categorical dependent variables</a:t>
            </a:r>
            <a:br>
              <a:rPr lang="en-US" dirty="0"/>
            </a:br>
            <a:endParaRPr lang="en-NL" dirty="0"/>
          </a:p>
        </p:txBody>
      </p:sp>
    </p:spTree>
    <p:extLst>
      <p:ext uri="{BB962C8B-B14F-4D97-AF65-F5344CB8AC3E}">
        <p14:creationId xmlns:p14="http://schemas.microsoft.com/office/powerpoint/2010/main" val="1943307365"/>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AE65F5-B22C-3217-9605-738EE58356FE}"/>
              </a:ext>
            </a:extLst>
          </p:cNvPr>
          <p:cNvSpPr>
            <a:spLocks noGrp="1"/>
          </p:cNvSpPr>
          <p:nvPr>
            <p:ph type="title"/>
          </p:nvPr>
        </p:nvSpPr>
        <p:spPr>
          <a:xfrm>
            <a:off x="716280" y="2549525"/>
            <a:ext cx="10515600" cy="1325563"/>
          </a:xfrm>
        </p:spPr>
        <p:txBody>
          <a:bodyPr>
            <a:normAutofit fontScale="90000"/>
          </a:bodyPr>
          <a:lstStyle/>
          <a:p>
            <a:r>
              <a:rPr lang="en-US" b="1" dirty="0"/>
              <a:t>What is the main difference between a regular one-way ANOVA and Welch’s ANOVA?</a:t>
            </a:r>
            <a:br>
              <a:rPr lang="en-NL" b="1" dirty="0"/>
            </a:br>
            <a:br>
              <a:rPr lang="en-US" b="1" dirty="0"/>
            </a:br>
            <a:r>
              <a:rPr lang="en-US" dirty="0"/>
              <a:t>A) Welch’s ANOVA assumes equal variances</a:t>
            </a:r>
            <a:br>
              <a:rPr lang="en-US" dirty="0"/>
            </a:br>
            <a:r>
              <a:rPr lang="en-US" b="1" dirty="0">
                <a:highlight>
                  <a:srgbClr val="FFFF00"/>
                </a:highlight>
              </a:rPr>
              <a:t>B) Welch’s ANOVA is used when the variances between groups are unequal</a:t>
            </a:r>
            <a:br>
              <a:rPr lang="en-US" dirty="0"/>
            </a:br>
            <a:r>
              <a:rPr lang="en-US" dirty="0"/>
              <a:t>C) One-way ANOVA can only compare two groups</a:t>
            </a:r>
            <a:br>
              <a:rPr lang="en-US" dirty="0"/>
            </a:br>
            <a:r>
              <a:rPr lang="en-US" dirty="0"/>
              <a:t>D) Welch’s ANOVA is used for categorical dependent variables</a:t>
            </a:r>
            <a:br>
              <a:rPr lang="en-US" dirty="0"/>
            </a:br>
            <a:endParaRPr lang="en-NL" dirty="0"/>
          </a:p>
        </p:txBody>
      </p:sp>
    </p:spTree>
    <p:extLst>
      <p:ext uri="{BB962C8B-B14F-4D97-AF65-F5344CB8AC3E}">
        <p14:creationId xmlns:p14="http://schemas.microsoft.com/office/powerpoint/2010/main" val="349001090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4C9B46969FEA9B418B6ECF3C00C78A3F" ma:contentTypeVersion="12" ma:contentTypeDescription="Een nieuw document maken." ma:contentTypeScope="" ma:versionID="510e17e38c1fac53a09aa39c63d38ad8">
  <xsd:schema xmlns:xsd="http://www.w3.org/2001/XMLSchema" xmlns:xs="http://www.w3.org/2001/XMLSchema" xmlns:p="http://schemas.microsoft.com/office/2006/metadata/properties" xmlns:ns2="52f235f7-1081-46ec-beea-0dbb270c3494" targetNamespace="http://schemas.microsoft.com/office/2006/metadata/properties" ma:root="true" ma:fieldsID="2678fc25c9056504f0cec2963dbb1c9a" ns2:_="">
    <xsd:import namespace="52f235f7-1081-46ec-beea-0dbb270c3494"/>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Additionalinformation" minOccurs="0"/>
                <xsd:element ref="ns2:MediaServiceDateTaken" minOccurs="0"/>
                <xsd:element ref="ns2:MediaServiceGenerationTime" minOccurs="0"/>
                <xsd:element ref="ns2:MediaServiceEventHashCode" minOccurs="0"/>
                <xsd:element ref="ns2:MediaLengthInSeconds" minOccurs="0"/>
                <xsd:element ref="ns2:MediaServiceBillingMetadata" minOccurs="0"/>
                <xsd:element ref="ns2:lcf76f155ced4ddcb4097134ff3c332f" minOccurs="0"/>
                <xsd:element ref="ns2:MediaServiceOCR"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52f235f7-1081-46ec-beea-0dbb270c3494"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Additionalinformation" ma:index="11" nillable="true" ma:displayName="Additional information " ma:description="As an example, you can use this PPT to organise your first PBL meeting. Try to position the students as members of a management team, which frequently comes together; well prepared and dressed appropriately ;)" ma:format="Dropdown" ma:internalName="Additionalinformation">
      <xsd:simpleType>
        <xsd:restriction base="dms:Text">
          <xsd:maxLength value="255"/>
        </xsd:restriction>
      </xsd:simpleType>
    </xsd:element>
    <xsd:element name="MediaServiceDateTaken" ma:index="12" nillable="true" ma:displayName="MediaServiceDateTaken" ma:hidden="true" ma:indexed="true" ma:internalName="MediaServiceDateTaken"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EventHashCode" ma:index="14" nillable="true" ma:displayName="MediaServiceEventHashCode" ma:hidden="true" ma:internalName="MediaServiceEventHashCode" ma:readOnly="true">
      <xsd:simpleType>
        <xsd:restriction base="dms:Text"/>
      </xsd:simpleType>
    </xsd:element>
    <xsd:element name="MediaLengthInSeconds" ma:index="15" nillable="true" ma:displayName="MediaLengthInSeconds" ma:hidden="true" ma:internalName="MediaLengthInSeconds" ma:readOnly="true">
      <xsd:simpleType>
        <xsd:restriction base="dms:Unknown"/>
      </xsd:simpleType>
    </xsd:element>
    <xsd:element name="MediaServiceBillingMetadata" ma:index="16" nillable="true" ma:displayName="MediaServiceBillingMetadata" ma:hidden="true" ma:internalName="MediaServiceBillingMetadata" ma:readOnly="true">
      <xsd:simpleType>
        <xsd:restriction base="dms:Note"/>
      </xsd:simpleType>
    </xsd:element>
    <xsd:element name="lcf76f155ced4ddcb4097134ff3c332f" ma:index="18" nillable="true" ma:taxonomy="true" ma:internalName="lcf76f155ced4ddcb4097134ff3c332f" ma:taxonomyFieldName="MediaServiceImageTags" ma:displayName="Afbeeldingtags" ma:readOnly="false" ma:fieldId="{5cf76f15-5ced-4ddc-b409-7134ff3c332f}" ma:taxonomyMulti="true" ma:sspId="5bd69f14-2b9f-433c-9887-fccfa466e118" ma:termSetId="09814cd3-568e-fe90-9814-8d621ff8fb84" ma:anchorId="fba54fb3-c3e1-fe81-a776-ca4b69148c4d" ma:open="true" ma:isKeyword="false">
      <xsd:complexType>
        <xsd:sequence>
          <xsd:element ref="pc:Terms" minOccurs="0" maxOccurs="1"/>
        </xsd:sequence>
      </xsd:complexType>
    </xsd:element>
    <xsd:element name="MediaServiceOCR" ma:index="19" nillable="true" ma:displayName="Extracted Text" ma:internalName="MediaServiceOCR"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Inhoudstype"/>
        <xsd:element ref="dc:title" minOccurs="0" maxOccurs="1" ma:index="4" ma:displayName="Titel"/>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lcf76f155ced4ddcb4097134ff3c332f xmlns="52f235f7-1081-46ec-beea-0dbb270c3494">
      <Terms xmlns="http://schemas.microsoft.com/office/infopath/2007/PartnerControls"/>
    </lcf76f155ced4ddcb4097134ff3c332f>
    <Additionalinformation xmlns="52f235f7-1081-46ec-beea-0dbb270c3494" xsi:nil="true"/>
  </documentManagement>
</p:properties>
</file>

<file path=customXml/itemProps1.xml><?xml version="1.0" encoding="utf-8"?>
<ds:datastoreItem xmlns:ds="http://schemas.openxmlformats.org/officeDocument/2006/customXml" ds:itemID="{42519C12-6726-42FB-8FB2-68CDF419CF4E}"/>
</file>

<file path=customXml/itemProps2.xml><?xml version="1.0" encoding="utf-8"?>
<ds:datastoreItem xmlns:ds="http://schemas.openxmlformats.org/officeDocument/2006/customXml" ds:itemID="{E1505A7F-9028-4D58-9D89-6BCE0FEBF024}"/>
</file>

<file path=customXml/itemProps3.xml><?xml version="1.0" encoding="utf-8"?>
<ds:datastoreItem xmlns:ds="http://schemas.openxmlformats.org/officeDocument/2006/customXml" ds:itemID="{542F5D4B-56CF-4862-B2D3-CC910290C0CA}"/>
</file>

<file path=docProps/app.xml><?xml version="1.0" encoding="utf-8"?>
<Properties xmlns="http://schemas.openxmlformats.org/officeDocument/2006/extended-properties" xmlns:vt="http://schemas.openxmlformats.org/officeDocument/2006/docPropsVTypes">
  <TotalTime>149</TotalTime>
  <Words>2982</Words>
  <Application>Microsoft Office PowerPoint</Application>
  <PresentationFormat>Widescreen</PresentationFormat>
  <Paragraphs>151</Paragraphs>
  <Slides>59</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59</vt:i4>
      </vt:variant>
    </vt:vector>
  </HeadingPairs>
  <TitlesOfParts>
    <vt:vector size="63" baseType="lpstr">
      <vt:lpstr>Arial</vt:lpstr>
      <vt:lpstr>Calibri</vt:lpstr>
      <vt:lpstr>Calibri Light</vt:lpstr>
      <vt:lpstr>Office Theme</vt:lpstr>
      <vt:lpstr>A hotel manager wants to determine whether the average customer rating of a new room design is significantly different from the standard rating of 7. Which test should be used?  A. Chi-squared test B. One-sample t-test C. Independent t-test D. Correlation </vt:lpstr>
      <vt:lpstr>A hotel manager wants to determine whether the average customer rating of a new room design is significantly different from the standard rating of 7. Which test should be used?  A. Chi-squared test B. One-sample t-test C. Independent t-test D. Correlation </vt:lpstr>
      <vt:lpstr>A researcher wants to see if there is a significant relationship between the number of years of work experience and annual salary among hotel employees. Which test should be used?  A. Paired t-test B. Chi-squared test C. Correlation D. One-sample t-test</vt:lpstr>
      <vt:lpstr>A researcher wants to see if there is a significant relationship between the number of years of work experience and annual salary among hotel employees. Which test should be used?  A. Paired t-test B. Chi-squared test C. Correlation D. One-sample t-test</vt:lpstr>
      <vt:lpstr>A hotel manager is analyzing whether there is an association between customer satisfaction (categorized as satisfied, neutral, or dissatisfied) and the type of room they stayed in (standard, deluxe, or suite).Which test should be used?  A. Chi-squared test B. Correlation C. Independent t-test D. Paired t-test</vt:lpstr>
      <vt:lpstr>A hotel manager is analyzing whether there is an association between customer satisfaction (categorized as satisfied, neutral, or dissatisfied) and the type of room they stayed in (standard, deluxe, or suite).Which test should be used?  A. Chi-squared test B. Correlation C. Independent t-test D. Paired t-test</vt:lpstr>
      <vt:lpstr>A hotel manager is analyzing whether there is an association between customer satisfaction (categorized as satisfied, neutral, or dissatisfied) and the type of room they stayed in (standard, deluxe, or suite).Which test should be used?  A. Chi-squared test B. Correlation C. Independent t-test D. Paired t-test</vt:lpstr>
      <vt:lpstr>A hotel manager is analyzing whether there is an association between customer satisfaction (categorized as satisfied, neutral, or dissatisfied) and the type of room they stayed in (standard, deluxe, or suite).Which test should be used?  A. Chi-squared test B. Correlation C. Independent t-test D. Paired t-test</vt:lpstr>
      <vt:lpstr>A restaurant manager wants to know if there is a significant difference in tip amounts before and after implementing a new service policy, measured on the same customers. The data is not normally distributed. Which test should be used?  A. Mann-Whitney U test B. Paired t-test C. Independent t-test D. Correlation</vt:lpstr>
      <vt:lpstr>A restaurant manager wants to know if there is a significant difference in tip amounts before and after implementing a new service policy, measured on the same customers. The data is not normally distributed. Which test should be used?  A. Mann-Whitney U test B. Paired t-test C. Independent t-test D. Correlation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To run a Chi 2 test, what sort of data do we need?</vt:lpstr>
      <vt:lpstr>To run a Chi 2 test, what sort of data do we need?</vt:lpstr>
      <vt:lpstr>A study claims that an experimental treatment improves memory. The researcher ensures the study is free from biases, controls extraneous variables, and that the treatment, not other factors, causes the observed effects. What type of validity is being ensured here? a) Internal Validity b) External Validity c) Construct Validity d) Content Validity </vt:lpstr>
      <vt:lpstr>A study claims that an experimental treatment improves memory. The researcher ensures the study is free from biases, controls extraneous variables, and that the treatment, not other factors, causes the observed effects. What type of validity is being ensured here? a) Internal Validity b) External Validity c) Construct Validity d) Content Validity </vt:lpstr>
      <vt:lpstr>A new leadership assessment tool looks professional and seems intuitively to measure leadership qualities. However, no rigorous testing was conducted to confirm its accuracy. What type of validity does this refer to?  a) Criterion Validity b) Content Validity c) Face Validity d) Construct Validity </vt:lpstr>
      <vt:lpstr>A new leadership assessment tool looks professional and seems intuitively to measure leadership qualities. However, no rigorous testing was conducted to confirm its accuracy. What type of validity does this refer to?  a) Criterion Validity b) Content Validity c) Face Validity d) Construct Validity </vt:lpstr>
      <vt:lpstr>A new math placement test is shown to predict students' future performance in college-level math courses by correlating test scores with final grades. What type of validity does this situation demonstrate?  a) Criterion Validity b) Content Validity c) Construct Validity d) Face Validity </vt:lpstr>
      <vt:lpstr>A new math placement test is shown to predict students' future performance in college-level math courses by correlating test scores with final grades. What type of validity does this situation demonstrate?  a) Criterion Validity b) Content Validity c) Construct Validity d) Face Validity </vt:lpstr>
      <vt:lpstr>A psychological test for anxiety is designed, and its items are checked to ensure they actually measure anxiety and not something else, such as stress or sadness. What type of validity is this?  a) Construct Validity b) Criterion Validity c) Content Validity d) Face Validity </vt:lpstr>
      <vt:lpstr>A psychological test for anxiety is designed, and its items are checked to ensure they actually measure anxiety and not something else, such as stress or sadness. What type of validity is this?  a) Construct Validity b) Criterion Validity c) Content Validity d) Face Validity </vt:lpstr>
      <vt:lpstr>A researcher divides the population of hotel employees into groups based on their job roles (housekeeping, front desk, management) and then randomly selects a proportional number of employees from each group. What sampling method is being used?  a) Quota Sampling b) Stratified Sampling c) Simple Random Sampling d) Snowball Sampling </vt:lpstr>
      <vt:lpstr>A researcher divides the population of hotel employees into groups based on their job roles (housekeeping, front desk, management) and then randomly selects a proportional number of employees from each group. What sampling method is being used?  a) Quota Sampling b) Stratified Sampling c) Simple Random Sampling d) Snowball Sampling </vt:lpstr>
      <vt:lpstr>A study on tourists' preferences posts an online survey and encourages anyone interested in the topic to participate. What sampling method does this represent?  a) Systematic Sampling b) Quota Sampling c) Self-Selection Sampling d) Simple Random Sampling </vt:lpstr>
      <vt:lpstr>A study on tourists' preferences posts an online survey and encourages anyone interested in the topic to participate. What sampling method does this represent?  a) Systematic Sampling b) Quota Sampling c) Self-Selection Sampling d) Simple Random Sampling </vt:lpstr>
      <vt:lpstr>A hotel manager surveys customers and asks if they are satisfied (Yes/No) and if they would recommend the hotel to others (Yes/No). Which test should be used to determine if there is an association between the two responses?</vt:lpstr>
      <vt:lpstr>A hotel manager surveys customers and asks if they are satisfied (Yes/No) and if they would recommend the hotel to others (Yes/No). Which test should be used to determine if there is an association between the two responses?</vt:lpstr>
      <vt:lpstr>A researcher is interested in comparing the average daily sales from three different restaurant branches to see if they are significantly different. Which statistical test should be used?</vt:lpstr>
      <vt:lpstr>A researcher is interested in comparing the average daily sales from three different restaurant branches to see if they are significantly different. Which statistical test should be used?</vt:lpstr>
      <vt:lpstr>A professor wants to know if there is a difference in exam scores between two classes of students, one class being taught with traditional methods and the other with new techniques. Which statistical test should be used? A) Chi-square test B) Correlation C) T-test D) ANOVA </vt:lpstr>
      <vt:lpstr>A professor wants to know if there is a difference in exam scores between two classes of students, one class being taught with traditional methods and the other with new techniques. Which statistical test should be used? A) Chi-square test B) Correlation C) T-test D) ANOVA </vt:lpstr>
      <vt:lpstr>A researcher wants to test whether the type of hotel (luxury, mid-range, budget) has an effect on average room prices. Which statistical test should be used?  A) Chi-square test B) Correlation C) T-test D) ANOVA  </vt:lpstr>
      <vt:lpstr>A researcher wants to test whether the type of hotel (luxury, mid-range, budget) has an effect on average room prices. Which statistical test should be used?  A) Chi-square test B) Correlation C) T-test D) ANOVA  </vt:lpstr>
      <vt:lpstr>What is the main purpose of using ANOVA?  A) To compare means between two groups B) To test for correlations between two variables C) To compare means across three or more groups D) To determine the association between categorical variables </vt:lpstr>
      <vt:lpstr>What is the main purpose of using ANOVA?  A) To compare means between two groups B) To test for correlations between two variables C) To compare means across three or more groups D) To determine the association between categorical variables </vt:lpstr>
      <vt:lpstr>Which of the following is a key assumption of ANOVA?  A) The dependent variable is categorical B) The data have homogeneity of variance C) The groups have different variances D) The independent variable is continuous </vt:lpstr>
      <vt:lpstr>Which of the following is a key assumption of ANOVA?  A) The dependent variable is categorical B) The data have homogeneity of variance C) The groups have different variances D) The independent variable is continuous </vt:lpstr>
      <vt:lpstr>What is the appropriate test to do if Levene’s test is significant and you have 3 groups?  A) Mann-Whitney U B) ANOVA F C) Welch D) Post-Hoc </vt:lpstr>
      <vt:lpstr>What is the appropriate test to do if Levene’s test is significant and you have 3 groups?  A) Mann-Whitney U B) ANOVA F C) Welch D) Post-Hoc </vt:lpstr>
      <vt:lpstr>Levene’s test give a p-value of 0.04? What are the appropriate follow up steps  A) ANOVA F-test with a Games-Howell B) ANOVA F-test with a Bonferonni C) ANOVA Welch test with a Games Howell D) ANOVA Welch test with a Bonferroni </vt:lpstr>
      <vt:lpstr>Levene’s test give a p-value of 0.04? What are the appropriate follow up steps  A) ANOVA F-test with a Games-Howell B) ANOVA F-test with a Bonferonni C) ANOVA Welch test with a Games Howell D) ANOVA Welch test with a Bonferroni </vt:lpstr>
      <vt:lpstr>PowerPoint Presentation</vt:lpstr>
      <vt:lpstr>PowerPoint Presentation</vt:lpstr>
      <vt:lpstr>PowerPoint Presentation</vt:lpstr>
      <vt:lpstr>What is the null hypothesis in a one-way ANOVA?  A) All group means are equal B) At least one group mean is different C) The variances between groups are the same D) The data are not normally distributed </vt:lpstr>
      <vt:lpstr>What is the null hypothesis in a one-way ANOVA?  A) All group means are equal B) At least one group mean is different C) The variances between groups are the same D) The data are not normally distributed </vt:lpstr>
      <vt:lpstr>A manager is studying whether the proportions of male and female guests using the hotel's gym facilities are equal. Which statistical test should be used?  A) Chi-square test B) Correlation C) T-test D) ANOVA </vt:lpstr>
      <vt:lpstr>A manager is studying whether the proportions of male and female guests using the hotel's gym facilities are equal. Which statistical test should be used?  A) Chi-square test B) Correlation C) T-test D) ANOVA </vt:lpstr>
      <vt:lpstr>What is the main difference between a regular one-way ANOVA and Welch’s ANOVA?  A) Welch’s ANOVA assumes equal variances B) Welch’s ANOVA is used when the variances between groups are unequal C) One-way ANOVA can only compare two groups D) Welch’s ANOVA is used for categorical dependent variables </vt:lpstr>
      <vt:lpstr>What is the main difference between a regular one-way ANOVA and Welch’s ANOVA?  A) Welch’s ANOVA assumes equal variances B) Welch’s ANOVA is used when the variances between groups are unequal C) One-way ANOVA can only compare two groups D) Welch’s ANOVA is used for categorical dependent variables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 hotel manager wants to determine whether the average customer rating of a new room design is significantly different from the standard rating of 7. Which test should be used?  A. Chi-squared test B. One-sample t-test C. Independent t-test D. Correlation </dc:title>
  <dc:creator>Langill, T.A. (Tori)</dc:creator>
  <cp:lastModifiedBy>Langill, T.A. (Tori)</cp:lastModifiedBy>
  <cp:revision>1</cp:revision>
  <dcterms:created xsi:type="dcterms:W3CDTF">2024-10-03T06:54:17Z</dcterms:created>
  <dcterms:modified xsi:type="dcterms:W3CDTF">2024-10-07T10:39:26Z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0x0101004C9B46969FEA9B418B6ECF3C00C78A3F</vt:lpwstr>
  </property>
</Properties>
</file>